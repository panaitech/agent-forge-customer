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01" r:id="rId3"/>
    <p:sldId id="402" r:id="rId5"/>
    <p:sldId id="403" r:id="rId6"/>
    <p:sldId id="404" r:id="rId7"/>
    <p:sldId id="405" r:id="rId8"/>
    <p:sldId id="406" r:id="rId9"/>
    <p:sldId id="407" r:id="rId10"/>
    <p:sldId id="408" r:id="rId11"/>
    <p:sldId id="409" r:id="rId12"/>
    <p:sldId id="410" r:id="rId13"/>
    <p:sldId id="411" r:id="rId14"/>
    <p:sldId id="412" r:id="rId15"/>
    <p:sldId id="413" r:id="rId16"/>
    <p:sldId id="414" r:id="rId17"/>
    <p:sldId id="415" r:id="rId18"/>
    <p:sldId id="416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金风科技在深交所与港交所上市，A 股代码 002202。官网业务覆盖能源开发、能源装备、能源服务、能源应用。官网口径为全球装机超过 155GW，机组超过 56,000 台，覆盖 48 个国家，员工超过 10,000 人。2024 年研发投入超过 28 亿元，研发技术人员超过 3,000 人，专利超过 7,300 项。运维服务量超过 113GW，运维团队超过 4,000 人。以上均为企业公开自述。</a:t>
            </a:r>
          </a:p>
          <a:p>
            <a:r>
              <a:rPr lang="zh-CN" altLang="en-US" dirty="0"/>
              <a:t>标准已经进入设计、认证、供应链和作业。公开材料尚未说明存在以当前有效条款为检索单位的能力。已公开的数字化产品包括 DEEP，以及风匠、天工、擎风、SOAM、α，分别承担资产数据、资源评估、规划设计、工程管理、智慧运营和综合能碳管理。官网提及新一代运营知识平台，未说明其中是否包含标准文本与条款。</a:t>
            </a:r>
          </a:p>
          <a:p>
            <a:r>
              <a:rPr lang="zh-CN" altLang="en-US" dirty="0"/>
              <a:t>金风已公开将风机运行数据与行业专业知识用于故障诊断。诊断依据运行现象与专业知识给出建议；标准引用则回到标准号、条款号、版本和适用范围。两类用途相互独立。是否已用于标准问答或文档生成，公开材料未记载，标为待核。</a:t>
            </a:r>
          </a:p>
          <a:p>
            <a:r>
              <a:rPr lang="zh-CN" altLang="en-US" dirty="0"/>
              <a:t>标准知识进入工作任务时，系统负责找依据、做比对、出草稿、标风险。定结论、签字、放行、对外由企业授权岗位完成。知识向任务提供当前有效条款，发布与审批留在现有流程。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材料分四部分。</a:t>
            </a:r>
          </a:p>
          <a:p>
            <a:r>
              <a:rPr lang="zh-CN" altLang="en-US" dirty="0"/>
              <a:t>客户理解（第 4 至 6 页）说明三项公开事实：标准参与已有可核对的存量；标准已进入设计、认证、供应与作业；行业实践中，文档可进入助手，放行与签字由责任人完成。</a:t>
            </a:r>
          </a:p>
          <a:p>
            <a:r>
              <a:rPr lang="zh-CN" altLang="en-US" dirty="0"/>
              <a:t>三处断点（第 7 至 9 页）列出待核事项：换版影响面、任务中的条款定位、手册课程巡检与条款是否同步。随后列出仍由授权岗位完成的决定，包括签署、准入结论、设计符合性、安全许可和对外口径。</a:t>
            </a:r>
          </a:p>
          <a:p>
            <a:r>
              <a:rPr lang="zh-CN" altLang="en-US" dirty="0"/>
              <a:t>工作场景（第 10 至 13 页）先规定条款如何被引用，再列三个场景。认证侧有证书、报告可核对，先行；投标文件的编制方式公开材料未记载，标为待核。准入场景核验证书有效期、适用范围与条款命中，准入结论由采购与质量作出。作业同步的公开材料较少，排在两个场景之后。</a:t>
            </a:r>
          </a:p>
          <a:p>
            <a:r>
              <a:rPr lang="zh-CN" altLang="en-US" dirty="0"/>
              <a:t>落地边界（第 14 至 16 页）说明共用的四项字段和三张对应。已有标准系统则接入，没有则按选定场景做最小可用集。所列顺序是试点次序。本次交流不构成签约或效果承诺。</a:t>
            </a:r>
          </a:p>
          <a:p>
            <a:r>
              <a:rPr lang="zh-CN" altLang="en-US" dirty="0"/>
              <a:t>若企业内部已有标准管理系统，后续按接入处理。需核对的事项包括系统名称、覆盖范围、检索单位是否为条款，以及发布与退役的责任岗位。签署、准入、放行和对外口径仍由授权岗位完成。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本节依据定期报告、公司官网和标准化机构的公开信息。公开材料未记载、尚未与企业内部核对的事项，标为待核。</a:t>
            </a:r>
          </a:p>
          <a:p>
            <a:r>
              <a:rPr lang="zh-CN" altLang="en-US" dirty="0"/>
              <a:t>第 4 页为参与存量，包括国内标准、IEC 标准、IEA 课题、国家标准验证点和标委会成员资格。已发布约占参与数量的八成五，由半年报中的参与数量与已发布数量算出，计算口径可再核对。</a:t>
            </a:r>
          </a:p>
          <a:p>
            <a:r>
              <a:rPr lang="zh-CN" altLang="en-US" dirty="0"/>
              <a:t>第 5 页为标准进入工作的路径。设计红线、认证取证、供应商契约有年报、证书、报告或合同可核对。手册、巡检、课程作为载体已经存在。这些载体是否与条款保持同一版本，公开材料未说明，在断点部分标为待核。</a:t>
            </a:r>
          </a:p>
          <a:p>
            <a:r>
              <a:rPr lang="zh-CN" altLang="en-US" dirty="0"/>
              <a:t>第 6 页给出行业参照：检索与草稿可以形成产品能力，符合性结论、签字和安全许可由责任人完成。参照不使用厂商自报的效率、准确率或回收期。</a:t>
            </a:r>
          </a:p>
          <a:p>
            <a:r>
              <a:rPr lang="zh-CN" altLang="en-US" dirty="0"/>
              <a:t>能源开发、装备、服务、应用同时存在时，同一条标准会落到机型、市场、供应商和现场作业。条款在具体任务中被引用。DEEP、SOAM、手册系统与招采平台继续承担现有职责。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可引用的对象是持续更新的标准存量。参与规模取自 2026 年半年度报告，与同口径经营分析摘录一致，截止 2026 年 6 月 30 日。国内标准 699 项，其中已发布 592 项。另参与 IEC 标准 34 项、IEA 课题 21 项。国内标准含国家、行业、地方及团体标准，不含 IEC 和 IEA。2026 年半年报未披露这四类的分项。分项影响台账粒度，后续可补。</a:t>
            </a:r>
          </a:p>
          <a:p>
            <a:r>
              <a:rPr lang="zh-CN" altLang="en-US" dirty="0"/>
              <a:t>存量持续变化。公开披露的国内标准参与量约为：2023 年三季度 435 项，2023 年末 465 项，2024 年 6 月 504 项，2024 年末 572 项，2025 年 6 月 606 项，2026 年 6 月 699 项。由 435 项增至 699 项，约增六成。已发布数量长期约占参与数量的八成至八成五。2026 年 6 月为 592 除以 699，约八成五。该比例是两项公开数字的计算结果，不是半年报单列指标。其余处于在研、报批或在途。同一时点同时存在已发布版、在研版和被替代版。</a:t>
            </a:r>
          </a:p>
          <a:p>
            <a:r>
              <a:rPr lang="zh-CN" altLang="en-US" dirty="0"/>
              <a:t>2022 年 9 月曾按「外部标准」披露约 378 项，其中包含国际标准，与上表「国内标准」不是同一口径，且分项合计与总数相差 2 项。378 与 699 不能连成同一条增长序列。</a:t>
            </a:r>
          </a:p>
          <a:p>
            <a:r>
              <a:rPr lang="zh-CN" altLang="en-US" dirty="0"/>
              <a:t>2023 年，金风成为风电行业唯一的国家标准验证点。首批全国 200 余家申报、38 家获批。公开定位包括夯实企业标准质量基础设施、盘活产业链试验验证资源。标准由此进入检测与认证。</a:t>
            </a:r>
          </a:p>
          <a:p>
            <a:r>
              <a:rPr lang="zh-CN" altLang="en-US" dirty="0"/>
              <a:t>1999 年，金风加入全国风力发电标准化技术委员会（TC50）。2025 年 9 月 25 日，金风与国家风力发电技术创新中心代表到访全国风标委，会议听取了标准项目储备。总裁在公开场合说明：中国风电标准相对集中于上游整机、零部件和测试，下游工程建设、运营以及风电制氢氨醇等延伸领域的标准较少。标准工作保持着项目储备，适用范围仍在扩展。</a:t>
            </a:r>
          </a:p>
          <a:p>
            <a:r>
              <a:rPr lang="zh-CN" altLang="en-US" dirty="0"/>
              <a:t>企业标准（通常的 Q/GW 一类）的单独清单，以及与国家标准、IEC 的采标关系，公开材料未记载，标为待核。企业标准通常更贴近内部作业。缺少这层对应时，条款检索会漏掉内部正在执行的规则。</a:t>
            </a:r>
          </a:p>
          <a:p>
            <a:r>
              <a:rPr lang="zh-CN" altLang="en-US" dirty="0"/>
              <a:t>本次按选定场景抽取条款，不覆盖全部 699 项。全量结构化不在本次范围。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标准已进入设计红线、认证取证、供应契约和作业载体。条款在这些链路的任务中被引用。DEEP、SOAM、手册系统、招采平台继续承担现有职责，草稿不直接写入这些系统。</a:t>
            </a:r>
          </a:p>
          <a:p>
            <a:r>
              <a:rPr lang="zh-CN" altLang="en-US" dirty="0"/>
              <a:t>合规链中的设计。2024 年报写明，研发端制定核心部件设计红线标准，并与工艺设计方案可实现性评审并列。同年报还记载供应商红黄牌和《金风质量法》。红线是可判定的设计约束。是否符合由设计确认。系统并列提示依据与差异。</a:t>
            </a:r>
          </a:p>
          <a:p>
            <a:r>
              <a:rPr lang="zh-CN" altLang="en-US" dirty="0"/>
              <a:t>合规链中的认证。路径是：标准进入测试大纲，测试形成报告，报告支撑证书。团体标准 T/CEEIA 804-2024 于 2024 年 9 月发布。GW155-4.5MW 构网型机组经中国电科院检测，取得国内首份依据该标准出具的硬件在环测试报告。2026 年上半年获得认证证书 92 张，其中国内 38 张、国际 54 张，覆盖多平台多机型。金风自 IECRE 成立之初参与该体系建设，并参与 IECRE OD 系列。同一机型同时面对国内与国际两套规则。认证因此是持续发生、结果可复核的工作。</a:t>
            </a:r>
          </a:p>
          <a:p>
            <a:r>
              <a:rPr lang="zh-CN" altLang="en-US" dirty="0"/>
              <a:t>契约链。供应商全生命周期管理平台按品类实施统一的关联标准。《供应商社会责任行为准则》依据 SA8000 和 ISO 26000 制定，纳入供货框架合同，并要求签署承诺书。《绿色供应商评价规范》采用现场审核与文件审核，对象包括叶片、发电机、轴承、铸件、塔架。新供应商准入的公开流程包括开发、资料审核、考察、认证评分、产品试制、小批量验证、产品认证评分。标准在这一链路中进入合同与评分。系统核验证书有效期、适用范围和条款命中。准入结论由采购与质量作出。</a:t>
            </a:r>
          </a:p>
          <a:p>
            <a:r>
              <a:rPr lang="zh-CN" altLang="en-US" dirty="0"/>
              <a:t>作业链。技术手册编制系统覆盖机械安装、电气安装、调试、运行、维护手册，支持中英文、数字化编码，以及一次生成、多次使用。公开材料说明系统具备这些能力，未说明手册条目与标准条款如何同步。无人化场站对风机、光伏、集电输电线路、升压站建设标准化巡检，系统研判后生成告警工单。工单是待办，作业许可由现场负责人作出。培训侧有金风大学，2011 年设立，内训师 253 人，成熟课程 304 项，培训分企业、业务单元、部门三层。2022 年培训平台的公开转载缺少稳定出处，课程与条款的对应标为待核。</a:t>
            </a:r>
          </a:p>
          <a:p>
            <a:r>
              <a:rPr lang="zh-CN" altLang="en-US" dirty="0"/>
              <a:t>合规链有证书和报告，契约链有合同和审核评分，两条都有外部可核对的结果。作业链主要由文档和培训维护，公开材料未记载与条款的版本同步机制，因此标为待核。公开材料不能据此判断现场文件是否已经失真。</a:t>
            </a:r>
          </a:p>
          <a:p>
            <a:r>
              <a:rPr lang="zh-CN" altLang="en-US" dirty="0"/>
              <a:t>DEEP 是能源物联网数据底座。风匠、天工、擎风分别对应资源评估、规划设计和工程管理。SOAM 是智慧运营。α 是综合能碳管理。供应商平台把标准实现为品类规则。手册系统把内容实现为作业文档。天工招采是电子招投标平台，包含公告、公示和投标客户端，公开材料未记载条款库。</a:t>
            </a:r>
          </a:p>
          <a:p>
            <a:r>
              <a:rPr lang="zh-CN" altLang="en-US" dirty="0"/>
              <a:t>资产管理平台的公开材料描述运行数据、处置策略和监盘。其中自报的速度与覆盖率不在本材料引用。这些材料说明运营知识已经产品化，未说明标准条款已按版本被引用。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行业对照说明方法边界，不形成与某一家企业的对标，不使用自报效率。</a:t>
            </a:r>
          </a:p>
          <a:p>
            <a:r>
              <a:rPr lang="zh-CN" altLang="en-US" dirty="0"/>
              <a:t>工程助手。装备企业的公开实践，是把手册和指南接入工程助手，辅助设计与现场排障。助手调取已发布文档。设计是否满足红线，由工程师判断。</a:t>
            </a:r>
          </a:p>
          <a:p>
            <a:r>
              <a:rPr lang="zh-CN" altLang="en-US" dirty="0"/>
              <a:t>运维助手。能源装备企业用运行数据与专业知识辅助故障诊断。金风已公开此类应用。诊断依据现象和历史案例给出建议。标准引用必须回到标准号、条款号、版本和适用范围。缺少这四项时，诊断建议不构成对某条标准的符合性结论。</a:t>
            </a:r>
          </a:p>
          <a:p>
            <a:r>
              <a:rPr lang="zh-CN" altLang="en-US" dirty="0"/>
              <a:t>质量流程。受监管行业用系统整理记录与证据，放行由质量责任人签署。电子记录满足保存与追溯，签署仍由授权岗位完成。</a:t>
            </a:r>
          </a:p>
          <a:p>
            <a:r>
              <a:rPr lang="zh-CN" altLang="en-US" dirty="0"/>
              <a:t>因此，检索、比对、草稿和风险提示可以形成产品能力。符合性结论、签字盖章、安全作业许可由责任人完成。安全类许可包括停电、动火、高空、受限空间，现场措施由责任人确认。</a:t>
            </a:r>
          </a:p>
          <a:p>
            <a:r>
              <a:rPr lang="zh-CN" altLang="en-US" dirty="0"/>
              <a:t>对照不列具体厂商名称，不引用自报准确率、工时下降或投资回报。这类数字通常缺少可复核的测试集和基线。公开实践多数停在单一助手和草稿，高风险结论由责任人签署。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本节的断点，依据是公开材料尚未回答的问题，不是对内部系统的审计结论。</a:t>
            </a:r>
          </a:p>
          <a:p>
            <a:r>
              <a:rPr lang="zh-CN" altLang="en-US" dirty="0"/>
              <a:t>若已有标准管理系统，需核对四项：系统名称与覆盖数量；检索单位是条款还是文件；换版后如何标出受影响的机型、合同、手册和课程；发布与退役由哪一岗位签批。已有则接入。没有则按场景做最小可用集。两种情况都不改变仍由授权岗位完成的决定。</a:t>
            </a:r>
          </a:p>
          <a:p>
            <a:r>
              <a:rPr lang="zh-CN" altLang="en-US" dirty="0"/>
              <a:t>第 8 页为影响面、任务定位和载体同步。第 9 页为签署、准入、设计符合、安全许可和对外口径。断点对应的产出是依据、清单和草稿。签字、准入结论和放行仍由授权岗位完成。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标准存量已有公开数字。任务发生时能否定位到当前有效条款，公开材料尚未证明，标为待核。</a:t>
            </a:r>
          </a:p>
          <a:p>
            <a:r>
              <a:rPr lang="zh-CN" altLang="en-US" dirty="0"/>
              <a:t>影响面。一条标准换版，需要同时排查设计红线、供应商合同、技术手册、巡检项和课程。公开材料未记载换版影响分析与通知流程，包括由谁发现换版、由谁判断影响范围、通知设计、工艺、采购、服务、培训中的哪些岗位，以及旧版自何时起不再被新任务引用。缺少这张清单时，可能出现设计已改、手册和课程仍引用旧条款，或认证与投标仍引用过期条款。该风险属于通知范围遗漏。是否符合，仍由对应岗位判断。换版后的通知路径和责任岗位标为待核。</a:t>
            </a:r>
          </a:p>
          <a:p>
            <a:r>
              <a:rPr lang="zh-CN" altLang="en-US" dirty="0"/>
              <a:t>版本状态使影响面更难一次列清。699 项国内标准、34 项 IEC、21 项 IEA 课题同时在册，已发布约占八成五，其余在研或报批。国家、行业、地方、团体四类在 2026 年 6 月没有公开分项。若只保存一个「最新文件」，已发布、在研和被替代会混在同一清单中。影响清单只列入已发布且未退役的条款。</a:t>
            </a:r>
          </a:p>
          <a:p>
            <a:r>
              <a:rPr lang="zh-CN" altLang="en-US" dirty="0"/>
              <a:t>任务定位。标准进入红线、合同、手册、巡检项和课程之后，任务需要的是：这一型号、这一市场、这一认证体系，当前适用哪一条。公开材料未回答四项：能否按机型、国家和认证体系检索条款；换版时能否列出受影响对象；投标偏离表如何与条款对齐；岗位如何从约 700 项中定位到相关部分。这是任务中的定位，存量规模已经由半年报说明。检索若已按该粒度存在，则接入该索引；若尚未形成，三个场景先建立选定范围的最小对应。此项标为待核。</a:t>
            </a:r>
          </a:p>
          <a:p>
            <a:r>
              <a:rPr lang="zh-CN" altLang="en-US" dirty="0"/>
              <a:t>载体同步。手册系统、304 门课程、标准化巡检均已存在。公开材料未记载手册条目、课程、巡检判据与标准号、条款号、版本的对应，也未记载更新机制。作业链没有证书和合同那种外部核对，版本不一致往往在不符合项或事件复盘时才被发现。公开材料不能据此判断现场正在使用哪一版文件，故标为待核。304 门课程中哪些对应强制标准、改版后由谁修订题库和手册，待企业内部材料核对。</a:t>
            </a:r>
          </a:p>
          <a:p>
            <a:r>
              <a:rPr lang="zh-CN" altLang="en-US" dirty="0"/>
              <a:t>公开未披露，表示该事项尚未出现在已检索的公开材料中。企业内部可能已有标准库、映射表或台账。后续按企业说明的系统现状接入，不把信息缺口写成能力缺口。</a:t>
            </a:r>
          </a:p>
          <a:p>
            <a:r>
              <a:rPr lang="zh-CN" altLang="en-US" dirty="0"/>
              <a:t>三个断点对应底座上要核对的三样东西：影响清单、条款定位、载体对应。三项未核对清楚之前，场景保持在对照和草稿，不进入替代现行流程。本页不设优先级分数，也不设人天。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下列决定由企业授权岗位完成。系统的产出停在依据、比对、草稿和风险提示。</a:t>
            </a:r>
          </a:p>
          <a:p>
            <a:r>
              <a:rPr lang="zh-CN" altLang="en-US" dirty="0"/>
              <a:t>认证签署。证书、检测报告和投标文件的签字盖章由授权人完成。原始记录保持可追溯，报告追溯到方法、设备和校准。中国电科院出具的依标报告，出证主体是检测机构。系统列出条款、证据索引和偏离草稿，提交由授权人执行。</a:t>
            </a:r>
          </a:p>
          <a:p>
            <a:r>
              <a:rPr lang="zh-CN" altLang="en-US" dirty="0"/>
              <a:t>准入结论。证书过期或认证范围与所供品类不符时，结果为待补，不进入通过。检索到一条相似条款，只说明有候选依据，并不表示该品类的全部规则已经满足。通过、观察或不通过由采购与质量作出。系统输出证据是否齐、哪一项超范围或过期。</a:t>
            </a:r>
          </a:p>
          <a:p>
            <a:r>
              <a:rPr lang="zh-CN" altLang="en-US" dirty="0"/>
              <a:t>设计符合。核心部件设计红线是否满足，由设计确认。换版之后，原有符合性判断不自动沿用，需能看到版本差异。系统并列显示红线条款与设计输入的差异，结论留在设计评审。</a:t>
            </a:r>
          </a:p>
          <a:p>
            <a:r>
              <a:rPr lang="zh-CN" altLang="en-US" dirty="0"/>
              <a:t>安全许可。停电、动火、高空、受限空间等作业许可由现场负责人作出。标准化巡检生成告警工单，工单是待办。系统提示依据和风险，现场措施按现有规程由责任人确认。</a:t>
            </a:r>
          </a:p>
          <a:p>
            <a:r>
              <a:rPr lang="zh-CN" altLang="en-US" dirty="0"/>
              <a:t>对外口径。报价、交付承诺、法律条款的终稿，以及对外披露和可持续报告中的数字，由对应责任人定稿。系统不出对外文本。</a:t>
            </a:r>
          </a:p>
          <a:p>
            <a:r>
              <a:rPr lang="zh-CN" altLang="en-US" dirty="0"/>
              <a:t>写回。DEEP、风匠、天工、擎风、SOAM、供应商平台、手册系统、招采平台、培训平台，各自保持现有发布和审批。本次范围不包含把草稿直接写入这些系统。写回需另备草稿、审批、回滚和审计，不在本次交流的范围内。</a:t>
            </a:r>
          </a:p>
          <a:p>
            <a:r>
              <a:rPr lang="zh-CN" altLang="en-US" dirty="0"/>
              <a:t>系统做到找依据、做比对、出草稿、标风险。定结论、签字、放行、对外由授权岗位完成，每类动作有唯一责任岗位。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三个场景共用下列引用规则。知识向任务提供当前有效条款，发布与审批留在现有流程，不另设一套流程平台。</a:t>
            </a:r>
          </a:p>
          <a:p>
            <a:r>
              <a:rPr lang="zh-CN" altLang="en-US" dirty="0"/>
              <a:t>检索单位是一条当前有效条款，不是一篇标准全文，也不是一次对话的摘要。每条写明标准号、条款号、版本、适用范围。缺任何一项，该条不进入任务引用。适用范围需能区分机型或部件、市场或认证体系、供应商品类、作业类型。没有适用范围时，同一标准号会在不同任务中被误用。</a:t>
            </a:r>
          </a:p>
          <a:p>
            <a:r>
              <a:rPr lang="zh-CN" altLang="en-US" dirty="0"/>
              <a:t>原件归档。标准文本、检测报告、合同准则等原件保存，供核对。原件不直接作为引用依据。未命中时，不改用原件起始段或相邻段落。需要查看原文时，由条款回链到原件的相应位置。</a:t>
            </a:r>
          </a:p>
          <a:p>
            <a:r>
              <a:rPr lang="zh-CN" altLang="en-US" dirty="0"/>
              <a:t>先出草稿。系统可以起草应答、偏离说明或修订建议。草稿在发布前不进入检索。发布由责任人完成。未经发布的内容，包括模型当场生成的句子，不作为依据。</a:t>
            </a:r>
          </a:p>
          <a:p>
            <a:r>
              <a:rPr lang="zh-CN" altLang="en-US" dirty="0"/>
              <a:t>发布与退役。只有已发布条款可以被新任务引用。修订时发布新版本并退役旧版本，不覆盖旧文。旧版本留档，供追溯当时的认证、合同和手册，不再被新任务引用。更换模型或重建索引时，只重算索引，不改写已发布正文。</a:t>
            </a:r>
          </a:p>
          <a:p>
            <a:r>
              <a:rPr lang="zh-CN" altLang="en-US" dirty="0"/>
              <a:t>未命中。未匹配到已发布条款，或匹配程度未达到可用条件时，结果为未覆盖。此时不改用原文起始段，不改用相邻条文，也不生成无出处的依据。未覆盖显式返回后，由责任人决定补充标准、缩小范围或停止引用。发布前可用检索预览核验将召回哪一条。预览不是发布。</a:t>
            </a:r>
          </a:p>
          <a:p>
            <a:r>
              <a:rPr lang="zh-CN" altLang="en-US" dirty="0"/>
              <a:t>可核对的条件是：每条被引用的内容能回到标准号、条款号、版本和原件；草稿未进入检索；退役版本不被新任务召回；未命中返回未覆盖。本材料不设定准确率百分比。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认证应答中，系统按认证体系列出条款、证据索引和偏离草稿。技术、商务、法务分别确认本段。授权人完成提交。投标文件的编制方式，公开材料未记载，标为待核。</a:t>
            </a:r>
          </a:p>
          <a:p>
            <a:r>
              <a:rPr lang="zh-CN" altLang="en-US" dirty="0"/>
              <a:t>认证侧的路径是标准、测试大纲、报告、证书。T/CEEIA 804-2024 发布后，中国电科院依据该标准对 GW155-4.5MW 做硬件在环测试，形成国内首份依标报告。标准在这里同时是测试方法和市场准入依据。2026 年上半年证书 92 张，国内 38 张、国际 54 张，覆盖多平台多机型，属于持续发生的工作。国际合格评定另有 IECRE 规则，同一机型可能准备两套材料。国家标准验证点表明检测与标准相连。</a:t>
            </a:r>
          </a:p>
          <a:p>
            <a:r>
              <a:rPr lang="zh-CN" altLang="en-US" dirty="0"/>
              <a:t>系统产出三项。条款清单：按该认证体系列出应引用的当前有效条款，带标准号、条款号、版本、适用范围。证据索引：每条指向已有报告、大纲或原件；没有证据时标为未覆盖，不编造报告编号。偏离草稿：列出待确认的偏离点。未达到匹配条件的条目保持未覆盖，不补写为符合。</a:t>
            </a:r>
          </a:p>
          <a:p>
            <a:r>
              <a:rPr lang="zh-CN" altLang="en-US" dirty="0"/>
              <a:t>技术岗位确认偏离在工程上是否成立，商务岗位确认是否涉及交付和商务条件，法务岗位确认是否涉及义务表述。三方各自确认本段。意见齐备后，由授权人决定能否提交。系统不替代检测报告和证书，不签字，不盖章。</a:t>
            </a:r>
          </a:p>
          <a:p>
            <a:r>
              <a:rPr lang="zh-CN" altLang="en-US" dirty="0"/>
              <a:t>投标侧标为待核。公开信息可以确认天工招采是电子招投标平台。技术偏离表、符合性声明的编写岗位、模板，以及与认证材料是否复用，公开材料未记载。后续若提供历史标书，可另作对照。本次范围不含投标文件的自动编制。认证侧先行，是因为证书、报告和验证点已有公开材料。</a:t>
            </a:r>
          </a:p>
          <a:p>
            <a:r>
              <a:rPr lang="zh-CN" altLang="en-US" dirty="0"/>
              <a:t>对照方式：选定一个真实认证包，系统出具清单和草稿，正式稿仍按现行岗位编制。两边对照引用能否回链、未命中是否标为未覆盖、偏离是否标为待确认。正式提交仍走原路径，不写入招采平台或认证档案系统。对照不约定工时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供应商准入中，系统核验证书有效期、适用范围和条款命中。是否准入由采购与质量作出。证据规则明确，产出是证据包和待补项。结论与质量责任相连，通过状态由授权岗位给出。</a:t>
            </a:r>
          </a:p>
          <a:p>
            <a:r>
              <a:rPr lang="zh-CN" altLang="en-US" dirty="0"/>
              <a:t>公开流程包括开发、资料审核、考察、认证评分、产品试制、小批量验证、产品认证评分。标准以品类关联规则进入采购平台，社会责任准则进入框架合同并要求承诺书，绿色评价采用现场审核与文件审核，对象包括叶片、发电机、轴承、铸件、塔架。单家供应商的材料因此跨越证书、品类标准、合同准则和评价表。需要单独标出的两类差异是证书过期，以及认证范围与所供品类不符。这两类差异关系质量与合规责任。</a:t>
            </a:r>
          </a:p>
          <a:p>
            <a:r>
              <a:rPr lang="zh-CN" altLang="en-US" dirty="0"/>
              <a:t>系统产出包括三项。有效期：标出证书是否在有效期内。适用范围：标出认证范围是否覆盖本次品类。条款命中：标出准则或评价规范中的要求，在提交材料中是否有对应证据。缺证、超范围、过期标为待补，不改为通过。系统不修改框架合同，不生成评分。一条相似描述只作为候选，不表示规则已经全部满足。</a:t>
            </a:r>
          </a:p>
          <a:p>
            <a:r>
              <a:rPr lang="zh-CN" altLang="en-US" dirty="0"/>
              <a:t>采购确认商务条件与准入流程是否继续，质量确认技术与质量证据是否支持。观察、补件、不通过由授权岗位选择。系统不替代准入结论。</a:t>
            </a:r>
          </a:p>
          <a:p>
            <a:r>
              <a:rPr lang="zh-CN" altLang="en-US" dirty="0"/>
              <a:t>证书今天由人工核对还是已有平台字段、品类规则写在供应商平台的哪一层、绿色评价的检查表是否已经结构化，公开材料未记载，标为待核。后续可用脱敏后的准入档案做对照。本次不约定档案份数和工时，也不做效率测算。</a:t>
            </a:r>
          </a:p>
          <a:p>
            <a:r>
              <a:rPr lang="zh-CN" altLang="en-US" dirty="0"/>
              <a:t>认证应答面向机型与市场，准入面向供应商材料。两者都使用标准号、条款号、版本、适用范围。准入另有一条规则：过期和范围不符的结果为待补，不进入通过状态。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作业同步处理标准换版之后，手册、巡检项和课程如何修订。公开材料少于认证和准入，因此排在这两个场景之后。</a:t>
            </a:r>
          </a:p>
          <a:p>
            <a:r>
              <a:rPr lang="zh-CN" altLang="en-US" dirty="0"/>
              <a:t>载体已经存在。手册系统覆盖安装、调试、运行、维护，并支持一次生成、多次使用。巡检覆盖风机、光伏、集电线路、升压站，系统可生成告警工单。培训有 304 门课程、253 名内训师和金风大学。公开材料未记载哪一条手册、哪一道题目、哪一个巡检判据来自哪一版标准的哪一条，也未记载改版后的更新机制。培训平台的公开转载缺少稳定出处。课程规模以企业正式披露为准，课程与条款的对应标为待核。</a:t>
            </a:r>
          </a:p>
          <a:p>
            <a:r>
              <a:rPr lang="zh-CN" altLang="en-US" dirty="0"/>
              <a:t>对应关系核对之后，系统做两件事。影响清单：一次换版列出可能受影响的手册、巡检项和课程，清单是候选，不是已经生效的修改。修订草稿：按新条款给出修改建议。对应关系未核对时，清单标为待核，不作为完整影响面。</a:t>
            </a:r>
          </a:p>
          <a:p>
            <a:r>
              <a:rPr lang="zh-CN" altLang="en-US" dirty="0"/>
              <a:t>工程负责人确认手册及与设计相关的内容，运维负责人确认巡检和现场作业，培训负责人确认课程和题库。签核之后，发布仍走现有手册、培训和巡检流程。系统不改变发布流程，不向场站自动下发，不替代签核。告警工单仍是待办，作业许可由现场负责人作出。</a:t>
            </a:r>
          </a:p>
          <a:p>
            <a:r>
              <a:rPr lang="zh-CN" altLang="en-US" dirty="0"/>
              <a:t>该场景涉及手册、培训、巡检三处载体，依赖尚未公开的对应关系。作业链又没有证书和合同那种外部核对。条款引用以及认证、准入两个场景先建立可回链的依据，再决定是否做载体同步。一次换版目前由谁通知谁，公开材料未记载，标为待核。若已有通知单或改版台账，接入该单据，发布仍走原流程。</a:t>
            </a:r>
          </a:p>
          <a:p>
            <a:r>
              <a:rPr lang="zh-CN" altLang="en-US" dirty="0"/>
              <a:t>运营知识平台中的故障诊断和监盘策略，依据的是运行数据与处置策略。本场景同步的是标准条款到作业文件的版本。两类内容分别管理。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三个场景共用同一套最小结构。没有标准、机型与市场的对应，认证应答无法定位条款。没有品类与准则的对应，准入无法核对证据。没有标准与载体的对应，换版无法列出手册、巡检和课程。该结构向任务提供可引用条款，不另设治理平台。</a:t>
            </a:r>
          </a:p>
          <a:p>
            <a:r>
              <a:rPr lang="zh-CN" altLang="en-US" dirty="0"/>
              <a:t>四项字段为标准号、条款号、版本、适用范围，缺一则不进入引用。文件级保存只能说明标准文本在库，不能回答这一任务使用哪一条、哪一版。适用范围至少区分机型或部件、市场或认证体系、供应商品类、作业类型。企业标准若有内部编号，与外部标准的采标关系写入适用范围或对应表。缺少这层时，内部红线无法被检索到。</a:t>
            </a:r>
          </a:p>
          <a:p>
            <a:r>
              <a:rPr lang="zh-CN" altLang="en-US" dirty="0"/>
              <a:t>三张对应。第一张是标准、机型与市场：哪一型号在哪一市场、哪一认证体系下引用哪些条款。2026 年上半年 92 张证书覆盖多平台多机型，全表规模大。试点只做选定机型和选定市场。第二张是标准到载体：手册、合同准则、巡检项、课程。作业同步依赖这张表，公开材料未记载，标为待核。第三张是版本替代：新版本发布，旧版本退役并留档，新任务只引用未退役的已发布版本。</a:t>
            </a:r>
          </a:p>
          <a:p>
            <a:r>
              <a:rPr lang="zh-CN" altLang="en-US" dirty="0"/>
              <a:t>是否已有标准管理系统或台账、归口岗位、发布和退役的签批岗位、检索按文件还是按条款，公开材料未记载，标为待核。已有系统并能提供四项字段时，接入该系统，原有审批保留。没有时，为试点场景建立最小可用集，不先把 699 项全部结构化。</a:t>
            </a:r>
          </a:p>
          <a:p>
            <a:r>
              <a:rPr lang="zh-CN" altLang="en-US" dirty="0"/>
              <a:t>原件、已发布条款、检索索引分开存放。原件用于核对，已发布条款用于引用，索引用于查找。重建索引或更换模型时，不改写已发布正文。模型升级不改变已经被认证或合同引用过的条文。</a:t>
            </a:r>
          </a:p>
          <a:p>
            <a:r>
              <a:rPr lang="zh-CN" altLang="en-US" dirty="0"/>
              <a:t>底座向任务提供可引用条款。认证档案、准入结论、手册发布、课程发布仍留在原系统。发布由标准化归口签批。场景是否使用这四项字段，由业务责任岗位确定。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本页是试点次序，不约定周期，也不约定人天。次序随待核项的核对结果确定。本次不承诺周期和效果。</a:t>
            </a:r>
          </a:p>
          <a:p>
            <a:r>
              <a:rPr lang="zh-CN" altLang="en-US" dirty="0"/>
              <a:t>第一步，核对现有标准系统：是否已有统一的标准库或台账，发布和退役的现行流程，检索能否回到条款。已有则接入，没有则只为选定场景做最小集。是否已用模型做标准问答或文档生成，公开材料未记载，标为待核。已有该能力则接入，避免平行再建一套。</a:t>
            </a:r>
          </a:p>
          <a:p>
            <a:r>
              <a:rPr lang="zh-CN" altLang="en-US" dirty="0"/>
              <a:t>第二步，核对三张对应：机型与市场、载体、版本替代。缺哪一张，先补该张在选定范围内的最小部分。认证应答至少具备选定机型的标准与市场对应。准入至少具备选定品类的准则对应。作业同步至少具备选定手册或课程的载体对应。三张对应都未形成之前，三个场景不并行铺开。</a:t>
            </a:r>
          </a:p>
          <a:p>
            <a:r>
              <a:rPr lang="zh-CN" altLang="en-US" dirty="0"/>
              <a:t>第三步，核对两条现行办法。投标侧：偏离表和符合性声明的编写岗位、模板，以及与认证材料是否复用。准入侧：证书有效期和范围的现行核对方式，以及有权给出准入结论的岗位。这两项决定投标侧是否纳入范围，以及准入证据包由哪一岗位确认。责任岗位以企业内部职责为准。</a:t>
            </a:r>
          </a:p>
          <a:p>
            <a:r>
              <a:rPr lang="zh-CN" altLang="en-US" dirty="0"/>
              <a:t>第四步，认证应答做对照。选定一个真实认证包，系统出具条款清单、证据索引和偏离草稿，正式编制仍由原岗位完成。对照引用能否回链、未命中是否标为未覆盖、偏离是否标为待确认。对照完成前不自动提交，也不替换现行认证流程。</a:t>
            </a:r>
          </a:p>
          <a:p>
            <a:r>
              <a:rPr lang="zh-CN" altLang="en-US" dirty="0"/>
              <a:t>第五步，次序。准入证据包放在认证对照之后：规则明确，同时通过状态关系质量责任，需先把「过期或超范围则为待补」写成产品规则。作业同步放在最后：它依赖载体对应，并涉及手册、培训、巡检三处发布流程。岗位问答若后续开展，范围限于已发布条款的检索，专家评审仍由专家完成。</a:t>
            </a:r>
          </a:p>
          <a:p>
            <a:r>
              <a:rPr lang="zh-CN" altLang="en-US" dirty="0"/>
              <a:t>可复核的条件是：引用带有标准号、条款号、版本和原件；草稿未进入检索；退役版本不被新任务引用；未命中返回未覆盖；准入中过期或超范围不会变成通过。认证周期、不符合项、重复试验若企业已有内部基线，可在以后作为观察项。本次不引用、不估算这些数字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本期可做四件事：按条款检索当前有效依据；将任务材料与条款比对并标出偏离；输出应答或修订草稿；未命中则返回未覆盖。产出停在检索和草稿。检索预览用于发布前核验将召回哪一条，预览不是发布。</a:t>
            </a:r>
          </a:p>
          <a:p>
            <a:r>
              <a:rPr lang="zh-CN" altLang="en-US" dirty="0"/>
              <a:t>仍由授权岗位完成的事项：定结论、签字、放行、对外。其中包括认证签署与盖章、供应商准入结论、设计红线符合性、安全作业许可、报价与法律终稿、对外口径。</a:t>
            </a:r>
          </a:p>
          <a:p>
            <a:r>
              <a:rPr lang="zh-CN" altLang="en-US" dirty="0"/>
              <a:t>本次交流不构成签约，也不构成效果承诺。材料不引用厂商或企业自报的效率、准确率、覆盖率。公开材料未记载的事项保持待核，包括标准系统是否已有、机型与市场的对应、换版通知、投标编制方式、课程与条款的对应、企业标准清单、是否已有标准问答。已有系统则接入。草稿不写入现有业务系统。</a:t>
            </a:r>
          </a:p>
          <a:p>
            <a:r>
              <a:rPr lang="zh-CN" altLang="en-US" dirty="0"/>
              <a:t>后续可核对的事项包括：现有标准系统与发布流程，一个可脱敏认证包所依据的条款路径，准入证据的现行核对方式。作业同步、投标文件的全量编制、效益测算不在本次范围。</a:t>
            </a:r>
          </a:p>
          <a:p>
            <a:r>
              <a:rPr lang="zh-CN" altLang="en-US" dirty="0"/>
              <a:t>本次交流的口径：标准参与存量以 2026 年 6 月 30 日公开数字为准；作业链与条款是否同步，标为待核；系统做到找依据、做比对、出草稿、标风险；定结论、签字、放行、对外由授权岗位完成；本次交流不构成签约或效果承诺。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2.svg"/><Relationship Id="rId7" Type="http://schemas.openxmlformats.org/officeDocument/2006/relationships/image" Target="../media/image11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2.svg"/><Relationship Id="rId7" Type="http://schemas.openxmlformats.org/officeDocument/2006/relationships/image" Target="../media/image11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2.svg"/><Relationship Id="rId7" Type="http://schemas.openxmlformats.org/officeDocument/2006/relationships/image" Target="../media/image11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2.svg"/><Relationship Id="rId7" Type="http://schemas.openxmlformats.org/officeDocument/2006/relationships/image" Target="../media/image11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// B · 01 封面 — 左文右图，辉光右侧出血&#10;&lt;Slide style={{ width: 1280, height: 720, background: '#081322', position: 'relative', overflow: 'hidden', fontFamily: '&quot;PingFang SC&quot;,&quot;Source Han Sans SC&quot;,&quot;Microsoft YaHei&quot;,sans-serif' }}&gt;&#10;&#10;    {/* 右侧主视觉 */}&#10;    &lt;Box style={{ position: 'absolute', right: 0, top: 0, width: 700, height: 720 }}&gt;&#10;        &lt;Image src=&quot;assets/cover_visual.png&quot; style={{ width: 700, height: 720, objectFit: 'cover' }} /&gt;&#10;        &lt;Box style={{ position: 'absolute', left: 0, top: 0, width: 700, height: 720, background: 'rgba(8,19,34,0.16)' }} /&gt;&#10;        &lt;Box style={{ position: 'absolute', left: 0, top: 0, width: 300, height: 720, background: 'linear-gradient(90deg, #081322 0%, rgba(8,19,34,0) 100%)' }} /&gt;&#10;        &lt;Box style={{ position: 'absolute', right: 0, top: 0, width: 700, height: 160, background: 'linear-gradient(180deg, #081322 0%, rgba(8,19,34,0) 100%)' }} /&gt;&#10;        &lt;Box style={{ position: 'absolute', right: 0, bottom: 0, width: 700, height: 180, background: 'linear-gradient(0deg, #081322 0%, rgba(8,19,34,0) 100%)' }} /&gt;&#10;    &lt;/Box&gt;&#10;&#10;    {/* 左侧文字 */}&#10;    &lt;Box style={{ position: 'absolute', left: 72, top: 20, width: 600, height: 680, flexDirection: 'column' }}&gt;&#10;&#10;        {/* 品牌锁标 */}&#10;        &lt;Box style={{ flexDirection: 'row', alignItems: 'center', gap: 14, height: 52 }}&gt;&#10;            &lt;Image src=&quot;assets/badge.png&quot; style={{ width: 47, height: 52 }} /&gt;&#10;            &lt;Box style={{ flexDirection: 'column', gap: 2 }}&gt;&#10;                &lt;Image src=&quot;assets/logo_zh_light.png&quot; style={{ width: 152, height: 35 }} /&gt;&#10;                &lt;Image src=&quot;assets/logo_en_light.png&quot; style={{ width: 152, height: 15 }} /&gt;&#10;            &lt;/Box&gt;&#10;        &lt;/Box&gt;&#10;&#10;        &lt;Box style={{ flex: 1 }} /&gt;&#10;&#10;        {/* 主标题 */}&#10;        &lt;Box style={{ flexDirection: 'column' }}&gt;&#10;            &lt;Text style={{ fontSize: 76, fontWeight: 'bold', color: '#EAF2F8', lineHeight: 1.16, letterSpacing: -1.5 }}&gt;&#10;                销售智能化升级&#10;            &lt;/Text&gt;&#10;            &lt;Text style={{ fontSize: 76, fontWeight: 'bold', lineHeight: 1.16, letterSpacing: -1.5, backgroundImage: 'linear-gradient(135deg, #8FD8E8 0%, #3FA8BF 100%)', backgroundClip: 'text', color: 'transparent' }}&gt;&#10;                解决方案&#10;            &lt;/Text&gt;&#10;            &lt;Box style={{ width: 68, height: 4, background: 'linear-gradient(135deg, #8FD8E8 0%, #3FA8BF 100%)', borderRadius: 2, marginTop: 22 }} /&gt;&#10;            &lt;Text style={{ fontSize: 20, color: '#8FA6BC', lineHeight: 1.7, marginTop: 18, letterSpacing: 0.5 }}&gt;&#10;                助力中国企业销售管理领先世界&#10;            &lt;/Text&gt;&#10;        &lt;/Box&gt;&#10;&#10;        &lt;Box style={{ flex: 1 }} /&gt;&#10;&#10;        {/* 落款 */}&#10;        &lt;Box style={{ flexDirection: 'row', alignItems: 'center', gap: 14 }}&gt;&#10;            &lt;Box style={{ width: 22, height: 1, background: 'rgba(199,169,107,0.85)' }} /&gt;&#10;            &lt;Text style={{ fontSize: 14, color: '#8FA6BC' }}&gt;北京企盛求索信息科技有限公司&lt;/Text&gt;&#10;            &lt;Box style={{ width: 1, height: 12, background: 'rgba(143,166,188,0.35)' }} /&gt;&#10;            &lt;Text style={{ fontSize: 14, color: '#8FA6BC', letterSpacing: 1 }}&gt;2026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18513" r="18513"/>
          <a:stretch>
            <a:fillRect/>
          </a:stretch>
        </p:blipFill>
        <p:spPr>
          <a:xfrm>
            <a:off x="5524500" y="0"/>
            <a:ext cx="66675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524500" y="0"/>
            <a:ext cx="6667500" cy="6858000"/>
          </a:xfrm>
          <a:prstGeom prst="rect">
            <a:avLst/>
          </a:prstGeom>
          <a:solidFill>
            <a:srgbClr val="081322">
              <a:alpha val="16000"/>
            </a:srgbClr>
          </a:solidFill>
        </p:spPr>
        <p:txBody>
          <a:bodyPr/>
          <a:p/>
        </p:txBody>
      </p:sp>
      <p:sp>
        <p:nvSpPr>
          <p:cNvPr id="5" name="矩形 4"/>
          <p:cNvSpPr/>
          <p:nvPr/>
        </p:nvSpPr>
        <p:spPr>
          <a:xfrm>
            <a:off x="5524500" y="0"/>
            <a:ext cx="2857500" cy="6858000"/>
          </a:xfrm>
          <a:prstGeom prst="rect">
            <a:avLst/>
          </a:prstGeom>
          <a:gradFill>
            <a:gsLst>
              <a:gs pos="0">
                <a:srgbClr val="081322"/>
              </a:gs>
              <a:gs pos="100000">
                <a:srgbClr val="081322">
                  <a:alpha val="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6" name="矩形 5"/>
          <p:cNvSpPr/>
          <p:nvPr/>
        </p:nvSpPr>
        <p:spPr>
          <a:xfrm>
            <a:off x="5524500" y="0"/>
            <a:ext cx="6667500" cy="1524000"/>
          </a:xfrm>
          <a:prstGeom prst="rect">
            <a:avLst/>
          </a:prstGeom>
          <a:gradFill>
            <a:gsLst>
              <a:gs pos="0">
                <a:srgbClr val="081322"/>
              </a:gs>
              <a:gs pos="100000">
                <a:srgbClr val="081322">
                  <a:alpha val="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7" name="矩形 6"/>
          <p:cNvSpPr/>
          <p:nvPr/>
        </p:nvSpPr>
        <p:spPr>
          <a:xfrm>
            <a:off x="5524500" y="5143500"/>
            <a:ext cx="6667500" cy="1714500"/>
          </a:xfrm>
          <a:prstGeom prst="rect">
            <a:avLst/>
          </a:prstGeom>
          <a:gradFill>
            <a:gsLst>
              <a:gs pos="0">
                <a:srgbClr val="081322"/>
              </a:gs>
              <a:gs pos="100000">
                <a:srgbClr val="081322">
                  <a:alpha val="0"/>
                </a:srgbClr>
              </a:gs>
            </a:gsLst>
            <a:lin ang="16200000" scaled="1"/>
          </a:gradFill>
        </p:spPr>
        <p:txBody>
          <a:bodyPr/>
          <a:p/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l="155" r="155"/>
          <a:stretch>
            <a:fillRect/>
          </a:stretch>
        </p:blipFill>
        <p:spPr>
          <a:xfrm>
            <a:off x="685800" y="190500"/>
            <a:ext cx="447675" cy="4953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331" b="331"/>
          <a:stretch>
            <a:fillRect/>
          </a:stretch>
        </p:blipFill>
        <p:spPr>
          <a:xfrm>
            <a:off x="1266825" y="190500"/>
            <a:ext cx="1447800" cy="3333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rcRect l="211" r="211"/>
          <a:stretch>
            <a:fillRect/>
          </a:stretch>
        </p:blipFill>
        <p:spPr>
          <a:xfrm>
            <a:off x="1266825" y="542925"/>
            <a:ext cx="1447800" cy="142875"/>
          </a:xfrm>
          <a:prstGeom prst="rect">
            <a:avLst/>
          </a:prstGeom>
        </p:spPr>
      </p:pic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685800" y="2181225"/>
            <a:ext cx="5715000" cy="1009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6000"/>
              </a:lnSpc>
            </a:pPr>
            <a:r>
              <a:rPr lang="zh-CN" sz="5700" b="1" spc="-112">
                <a:solidFill>
                  <a:srgbClr val="EAF2F8"/>
                </a:solidFill>
                <a:latin typeface="PingFang SC"/>
                <a:ea typeface="PingFang SC"/>
              </a:rPr>
              <a:t>金风科技</a:t>
            </a:r>
            <a:endParaRPr lang="zh-CN" sz="5700" b="1" spc="-11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685800" y="3190875"/>
            <a:ext cx="5715000" cy="1009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6000"/>
              </a:lnSpc>
            </a:pPr>
            <a:r>
              <a:rPr lang="zh-CN" sz="5700" b="1" spc="-112">
                <a:gradFill>
                  <a:gsLst>
                    <a:gs pos="0">
                      <a:srgbClr val="8FD8E8"/>
                    </a:gs>
                    <a:gs pos="100000">
                      <a:srgbClr val="3FA8BF"/>
                    </a:gs>
                  </a:gsLst>
                  <a:lin ang="2700000" scaled="1"/>
                </a:gradFill>
                <a:latin typeface="PingFang SC"/>
                <a:ea typeface="PingFang SC"/>
              </a:rPr>
              <a:t>标准知识进入工作场景</a:t>
            </a:r>
            <a:endParaRPr lang="zh-CN" sz="5700" b="1" spc="-112">
              <a:gradFill>
                <a:gsLst>
                  <a:gs pos="0">
                    <a:srgbClr val="8FD8E8"/>
                  </a:gs>
                  <a:gs pos="100000">
                    <a:srgbClr val="3FA8BF"/>
                  </a:gs>
                </a:gsLst>
                <a:lin ang="2700000" scaled="1"/>
              </a:gradFill>
              <a:latin typeface="PingFang SC"/>
              <a:ea typeface="PingFang SC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685800" y="4410075"/>
            <a:ext cx="6477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5" name="矩形 14"/>
          <p:cNvSpPr/>
          <p:nvPr/>
        </p:nvSpPr>
        <p:spPr>
          <a:xfrm>
            <a:off x="685800" y="6581775"/>
            <a:ext cx="209550" cy="9525"/>
          </a:xfrm>
          <a:prstGeom prst="rect">
            <a:avLst/>
          </a:prstGeom>
          <a:solidFill>
            <a:srgbClr val="C7A96B">
              <a:alpha val="85000"/>
            </a:srgbClr>
          </a:solidFill>
        </p:spPr>
        <p:txBody>
          <a:bodyPr/>
          <a:p/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1028700" y="65055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北京企盛求索信息科技有限公司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028950" y="6534150"/>
            <a:ext cx="9525" cy="114300"/>
          </a:xfrm>
          <a:prstGeom prst="rect">
            <a:avLst/>
          </a:prstGeom>
          <a:solidFill>
            <a:srgbClr val="8FA6BC">
              <a:alpha val="35000"/>
            </a:srgbClr>
          </a:solidFill>
        </p:spPr>
        <p:txBody>
          <a:bodyPr/>
          <a:p/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3171825" y="6505575"/>
            <a:ext cx="361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8FA6BC"/>
                </a:solidFill>
                <a:latin typeface="PingFang SC"/>
                <a:ea typeface="PingFang SC"/>
              </a:rPr>
              <a:t>2026</a:t>
            </a:r>
            <a:endParaRPr lang="en-US" sz="1050" spc="75">
              <a:solidFill>
                <a:srgbClr val="8FA6BC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8" name="" descr="// B · 02 目录 — 金色编号条目&#10;&lt;Slide style={{ width: 1280, height: 720, background: '#081322', fontFamily: '&quot;PingFang SC&quot;,&quot;Source Han Sans SC&quot;,&quot;Microsoft YaHei&quot;,sans-serif', padding: '20px 72px', display: 'flex', flexDirection: 'column', overflow: 'hidden' }}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目录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CONTENTS&lt;/Text&gt;&#10;        &lt;Box style={{ flex: 1 }} /&gt;&#10;        &lt;Text style={{ fontSize: 14, color: '#8FA6BC' }}&gt;全篇 16 页 · 四大板块&lt;/Text&gt;&#10;    &lt;/Box&gt;&#10;&#10;    {/* B · 内容区 */}&#10;    &lt;Box style={{ flex: 1, flexDirection: 'column', justifyContent: 'center' }}&gt;&#10;        {[&#10;            { no: '01', zh: '公司简介', desc: '定位 · 核心理念 · 发展历程', en: 'COMPANY PROFILE', pg: 'P.03 — 06' },&#10;            { no: '02', zh: '服务体系', desc: '服务流程 · 业务范围 · 交付成效 · 服务档位', en: 'SERVICE SYSTEM', pg: 'P.07 — 13' },&#10;            { no: '03', zh: '方法论体系', desc: '战略 · 流程 · 评估 · 赋能四层', en: 'METHODOLOGY', pg: 'P.14' },&#10;            { no: '04', zh: '结语与联系', desc: '核心主张与合作方式', en: 'CLOSING', pg: 'P.15 — 16' }&#10;        ].map((item, idx) =&gt; (&#10;            &lt;Box key={idx} style={{ height: 118, flexDirection: 'row', alignItems: 'center', borderBottom: idx &lt; 3 ? '1px solid rgba(143,216,232,0.09)' : 'none' }}&gt;&#10;                &lt;Text style={{ width: 78, fontSize: 30, fontWeight: 'bold', color: '#C7A96B', fontFamily: '&quot;Inter&quot;,&quot;Helvetica Neue&quot;,Arial,sans-serif', letterSpacing: -1 }}&gt;{item.no}&lt;/Text&gt;&#10;                &lt;Box style={{ width: 1, height: 48, background: 'rgba(143,216,232,0.25)', marginRight: 28 }} /&gt;&#10;                &lt;Box style={{ flexDirection: 'column', gap: 8 }}&gt;&#10;                    &lt;Text style={{ fontSize: 26, fontWeight: 'bold', color: '#EAF2F8', letterSpacing: -0.3 }}&gt;{item.zh}&lt;/Text&gt;&#10;                    &lt;Text style={{ fontSize: 16, color: '#8FA6BC' }}&gt;{item.desc}&lt;/Text&gt;&#10;                &lt;/Box&gt;&#10;                &lt;Box style={{ flex: 1 }} /&gt;&#10;                &lt;Box style={{ flexDirection: 'column', alignItems: 'flex-end', gap: 7 }}&gt;&#10;                    &lt;Text style={{ fontSize: 13, color: '#5E7590', letterSpacing: 2.5, fontFamily: '&quot;Inter&quot;,&quot;Helvetica Neue&quot;,Arial,sans-serif' }}&gt;{item.en}&lt;/Text&gt;&#10;                    &lt;Text style={{ fontSize: 12, color: '#8FA6BC', letterSpacing: 1.2, fontFamily: '&quot;Inter&quot;,&quot;Helvetica Neue&quot;,Arial,sans-serif' }}&gt;{item.pg}&lt;/Text&gt;&#10;                &lt;/Box&gt;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2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矩形 2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250" name="任意多边形 249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251" name="圆角矩形 250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866775" y="476250"/>
            <a:ext cx="60007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目录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253" name="矩形 252"/>
          <p:cNvSpPr/>
          <p:nvPr/>
        </p:nvSpPr>
        <p:spPr>
          <a:xfrm>
            <a:off x="1619250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254" name="文本框 253" descr="{&quot;isTemplate&quot;:true,&quot;type&quot;:&quot;text&quot;}"/>
          <p:cNvSpPr txBox="1"/>
          <p:nvPr/>
        </p:nvSpPr>
        <p:spPr>
          <a:xfrm>
            <a:off x="1781175" y="590550"/>
            <a:ext cx="895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CONTENTS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256" name="任意多边形 255"/>
          <p:cNvSpPr/>
          <p:nvPr/>
        </p:nvSpPr>
        <p:spPr>
          <a:xfrm>
            <a:off x="685800" y="1371600"/>
            <a:ext cx="10820400" cy="1123950"/>
          </a:xfrm>
          <a:custGeom>
            <a:avLst/>
            <a:gdLst/>
            <a:ahLst/>
            <a:cxnLst/>
            <a:pathLst>
              <a:path w="1136" h="118">
                <a:moveTo>
                  <a:pt x="0" y="117"/>
                </a:moveTo>
                <a:lnTo>
                  <a:pt x="1136" y="117"/>
                </a:lnTo>
                <a:lnTo>
                  <a:pt x="1136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8FD8E8">
              <a:alpha val="9000"/>
            </a:srgbClr>
          </a:solidFill>
        </p:spPr>
        <p:txBody>
          <a:bodyPr/>
          <a:p/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685800" y="1762125"/>
            <a:ext cx="74295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C7A96B"/>
                </a:solidFill>
                <a:latin typeface="Inter"/>
                <a:ea typeface="Inter"/>
              </a:rPr>
              <a:t>01</a:t>
            </a:r>
            <a:endParaRPr lang="en-US" sz="2250" b="1" spc="-7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258" name="矩形 257"/>
          <p:cNvSpPr/>
          <p:nvPr/>
        </p:nvSpPr>
        <p:spPr>
          <a:xfrm>
            <a:off x="1428750" y="1704975"/>
            <a:ext cx="9525" cy="457200"/>
          </a:xfrm>
          <a:prstGeom prst="rect">
            <a:avLst/>
          </a:prstGeom>
          <a:solidFill>
            <a:srgbClr val="8FD8E8">
              <a:alpha val="25000"/>
            </a:srgbClr>
          </a:solidFill>
        </p:spPr>
        <p:txBody>
          <a:bodyPr/>
          <a:p/>
        </p:txBody>
      </p:sp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1704975" y="1647825"/>
            <a:ext cx="18859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 spc="-22">
                <a:solidFill>
                  <a:srgbClr val="EAF2F8"/>
                </a:solidFill>
                <a:latin typeface="PingFang SC"/>
                <a:ea typeface="PingFang SC"/>
              </a:rPr>
              <a:t>客户理解</a:t>
            </a:r>
            <a:endParaRPr lang="zh-CN" sz="195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1704975" y="2028825"/>
            <a:ext cx="18859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标准在册</a:t>
            </a:r>
            <a:r>
              <a:rPr lang="en-US" sz="1200">
                <a:solidFill>
                  <a:srgbClr val="8FA6BC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进入工作</a:t>
            </a:r>
            <a:r>
              <a:rPr lang="en-US" sz="1200">
                <a:solidFill>
                  <a:srgbClr val="8FA6BC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行业对照</a:t>
            </a:r>
            <a:endParaRPr lang="zh-CN" sz="120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9982200" y="1752600"/>
            <a:ext cx="1524000" cy="15240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 spc="188">
                <a:solidFill>
                  <a:srgbClr val="5E7590"/>
                </a:solidFill>
                <a:latin typeface="Inter"/>
                <a:ea typeface="Inter"/>
              </a:rPr>
              <a:t>CONTEXT</a:t>
            </a:r>
            <a:endParaRPr lang="en-US" sz="97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262" name="文本框 261" descr="{&quot;isTemplate&quot;:true,&quot;type&quot;:&quot;text&quot;}"/>
          <p:cNvSpPr txBox="1"/>
          <p:nvPr/>
        </p:nvSpPr>
        <p:spPr>
          <a:xfrm>
            <a:off x="10858500" y="1971675"/>
            <a:ext cx="647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90">
                <a:solidFill>
                  <a:srgbClr val="8FA6BC"/>
                </a:solidFill>
                <a:latin typeface="Inter"/>
                <a:ea typeface="Inter"/>
              </a:rPr>
              <a:t>P.04 — 06</a:t>
            </a:r>
            <a:endParaRPr lang="en-US" sz="900" spc="90">
              <a:solidFill>
                <a:srgbClr val="8FA6BC"/>
              </a:solidFill>
              <a:latin typeface="Inter"/>
              <a:ea typeface="Inter"/>
            </a:endParaRPr>
          </a:p>
        </p:txBody>
      </p:sp>
      <p:sp>
        <p:nvSpPr>
          <p:cNvPr id="263" name="任意多边形 262"/>
          <p:cNvSpPr/>
          <p:nvPr/>
        </p:nvSpPr>
        <p:spPr>
          <a:xfrm>
            <a:off x="685800" y="2495550"/>
            <a:ext cx="10820400" cy="1123950"/>
          </a:xfrm>
          <a:custGeom>
            <a:avLst/>
            <a:gdLst/>
            <a:ahLst/>
            <a:cxnLst/>
            <a:pathLst>
              <a:path w="1136" h="118">
                <a:moveTo>
                  <a:pt x="0" y="117"/>
                </a:moveTo>
                <a:lnTo>
                  <a:pt x="1136" y="117"/>
                </a:lnTo>
                <a:lnTo>
                  <a:pt x="1136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8FD8E8">
              <a:alpha val="9000"/>
            </a:srgbClr>
          </a:solidFill>
        </p:spPr>
        <p:txBody>
          <a:bodyPr/>
          <a:p/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685800" y="2886075"/>
            <a:ext cx="74295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C7A96B"/>
                </a:solidFill>
                <a:latin typeface="Inter"/>
                <a:ea typeface="Inter"/>
              </a:rPr>
              <a:t>02</a:t>
            </a:r>
            <a:endParaRPr lang="en-US" sz="2250" b="1" spc="-7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265" name="矩形 264"/>
          <p:cNvSpPr/>
          <p:nvPr/>
        </p:nvSpPr>
        <p:spPr>
          <a:xfrm>
            <a:off x="1428750" y="2828925"/>
            <a:ext cx="9525" cy="457200"/>
          </a:xfrm>
          <a:prstGeom prst="rect">
            <a:avLst/>
          </a:prstGeom>
          <a:solidFill>
            <a:srgbClr val="8FD8E8">
              <a:alpha val="25000"/>
            </a:srgbClr>
          </a:solidFill>
        </p:spPr>
        <p:txBody>
          <a:bodyPr/>
          <a:p/>
        </p:txBody>
      </p:sp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1704975" y="2771775"/>
            <a:ext cx="297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 spc="-22">
                <a:solidFill>
                  <a:srgbClr val="EAF2F8"/>
                </a:solidFill>
                <a:latin typeface="PingFang SC"/>
                <a:ea typeface="PingFang SC"/>
              </a:rPr>
              <a:t>三处断点</a:t>
            </a:r>
            <a:endParaRPr lang="zh-CN" sz="195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1704975" y="3152775"/>
            <a:ext cx="2971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版本影响</a:t>
            </a:r>
            <a:r>
              <a:rPr lang="en-US" sz="1200">
                <a:solidFill>
                  <a:srgbClr val="8FA6BC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任务定位</a:t>
            </a:r>
            <a:r>
              <a:rPr lang="en-US" sz="1200">
                <a:solidFill>
                  <a:srgbClr val="8FA6BC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载体同步</a:t>
            </a:r>
            <a:r>
              <a:rPr lang="en-US" sz="1200">
                <a:solidFill>
                  <a:srgbClr val="8FA6BC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人工保留</a:t>
            </a:r>
            <a:endParaRPr lang="zh-CN" sz="120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10125075" y="2876550"/>
            <a:ext cx="1381125" cy="15240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 spc="188">
                <a:solidFill>
                  <a:srgbClr val="5E7590"/>
                </a:solidFill>
                <a:latin typeface="Inter"/>
                <a:ea typeface="Inter"/>
              </a:rPr>
              <a:t>GAPS</a:t>
            </a:r>
            <a:endParaRPr lang="en-US" sz="97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10858500" y="3095625"/>
            <a:ext cx="647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90">
                <a:solidFill>
                  <a:srgbClr val="8FA6BC"/>
                </a:solidFill>
                <a:latin typeface="Inter"/>
                <a:ea typeface="Inter"/>
              </a:rPr>
              <a:t>P.07 — 09</a:t>
            </a:r>
            <a:endParaRPr lang="en-US" sz="900" spc="90">
              <a:solidFill>
                <a:srgbClr val="8FA6BC"/>
              </a:solidFill>
              <a:latin typeface="Inter"/>
              <a:ea typeface="Inter"/>
            </a:endParaRPr>
          </a:p>
        </p:txBody>
      </p:sp>
      <p:sp>
        <p:nvSpPr>
          <p:cNvPr id="270" name="任意多边形 269"/>
          <p:cNvSpPr/>
          <p:nvPr/>
        </p:nvSpPr>
        <p:spPr>
          <a:xfrm>
            <a:off x="685800" y="3619500"/>
            <a:ext cx="10820400" cy="1123950"/>
          </a:xfrm>
          <a:custGeom>
            <a:avLst/>
            <a:gdLst/>
            <a:ahLst/>
            <a:cxnLst/>
            <a:pathLst>
              <a:path w="1136" h="118">
                <a:moveTo>
                  <a:pt x="0" y="117"/>
                </a:moveTo>
                <a:lnTo>
                  <a:pt x="1136" y="117"/>
                </a:lnTo>
                <a:lnTo>
                  <a:pt x="1136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8FD8E8">
              <a:alpha val="9000"/>
            </a:srgbClr>
          </a:solidFill>
        </p:spPr>
        <p:txBody>
          <a:bodyPr/>
          <a:p/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685800" y="4010025"/>
            <a:ext cx="74295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C7A96B"/>
                </a:solidFill>
                <a:latin typeface="Inter"/>
                <a:ea typeface="Inter"/>
              </a:rPr>
              <a:t>03</a:t>
            </a:r>
            <a:endParaRPr lang="en-US" sz="2250" b="1" spc="-7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272" name="矩形 271"/>
          <p:cNvSpPr/>
          <p:nvPr/>
        </p:nvSpPr>
        <p:spPr>
          <a:xfrm>
            <a:off x="1428750" y="3952875"/>
            <a:ext cx="9525" cy="457200"/>
          </a:xfrm>
          <a:prstGeom prst="rect">
            <a:avLst/>
          </a:prstGeom>
          <a:solidFill>
            <a:srgbClr val="8FD8E8">
              <a:alpha val="25000"/>
            </a:srgbClr>
          </a:solidFill>
        </p:spPr>
        <p:txBody>
          <a:bodyPr/>
          <a:p/>
        </p:txBody>
      </p:sp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1704975" y="3895725"/>
            <a:ext cx="20574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 spc="-22">
                <a:solidFill>
                  <a:srgbClr val="EAF2F8"/>
                </a:solidFill>
                <a:latin typeface="PingFang SC"/>
                <a:ea typeface="PingFang SC"/>
              </a:rPr>
              <a:t>工作场景</a:t>
            </a:r>
            <a:endParaRPr lang="zh-CN" sz="195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1704975" y="4276725"/>
            <a:ext cx="2057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引用方式</a:t>
            </a:r>
            <a:r>
              <a:rPr lang="en-US" sz="1200">
                <a:solidFill>
                  <a:srgbClr val="8FA6BC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认证应答</a:t>
            </a:r>
            <a:r>
              <a:rPr lang="en-US" sz="1200">
                <a:solidFill>
                  <a:srgbClr val="8FA6BC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准入证据</a:t>
            </a:r>
            <a:r>
              <a:rPr lang="en-US" sz="1200">
                <a:solidFill>
                  <a:srgbClr val="8FA6BC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作业同步</a:t>
            </a:r>
            <a:endParaRPr lang="zh-CN" sz="120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10287000" y="4000500"/>
            <a:ext cx="1219200" cy="15240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 spc="188">
                <a:solidFill>
                  <a:srgbClr val="5E7590"/>
                </a:solidFill>
                <a:latin typeface="Inter"/>
                <a:ea typeface="Inter"/>
              </a:rPr>
              <a:t>SCENES</a:t>
            </a:r>
            <a:endParaRPr lang="en-US" sz="97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277" name="文本框 276" descr="{&quot;isTemplate&quot;:true,&quot;type&quot;:&quot;text&quot;}"/>
          <p:cNvSpPr txBox="1"/>
          <p:nvPr/>
        </p:nvSpPr>
        <p:spPr>
          <a:xfrm>
            <a:off x="685800" y="5133975"/>
            <a:ext cx="74295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C7A96B"/>
                </a:solidFill>
                <a:latin typeface="Inter"/>
                <a:ea typeface="Inter"/>
              </a:rPr>
              <a:t>04</a:t>
            </a:r>
            <a:endParaRPr lang="en-US" sz="2250" b="1" spc="-7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278" name="矩形 277"/>
          <p:cNvSpPr/>
          <p:nvPr/>
        </p:nvSpPr>
        <p:spPr>
          <a:xfrm>
            <a:off x="1428750" y="5076825"/>
            <a:ext cx="9525" cy="457200"/>
          </a:xfrm>
          <a:prstGeom prst="rect">
            <a:avLst/>
          </a:prstGeom>
          <a:solidFill>
            <a:srgbClr val="8FD8E8">
              <a:alpha val="25000"/>
            </a:srgbClr>
          </a:solidFill>
        </p:spPr>
        <p:txBody>
          <a:bodyPr/>
          <a:p/>
        </p:txBody>
      </p:sp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1704975" y="5019675"/>
            <a:ext cx="13716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 spc="-22">
                <a:solidFill>
                  <a:srgbClr val="EAF2F8"/>
                </a:solidFill>
                <a:latin typeface="PingFang SC"/>
                <a:ea typeface="PingFang SC"/>
              </a:rPr>
              <a:t>落地边界</a:t>
            </a:r>
            <a:endParaRPr lang="zh-CN" sz="195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1704975" y="5400675"/>
            <a:ext cx="1371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底座、试点顺序与实施边界</a:t>
            </a:r>
            <a:endParaRPr lang="zh-CN" sz="120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10595610" y="5124450"/>
            <a:ext cx="910590" cy="173355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 spc="188">
                <a:solidFill>
                  <a:srgbClr val="5E7590"/>
                </a:solidFill>
                <a:latin typeface="Inter"/>
                <a:ea typeface="Inter"/>
              </a:rPr>
              <a:t>PATH</a:t>
            </a:r>
            <a:endParaRPr lang="en-US" sz="97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10858500" y="5343525"/>
            <a:ext cx="647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90">
                <a:solidFill>
                  <a:srgbClr val="8FA6BC"/>
                </a:solidFill>
                <a:latin typeface="Inter"/>
                <a:ea typeface="Inter"/>
              </a:rPr>
              <a:t>P.14 — 16</a:t>
            </a:r>
            <a:endParaRPr lang="en-US" sz="900" spc="90">
              <a:solidFill>
                <a:srgbClr val="8FA6BC"/>
              </a:solidFill>
              <a:latin typeface="Inter"/>
              <a:ea typeface="Inter"/>
            </a:endParaRPr>
          </a:p>
        </p:txBody>
      </p:sp>
      <p:sp>
        <p:nvSpPr>
          <p:cNvPr id="283" name="任意多边形 282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02 / 16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10858500" y="4215765"/>
            <a:ext cx="761365" cy="15049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90">
                <a:solidFill>
                  <a:srgbClr val="8FA6BC"/>
                </a:solidFill>
                <a:latin typeface="Inter"/>
                <a:ea typeface="Inter"/>
              </a:rPr>
              <a:t>P.10 — 13</a:t>
            </a:r>
            <a:endParaRPr lang="en-US" sz="900" spc="90">
              <a:solidFill>
                <a:srgbClr val="8FA6BC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6" name="" descr="// B · 03 章节过渡 — 巨型编号 + 底部辉光&#10;&lt;Slide style={{ width: 1280, height: 720, background: '#081322', position: 'relative', overflow: 'hidden', fontFamily: '&quot;PingFang SC&quot;,&quot;Source Han Sans SC&quot;,&quot;Microsoft YaHei&quot;,sans-serif' }}&gt;&#10;&#10;    {/* 装饰：底部辉光 */}&#10;    &lt;Box style={{ position: 'absolute', left: 160, bottom: -300, width: 960, height: 560, borderRadius: 480, background: 'radial-gradient(circle, rgba(91,200,200,0.24) 0%, rgba(8,19,34,0) 70%)' }} /&gt;&#10;    {/* 装饰：同心细环 */}&#10;    &lt;Box style={{ position: 'absolute', right: -200, top: -140, width: 640, height: 640, borderRadius: 320, background: 'radial-gradient(circle, rgba(143,216,232,0) 60%, rgba(143,216,232,0.16) 62%, rgba(143,216,232,0.16) 63%, rgba(143,216,232,0) 65%)' }} /&gt;&#10;    &lt;Box style={{ position: 'absolute', right: -80, top: -20, width: 440, height: 440, borderRadius: 220, background: 'radial-gradient(circle, rgba(199,169,107,0) 60%, rgba(199,169,107,0.18) 62%, rgba(199,169,107,0.18) 63%, rgba(199,169,107,0) 65%)' }} /&gt;&#10;&#10;    {/* 顶部品牌 */}&#10;    &lt;Box style={{ position: 'absolute', left: 72, top: 54, flexDirection: 'row', alignItems: 'center', gap: 14 }}&gt;&#10;        &lt;Image src=&quot;assets/badge.png&quot; style={{ width: 36, height: 40 }} /&gt;&#10;        &lt;Box style={{ flexDirection: 'column', gap: 2 }}&gt;&#10;            &lt;Image src=&quot;assets/logo_zh_light.png&quot; style={{ width: 158, height: 36 }} /&gt;&#10;            &lt;Image src=&quot;assets/logo_en_light.png&quot; style={{ width: 158, height: 16 }} /&gt;&#10;        &lt;/Box&gt;&#10;    &lt;/Box&gt;&#10;&#10;    {/* 巨型编号 */}&#10;    &lt;Text style={{ position: 'absolute', right: 60, top: 336, fontSize: 220, fontWeight: 'bold', color: 'rgba(143,216,232,0.22)', lineHeight: 1, letterSpacing: -12, fontFamily: '&quot;Inter&quot;,&quot;Helvetica Neue&quot;,Arial,sans-serif' }}&gt;&#10;        01&#10;    &lt;/Text&gt;&#10;&#10;    {/* 章节信息 */}&#10;    &lt;Box style={{ position: 'absolute', left: 72, top: 272, flexDirection: 'column' }}&gt;&#10;        &lt;Text style={{ fontSize: 14, fontWeight: 'bold', color: '#C7A96B', letterSpacing: 5, fontFamily: '&quot;Inter&quot;,&quot;Helvetica Neue&quot;,Arial,sans-serif' }}&gt;&#10;            PART 01&#10;        &lt;/Text&gt;&#10;        &lt;Text style={{ fontSize: 64, fontWeight: 'bold', color: '#EAF2F8', lineHeight: 1.15, letterSpacing: -1, marginTop: 18 }}&gt;&#10;            公司简介&#10;        &lt;/Text&gt;&#10;        &lt;Box style={{ width: 64, height: 4, background: 'linear-gradient(135deg, #8FD8E8 0%, #3FA8BF 100%)', borderRadius: 2, marginTop: 24 }} /&gt;&#10;        &lt;Text style={{ fontSize: 20, color: '#8FA6BC', lineHeight: 1.6, marginTop: 22 }}&gt;&#10;            从定位到使命，认识一家把销售管理做深的咨询公司&#10;        &lt;/Text&gt;&#10;    &lt;/Box&gt;&#10;&#10;    {/* 底部锚点 */}&#10;    &lt;Box style={{ position: 'absolute', left: 72, bottom: 56, flexDirection: 'row', alignItems: 'center', gap: 14 }}&gt;&#10;        &lt;Box style={{ width: 28, height: 1, background: 'rgba(199,169,107,0.7)' }} /&gt;&#10;        &lt;Text style={{ fontSize: 13, color: '#6E86A0', letterSpacing: 3, fontFamily: '&quot;Inter&quot;,&quot;Helvetica Neue&quot;,Arial,sans-serif' }}&gt;&#10;            DISHENG CONSULTING · 2026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矩形 28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288" name="任意多边形 287"/>
          <p:cNvSpPr/>
          <p:nvPr/>
        </p:nvSpPr>
        <p:spPr>
          <a:xfrm>
            <a:off x="1524000" y="4381500"/>
            <a:ext cx="9144000" cy="5334000"/>
          </a:xfrm>
          <a:custGeom>
            <a:avLst/>
            <a:gdLst/>
            <a:ahLst/>
            <a:cxnLst/>
            <a:pathLst>
              <a:path w="960" h="560">
                <a:moveTo>
                  <a:pt x="687" y="0"/>
                </a:moveTo>
                <a:lnTo>
                  <a:pt x="694" y="0"/>
                </a:lnTo>
                <a:lnTo>
                  <a:pt x="702" y="1"/>
                </a:lnTo>
                <a:lnTo>
                  <a:pt x="709" y="1"/>
                </a:lnTo>
                <a:lnTo>
                  <a:pt x="716" y="2"/>
                </a:lnTo>
                <a:lnTo>
                  <a:pt x="723" y="3"/>
                </a:lnTo>
                <a:lnTo>
                  <a:pt x="730" y="4"/>
                </a:lnTo>
                <a:lnTo>
                  <a:pt x="736" y="6"/>
                </a:lnTo>
                <a:lnTo>
                  <a:pt x="743" y="7"/>
                </a:lnTo>
                <a:lnTo>
                  <a:pt x="750" y="9"/>
                </a:lnTo>
                <a:lnTo>
                  <a:pt x="757" y="11"/>
                </a:lnTo>
                <a:lnTo>
                  <a:pt x="763" y="13"/>
                </a:lnTo>
                <a:lnTo>
                  <a:pt x="770" y="15"/>
                </a:lnTo>
                <a:lnTo>
                  <a:pt x="776" y="17"/>
                </a:lnTo>
                <a:lnTo>
                  <a:pt x="783" y="19"/>
                </a:lnTo>
                <a:lnTo>
                  <a:pt x="789" y="22"/>
                </a:lnTo>
                <a:lnTo>
                  <a:pt x="795" y="25"/>
                </a:lnTo>
                <a:lnTo>
                  <a:pt x="801" y="28"/>
                </a:lnTo>
                <a:lnTo>
                  <a:pt x="807" y="31"/>
                </a:lnTo>
                <a:lnTo>
                  <a:pt x="813" y="34"/>
                </a:lnTo>
                <a:lnTo>
                  <a:pt x="819" y="37"/>
                </a:lnTo>
                <a:lnTo>
                  <a:pt x="825" y="41"/>
                </a:lnTo>
                <a:lnTo>
                  <a:pt x="831" y="44"/>
                </a:lnTo>
                <a:lnTo>
                  <a:pt x="837" y="48"/>
                </a:lnTo>
                <a:lnTo>
                  <a:pt x="842" y="52"/>
                </a:lnTo>
                <a:lnTo>
                  <a:pt x="847" y="56"/>
                </a:lnTo>
                <a:lnTo>
                  <a:pt x="853" y="60"/>
                </a:lnTo>
                <a:lnTo>
                  <a:pt x="858" y="64"/>
                </a:lnTo>
                <a:lnTo>
                  <a:pt x="863" y="68"/>
                </a:lnTo>
                <a:lnTo>
                  <a:pt x="868" y="73"/>
                </a:lnTo>
                <a:lnTo>
                  <a:pt x="873" y="77"/>
                </a:lnTo>
                <a:lnTo>
                  <a:pt x="878" y="82"/>
                </a:lnTo>
                <a:lnTo>
                  <a:pt x="883" y="87"/>
                </a:lnTo>
                <a:lnTo>
                  <a:pt x="887" y="92"/>
                </a:lnTo>
                <a:lnTo>
                  <a:pt x="892" y="97"/>
                </a:lnTo>
                <a:lnTo>
                  <a:pt x="896" y="102"/>
                </a:lnTo>
                <a:lnTo>
                  <a:pt x="900" y="107"/>
                </a:lnTo>
                <a:lnTo>
                  <a:pt x="904" y="113"/>
                </a:lnTo>
                <a:lnTo>
                  <a:pt x="908" y="118"/>
                </a:lnTo>
                <a:lnTo>
                  <a:pt x="912" y="123"/>
                </a:lnTo>
                <a:lnTo>
                  <a:pt x="916" y="129"/>
                </a:lnTo>
                <a:lnTo>
                  <a:pt x="919" y="135"/>
                </a:lnTo>
                <a:lnTo>
                  <a:pt x="923" y="141"/>
                </a:lnTo>
                <a:lnTo>
                  <a:pt x="926" y="147"/>
                </a:lnTo>
                <a:lnTo>
                  <a:pt x="929" y="153"/>
                </a:lnTo>
                <a:lnTo>
                  <a:pt x="932" y="159"/>
                </a:lnTo>
                <a:lnTo>
                  <a:pt x="935" y="165"/>
                </a:lnTo>
                <a:lnTo>
                  <a:pt x="938" y="171"/>
                </a:lnTo>
                <a:lnTo>
                  <a:pt x="941" y="177"/>
                </a:lnTo>
                <a:lnTo>
                  <a:pt x="943" y="184"/>
                </a:lnTo>
                <a:lnTo>
                  <a:pt x="945" y="190"/>
                </a:lnTo>
                <a:lnTo>
                  <a:pt x="947" y="197"/>
                </a:lnTo>
                <a:lnTo>
                  <a:pt x="949" y="203"/>
                </a:lnTo>
                <a:lnTo>
                  <a:pt x="951" y="210"/>
                </a:lnTo>
                <a:lnTo>
                  <a:pt x="953" y="217"/>
                </a:lnTo>
                <a:lnTo>
                  <a:pt x="954" y="224"/>
                </a:lnTo>
                <a:lnTo>
                  <a:pt x="956" y="230"/>
                </a:lnTo>
                <a:lnTo>
                  <a:pt x="957" y="237"/>
                </a:lnTo>
                <a:lnTo>
                  <a:pt x="958" y="244"/>
                </a:lnTo>
                <a:lnTo>
                  <a:pt x="959" y="251"/>
                </a:lnTo>
                <a:lnTo>
                  <a:pt x="959" y="258"/>
                </a:lnTo>
                <a:lnTo>
                  <a:pt x="959" y="260"/>
                </a:lnTo>
                <a:lnTo>
                  <a:pt x="1" y="260"/>
                </a:lnTo>
                <a:lnTo>
                  <a:pt x="1" y="258"/>
                </a:lnTo>
                <a:lnTo>
                  <a:pt x="1" y="251"/>
                </a:lnTo>
                <a:lnTo>
                  <a:pt x="2" y="244"/>
                </a:lnTo>
                <a:lnTo>
                  <a:pt x="3" y="237"/>
                </a:lnTo>
                <a:lnTo>
                  <a:pt x="4" y="230"/>
                </a:lnTo>
                <a:lnTo>
                  <a:pt x="6" y="224"/>
                </a:lnTo>
                <a:lnTo>
                  <a:pt x="7" y="217"/>
                </a:lnTo>
                <a:lnTo>
                  <a:pt x="9" y="210"/>
                </a:lnTo>
                <a:lnTo>
                  <a:pt x="11" y="203"/>
                </a:lnTo>
                <a:lnTo>
                  <a:pt x="13" y="197"/>
                </a:lnTo>
                <a:lnTo>
                  <a:pt x="15" y="190"/>
                </a:lnTo>
                <a:lnTo>
                  <a:pt x="17" y="184"/>
                </a:lnTo>
                <a:lnTo>
                  <a:pt x="19" y="177"/>
                </a:lnTo>
                <a:lnTo>
                  <a:pt x="22" y="171"/>
                </a:lnTo>
                <a:lnTo>
                  <a:pt x="25" y="165"/>
                </a:lnTo>
                <a:lnTo>
                  <a:pt x="28" y="159"/>
                </a:lnTo>
                <a:lnTo>
                  <a:pt x="31" y="153"/>
                </a:lnTo>
                <a:lnTo>
                  <a:pt x="34" y="147"/>
                </a:lnTo>
                <a:lnTo>
                  <a:pt x="37" y="141"/>
                </a:lnTo>
                <a:lnTo>
                  <a:pt x="41" y="135"/>
                </a:lnTo>
                <a:lnTo>
                  <a:pt x="44" y="129"/>
                </a:lnTo>
                <a:lnTo>
                  <a:pt x="48" y="123"/>
                </a:lnTo>
                <a:lnTo>
                  <a:pt x="52" y="118"/>
                </a:lnTo>
                <a:lnTo>
                  <a:pt x="56" y="113"/>
                </a:lnTo>
                <a:lnTo>
                  <a:pt x="60" y="107"/>
                </a:lnTo>
                <a:lnTo>
                  <a:pt x="64" y="102"/>
                </a:lnTo>
                <a:lnTo>
                  <a:pt x="68" y="97"/>
                </a:lnTo>
                <a:lnTo>
                  <a:pt x="73" y="92"/>
                </a:lnTo>
                <a:lnTo>
                  <a:pt x="77" y="87"/>
                </a:lnTo>
                <a:lnTo>
                  <a:pt x="82" y="82"/>
                </a:lnTo>
                <a:lnTo>
                  <a:pt x="87" y="77"/>
                </a:lnTo>
                <a:lnTo>
                  <a:pt x="92" y="73"/>
                </a:lnTo>
                <a:lnTo>
                  <a:pt x="97" y="68"/>
                </a:lnTo>
                <a:lnTo>
                  <a:pt x="102" y="64"/>
                </a:lnTo>
                <a:lnTo>
                  <a:pt x="107" y="60"/>
                </a:lnTo>
                <a:lnTo>
                  <a:pt x="113" y="56"/>
                </a:lnTo>
                <a:lnTo>
                  <a:pt x="118" y="52"/>
                </a:lnTo>
                <a:lnTo>
                  <a:pt x="123" y="48"/>
                </a:lnTo>
                <a:lnTo>
                  <a:pt x="129" y="44"/>
                </a:lnTo>
                <a:lnTo>
                  <a:pt x="135" y="41"/>
                </a:lnTo>
                <a:lnTo>
                  <a:pt x="141" y="37"/>
                </a:lnTo>
                <a:lnTo>
                  <a:pt x="147" y="34"/>
                </a:lnTo>
                <a:lnTo>
                  <a:pt x="153" y="31"/>
                </a:lnTo>
                <a:lnTo>
                  <a:pt x="159" y="28"/>
                </a:lnTo>
                <a:lnTo>
                  <a:pt x="165" y="25"/>
                </a:lnTo>
                <a:lnTo>
                  <a:pt x="171" y="22"/>
                </a:lnTo>
                <a:lnTo>
                  <a:pt x="177" y="19"/>
                </a:lnTo>
                <a:lnTo>
                  <a:pt x="184" y="17"/>
                </a:lnTo>
                <a:lnTo>
                  <a:pt x="190" y="15"/>
                </a:lnTo>
                <a:lnTo>
                  <a:pt x="197" y="13"/>
                </a:lnTo>
                <a:lnTo>
                  <a:pt x="203" y="11"/>
                </a:lnTo>
                <a:lnTo>
                  <a:pt x="210" y="9"/>
                </a:lnTo>
                <a:lnTo>
                  <a:pt x="217" y="7"/>
                </a:lnTo>
                <a:lnTo>
                  <a:pt x="224" y="6"/>
                </a:lnTo>
                <a:lnTo>
                  <a:pt x="230" y="4"/>
                </a:lnTo>
                <a:lnTo>
                  <a:pt x="237" y="3"/>
                </a:lnTo>
                <a:lnTo>
                  <a:pt x="244" y="2"/>
                </a:lnTo>
                <a:lnTo>
                  <a:pt x="251" y="1"/>
                </a:lnTo>
                <a:lnTo>
                  <a:pt x="258" y="1"/>
                </a:lnTo>
                <a:lnTo>
                  <a:pt x="266" y="0"/>
                </a:lnTo>
                <a:lnTo>
                  <a:pt x="273" y="0"/>
                </a:lnTo>
                <a:lnTo>
                  <a:pt x="280" y="0"/>
                </a:lnTo>
                <a:lnTo>
                  <a:pt x="680" y="0"/>
                </a:lnTo>
                <a:close/>
              </a:path>
            </a:pathLst>
          </a:custGeom>
          <a:gradFill>
            <a:gsLst>
              <a:gs pos="0">
                <a:srgbClr val="5BC8C8">
                  <a:alpha val="24000"/>
                </a:srgbClr>
              </a:gs>
              <a:gs pos="70000">
                <a:srgbClr val="081322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sp>
        <p:nvSpPr>
          <p:cNvPr id="289" name="任意多边形 288"/>
          <p:cNvSpPr/>
          <p:nvPr/>
        </p:nvSpPr>
        <p:spPr>
          <a:xfrm>
            <a:off x="8001000" y="-1333500"/>
            <a:ext cx="6096000" cy="6096000"/>
          </a:xfrm>
          <a:custGeom>
            <a:avLst/>
            <a:gdLst/>
            <a:ahLst/>
            <a:cxnLst/>
            <a:pathLst>
              <a:path w="640" h="640">
                <a:moveTo>
                  <a:pt x="440" y="617"/>
                </a:moveTo>
                <a:lnTo>
                  <a:pt x="437" y="618"/>
                </a:lnTo>
                <a:lnTo>
                  <a:pt x="430" y="621"/>
                </a:lnTo>
                <a:lnTo>
                  <a:pt x="423" y="623"/>
                </a:lnTo>
                <a:lnTo>
                  <a:pt x="415" y="626"/>
                </a:lnTo>
                <a:lnTo>
                  <a:pt x="408" y="628"/>
                </a:lnTo>
                <a:lnTo>
                  <a:pt x="400" y="630"/>
                </a:lnTo>
                <a:lnTo>
                  <a:pt x="392" y="632"/>
                </a:lnTo>
                <a:lnTo>
                  <a:pt x="384" y="633"/>
                </a:lnTo>
                <a:lnTo>
                  <a:pt x="377" y="635"/>
                </a:lnTo>
                <a:lnTo>
                  <a:pt x="369" y="636"/>
                </a:lnTo>
                <a:lnTo>
                  <a:pt x="361" y="637"/>
                </a:lnTo>
                <a:lnTo>
                  <a:pt x="353" y="638"/>
                </a:lnTo>
                <a:lnTo>
                  <a:pt x="345" y="639"/>
                </a:lnTo>
                <a:lnTo>
                  <a:pt x="336" y="640"/>
                </a:lnTo>
                <a:lnTo>
                  <a:pt x="328" y="640"/>
                </a:lnTo>
                <a:lnTo>
                  <a:pt x="320" y="640"/>
                </a:lnTo>
                <a:lnTo>
                  <a:pt x="312" y="640"/>
                </a:lnTo>
                <a:lnTo>
                  <a:pt x="304" y="640"/>
                </a:lnTo>
                <a:lnTo>
                  <a:pt x="295" y="639"/>
                </a:lnTo>
                <a:lnTo>
                  <a:pt x="287" y="638"/>
                </a:lnTo>
                <a:lnTo>
                  <a:pt x="279" y="637"/>
                </a:lnTo>
                <a:lnTo>
                  <a:pt x="271" y="636"/>
                </a:lnTo>
                <a:lnTo>
                  <a:pt x="263" y="635"/>
                </a:lnTo>
                <a:lnTo>
                  <a:pt x="256" y="633"/>
                </a:lnTo>
                <a:lnTo>
                  <a:pt x="248" y="632"/>
                </a:lnTo>
                <a:lnTo>
                  <a:pt x="240" y="630"/>
                </a:lnTo>
                <a:lnTo>
                  <a:pt x="232" y="628"/>
                </a:lnTo>
                <a:lnTo>
                  <a:pt x="225" y="626"/>
                </a:lnTo>
                <a:lnTo>
                  <a:pt x="217" y="623"/>
                </a:lnTo>
                <a:lnTo>
                  <a:pt x="210" y="621"/>
                </a:lnTo>
                <a:lnTo>
                  <a:pt x="203" y="618"/>
                </a:lnTo>
                <a:lnTo>
                  <a:pt x="195" y="615"/>
                </a:lnTo>
                <a:lnTo>
                  <a:pt x="188" y="612"/>
                </a:lnTo>
                <a:lnTo>
                  <a:pt x="181" y="608"/>
                </a:lnTo>
                <a:lnTo>
                  <a:pt x="174" y="605"/>
                </a:lnTo>
                <a:lnTo>
                  <a:pt x="168" y="601"/>
                </a:lnTo>
                <a:lnTo>
                  <a:pt x="161" y="598"/>
                </a:lnTo>
                <a:lnTo>
                  <a:pt x="154" y="594"/>
                </a:lnTo>
                <a:lnTo>
                  <a:pt x="148" y="590"/>
                </a:lnTo>
                <a:lnTo>
                  <a:pt x="141" y="585"/>
                </a:lnTo>
                <a:lnTo>
                  <a:pt x="135" y="581"/>
                </a:lnTo>
                <a:lnTo>
                  <a:pt x="129" y="576"/>
                </a:lnTo>
                <a:lnTo>
                  <a:pt x="122" y="572"/>
                </a:lnTo>
                <a:lnTo>
                  <a:pt x="116" y="567"/>
                </a:lnTo>
                <a:lnTo>
                  <a:pt x="111" y="562"/>
                </a:lnTo>
                <a:lnTo>
                  <a:pt x="105" y="557"/>
                </a:lnTo>
                <a:lnTo>
                  <a:pt x="99" y="552"/>
                </a:lnTo>
                <a:lnTo>
                  <a:pt x="94" y="546"/>
                </a:lnTo>
                <a:lnTo>
                  <a:pt x="88" y="541"/>
                </a:lnTo>
                <a:lnTo>
                  <a:pt x="83" y="535"/>
                </a:lnTo>
                <a:lnTo>
                  <a:pt x="78" y="529"/>
                </a:lnTo>
                <a:lnTo>
                  <a:pt x="73" y="524"/>
                </a:lnTo>
                <a:lnTo>
                  <a:pt x="68" y="518"/>
                </a:lnTo>
                <a:lnTo>
                  <a:pt x="64" y="511"/>
                </a:lnTo>
                <a:lnTo>
                  <a:pt x="59" y="505"/>
                </a:lnTo>
                <a:lnTo>
                  <a:pt x="55" y="499"/>
                </a:lnTo>
                <a:lnTo>
                  <a:pt x="50" y="492"/>
                </a:lnTo>
                <a:lnTo>
                  <a:pt x="46" y="486"/>
                </a:lnTo>
                <a:lnTo>
                  <a:pt x="42" y="479"/>
                </a:lnTo>
                <a:lnTo>
                  <a:pt x="39" y="472"/>
                </a:lnTo>
                <a:lnTo>
                  <a:pt x="35" y="466"/>
                </a:lnTo>
                <a:lnTo>
                  <a:pt x="32" y="459"/>
                </a:lnTo>
                <a:lnTo>
                  <a:pt x="28" y="452"/>
                </a:lnTo>
                <a:lnTo>
                  <a:pt x="25" y="445"/>
                </a:lnTo>
                <a:lnTo>
                  <a:pt x="22" y="437"/>
                </a:lnTo>
                <a:lnTo>
                  <a:pt x="19" y="430"/>
                </a:lnTo>
                <a:lnTo>
                  <a:pt x="17" y="423"/>
                </a:lnTo>
                <a:lnTo>
                  <a:pt x="14" y="415"/>
                </a:lnTo>
                <a:lnTo>
                  <a:pt x="12" y="408"/>
                </a:lnTo>
                <a:lnTo>
                  <a:pt x="10" y="400"/>
                </a:lnTo>
                <a:lnTo>
                  <a:pt x="8" y="392"/>
                </a:lnTo>
                <a:lnTo>
                  <a:pt x="7" y="384"/>
                </a:lnTo>
                <a:lnTo>
                  <a:pt x="5" y="377"/>
                </a:lnTo>
                <a:lnTo>
                  <a:pt x="4" y="369"/>
                </a:lnTo>
                <a:lnTo>
                  <a:pt x="3" y="361"/>
                </a:lnTo>
                <a:lnTo>
                  <a:pt x="2" y="353"/>
                </a:lnTo>
                <a:lnTo>
                  <a:pt x="1" y="345"/>
                </a:lnTo>
                <a:lnTo>
                  <a:pt x="0" y="336"/>
                </a:lnTo>
                <a:lnTo>
                  <a:pt x="0" y="328"/>
                </a:lnTo>
                <a:lnTo>
                  <a:pt x="0" y="320"/>
                </a:lnTo>
                <a:lnTo>
                  <a:pt x="0" y="312"/>
                </a:lnTo>
                <a:lnTo>
                  <a:pt x="0" y="304"/>
                </a:lnTo>
                <a:lnTo>
                  <a:pt x="1" y="295"/>
                </a:lnTo>
                <a:lnTo>
                  <a:pt x="2" y="287"/>
                </a:lnTo>
                <a:lnTo>
                  <a:pt x="3" y="279"/>
                </a:lnTo>
                <a:lnTo>
                  <a:pt x="4" y="271"/>
                </a:lnTo>
                <a:lnTo>
                  <a:pt x="5" y="263"/>
                </a:lnTo>
                <a:lnTo>
                  <a:pt x="7" y="256"/>
                </a:lnTo>
                <a:lnTo>
                  <a:pt x="8" y="248"/>
                </a:lnTo>
                <a:lnTo>
                  <a:pt x="10" y="240"/>
                </a:lnTo>
                <a:lnTo>
                  <a:pt x="12" y="232"/>
                </a:lnTo>
                <a:lnTo>
                  <a:pt x="14" y="225"/>
                </a:lnTo>
                <a:lnTo>
                  <a:pt x="17" y="217"/>
                </a:lnTo>
                <a:lnTo>
                  <a:pt x="19" y="210"/>
                </a:lnTo>
                <a:lnTo>
                  <a:pt x="22" y="203"/>
                </a:lnTo>
                <a:lnTo>
                  <a:pt x="25" y="195"/>
                </a:lnTo>
                <a:lnTo>
                  <a:pt x="28" y="188"/>
                </a:lnTo>
                <a:lnTo>
                  <a:pt x="32" y="181"/>
                </a:lnTo>
                <a:lnTo>
                  <a:pt x="35" y="174"/>
                </a:lnTo>
                <a:lnTo>
                  <a:pt x="39" y="168"/>
                </a:lnTo>
                <a:lnTo>
                  <a:pt x="42" y="161"/>
                </a:lnTo>
                <a:lnTo>
                  <a:pt x="46" y="154"/>
                </a:lnTo>
                <a:lnTo>
                  <a:pt x="50" y="148"/>
                </a:lnTo>
                <a:lnTo>
                  <a:pt x="55" y="141"/>
                </a:lnTo>
                <a:lnTo>
                  <a:pt x="55" y="140"/>
                </a:lnTo>
                <a:lnTo>
                  <a:pt x="440" y="140"/>
                </a:lnTo>
                <a:close/>
              </a:path>
            </a:pathLst>
          </a:custGeom>
          <a:gradFill>
            <a:gsLst>
              <a:gs pos="60000">
                <a:srgbClr val="8FD8E8">
                  <a:alpha val="0"/>
                </a:srgbClr>
              </a:gs>
              <a:gs pos="62000">
                <a:srgbClr val="8FD8E8">
                  <a:alpha val="16000"/>
                </a:srgbClr>
              </a:gs>
              <a:gs pos="63000">
                <a:srgbClr val="8FD8E8">
                  <a:alpha val="16000"/>
                </a:srgbClr>
              </a:gs>
              <a:gs pos="65000">
                <a:srgbClr val="8FD8E8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sp>
        <p:nvSpPr>
          <p:cNvPr id="290" name="任意多边形 289"/>
          <p:cNvSpPr/>
          <p:nvPr/>
        </p:nvSpPr>
        <p:spPr>
          <a:xfrm>
            <a:off x="8763000" y="-190500"/>
            <a:ext cx="4191000" cy="4191000"/>
          </a:xfrm>
          <a:custGeom>
            <a:avLst/>
            <a:gdLst/>
            <a:ahLst/>
            <a:cxnLst/>
            <a:pathLst>
              <a:path w="440" h="440">
                <a:moveTo>
                  <a:pt x="315" y="22"/>
                </a:moveTo>
                <a:lnTo>
                  <a:pt x="320" y="24"/>
                </a:lnTo>
                <a:lnTo>
                  <a:pt x="325" y="27"/>
                </a:lnTo>
                <a:lnTo>
                  <a:pt x="329" y="29"/>
                </a:lnTo>
                <a:lnTo>
                  <a:pt x="334" y="32"/>
                </a:lnTo>
                <a:lnTo>
                  <a:pt x="339" y="35"/>
                </a:lnTo>
                <a:lnTo>
                  <a:pt x="343" y="38"/>
                </a:lnTo>
                <a:lnTo>
                  <a:pt x="347" y="41"/>
                </a:lnTo>
                <a:lnTo>
                  <a:pt x="352" y="44"/>
                </a:lnTo>
                <a:lnTo>
                  <a:pt x="356" y="47"/>
                </a:lnTo>
                <a:lnTo>
                  <a:pt x="360" y="50"/>
                </a:lnTo>
                <a:lnTo>
                  <a:pt x="360" y="50"/>
                </a:lnTo>
                <a:lnTo>
                  <a:pt x="360" y="390"/>
                </a:lnTo>
                <a:lnTo>
                  <a:pt x="360" y="390"/>
                </a:lnTo>
                <a:lnTo>
                  <a:pt x="356" y="393"/>
                </a:lnTo>
                <a:lnTo>
                  <a:pt x="352" y="396"/>
                </a:lnTo>
                <a:lnTo>
                  <a:pt x="347" y="399"/>
                </a:lnTo>
                <a:lnTo>
                  <a:pt x="343" y="402"/>
                </a:lnTo>
                <a:lnTo>
                  <a:pt x="339" y="405"/>
                </a:lnTo>
                <a:lnTo>
                  <a:pt x="334" y="408"/>
                </a:lnTo>
                <a:lnTo>
                  <a:pt x="329" y="411"/>
                </a:lnTo>
                <a:lnTo>
                  <a:pt x="325" y="413"/>
                </a:lnTo>
                <a:lnTo>
                  <a:pt x="320" y="416"/>
                </a:lnTo>
                <a:lnTo>
                  <a:pt x="315" y="418"/>
                </a:lnTo>
                <a:lnTo>
                  <a:pt x="311" y="421"/>
                </a:lnTo>
                <a:lnTo>
                  <a:pt x="306" y="423"/>
                </a:lnTo>
                <a:lnTo>
                  <a:pt x="301" y="425"/>
                </a:lnTo>
                <a:lnTo>
                  <a:pt x="296" y="427"/>
                </a:lnTo>
                <a:lnTo>
                  <a:pt x="291" y="428"/>
                </a:lnTo>
                <a:lnTo>
                  <a:pt x="285" y="430"/>
                </a:lnTo>
                <a:lnTo>
                  <a:pt x="280" y="432"/>
                </a:lnTo>
                <a:lnTo>
                  <a:pt x="275" y="433"/>
                </a:lnTo>
                <a:lnTo>
                  <a:pt x="270" y="434"/>
                </a:lnTo>
                <a:lnTo>
                  <a:pt x="264" y="436"/>
                </a:lnTo>
                <a:lnTo>
                  <a:pt x="259" y="437"/>
                </a:lnTo>
                <a:lnTo>
                  <a:pt x="253" y="437"/>
                </a:lnTo>
                <a:lnTo>
                  <a:pt x="248" y="438"/>
                </a:lnTo>
                <a:lnTo>
                  <a:pt x="242" y="439"/>
                </a:lnTo>
                <a:lnTo>
                  <a:pt x="237" y="439"/>
                </a:lnTo>
                <a:lnTo>
                  <a:pt x="231" y="440"/>
                </a:lnTo>
                <a:lnTo>
                  <a:pt x="226" y="440"/>
                </a:lnTo>
                <a:lnTo>
                  <a:pt x="220" y="440"/>
                </a:lnTo>
                <a:lnTo>
                  <a:pt x="214" y="440"/>
                </a:lnTo>
                <a:lnTo>
                  <a:pt x="209" y="440"/>
                </a:lnTo>
                <a:lnTo>
                  <a:pt x="203" y="439"/>
                </a:lnTo>
                <a:lnTo>
                  <a:pt x="198" y="439"/>
                </a:lnTo>
                <a:lnTo>
                  <a:pt x="192" y="438"/>
                </a:lnTo>
                <a:lnTo>
                  <a:pt x="187" y="437"/>
                </a:lnTo>
                <a:lnTo>
                  <a:pt x="181" y="437"/>
                </a:lnTo>
                <a:lnTo>
                  <a:pt x="176" y="436"/>
                </a:lnTo>
                <a:lnTo>
                  <a:pt x="170" y="434"/>
                </a:lnTo>
                <a:lnTo>
                  <a:pt x="165" y="433"/>
                </a:lnTo>
                <a:lnTo>
                  <a:pt x="160" y="432"/>
                </a:lnTo>
                <a:lnTo>
                  <a:pt x="155" y="430"/>
                </a:lnTo>
                <a:lnTo>
                  <a:pt x="149" y="428"/>
                </a:lnTo>
                <a:lnTo>
                  <a:pt x="144" y="427"/>
                </a:lnTo>
                <a:lnTo>
                  <a:pt x="139" y="425"/>
                </a:lnTo>
                <a:lnTo>
                  <a:pt x="134" y="423"/>
                </a:lnTo>
                <a:lnTo>
                  <a:pt x="129" y="421"/>
                </a:lnTo>
                <a:lnTo>
                  <a:pt x="125" y="418"/>
                </a:lnTo>
                <a:lnTo>
                  <a:pt x="120" y="416"/>
                </a:lnTo>
                <a:lnTo>
                  <a:pt x="115" y="413"/>
                </a:lnTo>
                <a:lnTo>
                  <a:pt x="111" y="411"/>
                </a:lnTo>
                <a:lnTo>
                  <a:pt x="106" y="408"/>
                </a:lnTo>
                <a:lnTo>
                  <a:pt x="101" y="405"/>
                </a:lnTo>
                <a:lnTo>
                  <a:pt x="97" y="402"/>
                </a:lnTo>
                <a:lnTo>
                  <a:pt x="93" y="399"/>
                </a:lnTo>
                <a:lnTo>
                  <a:pt x="88" y="396"/>
                </a:lnTo>
                <a:lnTo>
                  <a:pt x="84" y="393"/>
                </a:lnTo>
                <a:lnTo>
                  <a:pt x="80" y="390"/>
                </a:lnTo>
                <a:lnTo>
                  <a:pt x="76" y="386"/>
                </a:lnTo>
                <a:lnTo>
                  <a:pt x="72" y="383"/>
                </a:lnTo>
                <a:lnTo>
                  <a:pt x="68" y="379"/>
                </a:lnTo>
                <a:lnTo>
                  <a:pt x="64" y="376"/>
                </a:lnTo>
                <a:lnTo>
                  <a:pt x="61" y="372"/>
                </a:lnTo>
                <a:lnTo>
                  <a:pt x="57" y="368"/>
                </a:lnTo>
                <a:lnTo>
                  <a:pt x="54" y="364"/>
                </a:lnTo>
                <a:lnTo>
                  <a:pt x="50" y="360"/>
                </a:lnTo>
                <a:lnTo>
                  <a:pt x="47" y="356"/>
                </a:lnTo>
                <a:lnTo>
                  <a:pt x="44" y="352"/>
                </a:lnTo>
                <a:lnTo>
                  <a:pt x="41" y="347"/>
                </a:lnTo>
                <a:lnTo>
                  <a:pt x="38" y="343"/>
                </a:lnTo>
                <a:lnTo>
                  <a:pt x="35" y="339"/>
                </a:lnTo>
                <a:lnTo>
                  <a:pt x="32" y="334"/>
                </a:lnTo>
                <a:lnTo>
                  <a:pt x="29" y="329"/>
                </a:lnTo>
                <a:lnTo>
                  <a:pt x="27" y="325"/>
                </a:lnTo>
                <a:lnTo>
                  <a:pt x="24" y="320"/>
                </a:lnTo>
                <a:lnTo>
                  <a:pt x="22" y="315"/>
                </a:lnTo>
                <a:lnTo>
                  <a:pt x="19" y="311"/>
                </a:lnTo>
                <a:lnTo>
                  <a:pt x="17" y="306"/>
                </a:lnTo>
                <a:lnTo>
                  <a:pt x="15" y="301"/>
                </a:lnTo>
                <a:lnTo>
                  <a:pt x="13" y="296"/>
                </a:lnTo>
                <a:lnTo>
                  <a:pt x="12" y="291"/>
                </a:lnTo>
                <a:lnTo>
                  <a:pt x="10" y="285"/>
                </a:lnTo>
                <a:lnTo>
                  <a:pt x="8" y="280"/>
                </a:lnTo>
                <a:lnTo>
                  <a:pt x="7" y="275"/>
                </a:lnTo>
                <a:lnTo>
                  <a:pt x="6" y="270"/>
                </a:lnTo>
                <a:lnTo>
                  <a:pt x="4" y="264"/>
                </a:lnTo>
                <a:lnTo>
                  <a:pt x="3" y="259"/>
                </a:lnTo>
                <a:lnTo>
                  <a:pt x="3" y="253"/>
                </a:lnTo>
                <a:lnTo>
                  <a:pt x="2" y="248"/>
                </a:lnTo>
                <a:lnTo>
                  <a:pt x="1" y="242"/>
                </a:lnTo>
                <a:lnTo>
                  <a:pt x="1" y="237"/>
                </a:lnTo>
                <a:lnTo>
                  <a:pt x="0" y="231"/>
                </a:lnTo>
                <a:lnTo>
                  <a:pt x="0" y="226"/>
                </a:lnTo>
                <a:lnTo>
                  <a:pt x="0" y="220"/>
                </a:lnTo>
                <a:lnTo>
                  <a:pt x="0" y="214"/>
                </a:lnTo>
                <a:lnTo>
                  <a:pt x="0" y="209"/>
                </a:lnTo>
                <a:lnTo>
                  <a:pt x="1" y="203"/>
                </a:lnTo>
                <a:lnTo>
                  <a:pt x="1" y="198"/>
                </a:lnTo>
                <a:lnTo>
                  <a:pt x="2" y="192"/>
                </a:lnTo>
                <a:lnTo>
                  <a:pt x="3" y="187"/>
                </a:lnTo>
                <a:lnTo>
                  <a:pt x="3" y="181"/>
                </a:lnTo>
                <a:lnTo>
                  <a:pt x="4" y="176"/>
                </a:lnTo>
                <a:lnTo>
                  <a:pt x="6" y="170"/>
                </a:lnTo>
                <a:lnTo>
                  <a:pt x="7" y="165"/>
                </a:lnTo>
                <a:lnTo>
                  <a:pt x="8" y="160"/>
                </a:lnTo>
                <a:lnTo>
                  <a:pt x="10" y="155"/>
                </a:lnTo>
                <a:lnTo>
                  <a:pt x="12" y="149"/>
                </a:lnTo>
                <a:lnTo>
                  <a:pt x="13" y="144"/>
                </a:lnTo>
                <a:lnTo>
                  <a:pt x="15" y="139"/>
                </a:lnTo>
                <a:lnTo>
                  <a:pt x="17" y="134"/>
                </a:lnTo>
                <a:lnTo>
                  <a:pt x="19" y="129"/>
                </a:lnTo>
                <a:lnTo>
                  <a:pt x="22" y="125"/>
                </a:lnTo>
                <a:lnTo>
                  <a:pt x="24" y="120"/>
                </a:lnTo>
                <a:lnTo>
                  <a:pt x="27" y="115"/>
                </a:lnTo>
                <a:lnTo>
                  <a:pt x="29" y="111"/>
                </a:lnTo>
                <a:lnTo>
                  <a:pt x="32" y="106"/>
                </a:lnTo>
                <a:lnTo>
                  <a:pt x="35" y="101"/>
                </a:lnTo>
                <a:lnTo>
                  <a:pt x="38" y="97"/>
                </a:lnTo>
                <a:lnTo>
                  <a:pt x="41" y="93"/>
                </a:lnTo>
                <a:lnTo>
                  <a:pt x="44" y="88"/>
                </a:lnTo>
                <a:lnTo>
                  <a:pt x="47" y="84"/>
                </a:lnTo>
                <a:lnTo>
                  <a:pt x="50" y="80"/>
                </a:lnTo>
                <a:lnTo>
                  <a:pt x="54" y="76"/>
                </a:lnTo>
                <a:lnTo>
                  <a:pt x="57" y="72"/>
                </a:lnTo>
                <a:lnTo>
                  <a:pt x="61" y="68"/>
                </a:lnTo>
                <a:lnTo>
                  <a:pt x="64" y="64"/>
                </a:lnTo>
                <a:lnTo>
                  <a:pt x="68" y="61"/>
                </a:lnTo>
                <a:lnTo>
                  <a:pt x="72" y="57"/>
                </a:lnTo>
                <a:lnTo>
                  <a:pt x="76" y="54"/>
                </a:lnTo>
                <a:lnTo>
                  <a:pt x="80" y="50"/>
                </a:lnTo>
                <a:lnTo>
                  <a:pt x="84" y="47"/>
                </a:lnTo>
                <a:lnTo>
                  <a:pt x="88" y="44"/>
                </a:lnTo>
                <a:lnTo>
                  <a:pt x="93" y="41"/>
                </a:lnTo>
                <a:lnTo>
                  <a:pt x="97" y="38"/>
                </a:lnTo>
                <a:lnTo>
                  <a:pt x="101" y="35"/>
                </a:lnTo>
                <a:lnTo>
                  <a:pt x="106" y="32"/>
                </a:lnTo>
                <a:lnTo>
                  <a:pt x="111" y="29"/>
                </a:lnTo>
                <a:lnTo>
                  <a:pt x="115" y="27"/>
                </a:lnTo>
                <a:lnTo>
                  <a:pt x="120" y="24"/>
                </a:lnTo>
                <a:lnTo>
                  <a:pt x="125" y="22"/>
                </a:lnTo>
                <a:lnTo>
                  <a:pt x="128" y="20"/>
                </a:lnTo>
                <a:lnTo>
                  <a:pt x="312" y="20"/>
                </a:lnTo>
                <a:close/>
              </a:path>
            </a:pathLst>
          </a:custGeom>
          <a:gradFill>
            <a:gsLst>
              <a:gs pos="60000">
                <a:srgbClr val="C7A96B">
                  <a:alpha val="0"/>
                </a:srgbClr>
              </a:gs>
              <a:gs pos="62000">
                <a:srgbClr val="C7A96B">
                  <a:alpha val="18000"/>
                </a:srgbClr>
              </a:gs>
              <a:gs pos="63000">
                <a:srgbClr val="C7A96B">
                  <a:alpha val="18000"/>
                </a:srgbClr>
              </a:gs>
              <a:gs pos="65000">
                <a:srgbClr val="C7A96B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pic>
        <p:nvPicPr>
          <p:cNvPr id="291" name="图片 290"/>
          <p:cNvPicPr>
            <a:picLocks noChangeAspect="1"/>
          </p:cNvPicPr>
          <p:nvPr/>
        </p:nvPicPr>
        <p:blipFill>
          <a:blip r:embed="rId1"/>
          <a:srcRect l="367" r="367"/>
          <a:stretch>
            <a:fillRect/>
          </a:stretch>
        </p:blipFill>
        <p:spPr>
          <a:xfrm>
            <a:off x="685800" y="581025"/>
            <a:ext cx="342900" cy="381000"/>
          </a:xfrm>
          <a:prstGeom prst="rect">
            <a:avLst/>
          </a:prstGeom>
        </p:spPr>
      </p:pic>
      <p:pic>
        <p:nvPicPr>
          <p:cNvPr id="292" name="图片 291"/>
          <p:cNvPicPr>
            <a:picLocks noChangeAspect="1"/>
          </p:cNvPicPr>
          <p:nvPr/>
        </p:nvPicPr>
        <p:blipFill>
          <a:blip r:embed="rId2"/>
          <a:srcRect t="852" b="852"/>
          <a:stretch>
            <a:fillRect/>
          </a:stretch>
        </p:blipFill>
        <p:spPr>
          <a:xfrm>
            <a:off x="1162050" y="514350"/>
            <a:ext cx="1504950" cy="342900"/>
          </a:xfrm>
          <a:prstGeom prst="rect">
            <a:avLst/>
          </a:prstGeom>
        </p:spPr>
      </p:pic>
      <p:pic>
        <p:nvPicPr>
          <p:cNvPr id="293" name="图片 292"/>
          <p:cNvPicPr>
            <a:picLocks noChangeAspect="1"/>
          </p:cNvPicPr>
          <p:nvPr/>
        </p:nvPicPr>
        <p:blipFill>
          <a:blip r:embed="rId3"/>
          <a:srcRect l="1481" r="1481"/>
          <a:stretch>
            <a:fillRect/>
          </a:stretch>
        </p:blipFill>
        <p:spPr>
          <a:xfrm>
            <a:off x="1162050" y="876300"/>
            <a:ext cx="1504950" cy="152400"/>
          </a:xfrm>
          <a:prstGeom prst="rect">
            <a:avLst/>
          </a:prstGeom>
        </p:spPr>
      </p:pic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9515475" y="3200400"/>
            <a:ext cx="2105025" cy="2514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 spc="-900">
                <a:solidFill>
                  <a:srgbClr val="8FD8E8">
                    <a:alpha val="22000"/>
                  </a:srgbClr>
                </a:solidFill>
                <a:latin typeface="Inter"/>
                <a:ea typeface="Inter"/>
              </a:rPr>
              <a:t>01</a:t>
            </a:r>
            <a:endParaRPr lang="en-US" sz="16500" b="1" spc="-900">
              <a:solidFill>
                <a:srgbClr val="8FD8E8">
                  <a:alpha val="22000"/>
                </a:srgbClr>
              </a:solidFill>
              <a:latin typeface="Inter"/>
              <a:ea typeface="Inter"/>
            </a:endParaRPr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685800" y="2590800"/>
            <a:ext cx="4381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75">
                <a:solidFill>
                  <a:srgbClr val="C7A96B"/>
                </a:solidFill>
                <a:latin typeface="Inter"/>
                <a:ea typeface="Inter"/>
              </a:rPr>
              <a:t>PART 01</a:t>
            </a:r>
            <a:endParaRPr lang="en-US" sz="1050" b="1" spc="37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685800" y="2924175"/>
            <a:ext cx="4381500" cy="8477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4800" b="1" spc="-75">
                <a:solidFill>
                  <a:srgbClr val="EAF2F8"/>
                </a:solidFill>
                <a:latin typeface="PingFang SC"/>
                <a:ea typeface="PingFang SC"/>
              </a:rPr>
              <a:t>客户理解</a:t>
            </a:r>
            <a:endParaRPr lang="zh-CN" sz="4800" b="1" spc="-75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297" name="圆角矩形 296"/>
          <p:cNvSpPr/>
          <p:nvPr/>
        </p:nvSpPr>
        <p:spPr>
          <a:xfrm>
            <a:off x="685800" y="4000500"/>
            <a:ext cx="6096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685800" y="4248150"/>
            <a:ext cx="43815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8FA6BC"/>
                </a:solidFill>
                <a:latin typeface="PingFang SC"/>
                <a:ea typeface="PingFang SC"/>
              </a:rPr>
              <a:t>标准在册、进入工作与行业对照</a:t>
            </a:r>
            <a:endParaRPr lang="zh-CN" sz="150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299" name="矩形 298"/>
          <p:cNvSpPr/>
          <p:nvPr/>
        </p:nvSpPr>
        <p:spPr>
          <a:xfrm>
            <a:off x="685800" y="6248400"/>
            <a:ext cx="266700" cy="9525"/>
          </a:xfrm>
          <a:prstGeom prst="rect">
            <a:avLst/>
          </a:prstGeom>
          <a:solidFill>
            <a:srgbClr val="C7A96B">
              <a:alpha val="70000"/>
            </a:srgbClr>
          </a:solidFill>
        </p:spPr>
        <p:txBody>
          <a:bodyPr/>
          <a:p/>
        </p:txBody>
      </p:sp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1085850" y="6172200"/>
            <a:ext cx="24765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6E86A0"/>
                </a:solidFill>
                <a:latin typeface="Inter"/>
                <a:ea typeface="Inter"/>
              </a:rPr>
              <a:t>DISHENG CONSULTING · 2026</a:t>
            </a:r>
            <a:endParaRPr lang="en-US" sz="975" spc="225">
              <a:solidFill>
                <a:srgbClr val="6E86A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1" name="" descr="// B · 05 内容页 · 核心理念 — 四宫格（玻璃卡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340, top: 140, width: 560, height: 400, borderRadius: 280, background: 'radial-gradient(circle, rgba(91,200,200,0.09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核心理念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CORE VALUES&lt;/Text&gt;&#10;        &lt;Box style={{ flex: 1 }} /&gt;&#10;        &lt;Text style={{ fontSize: 14, color: '#8FA6BC' }}&gt;四条原则，决定我们怎么做项目&lt;/Text&gt;&#10;    &lt;/Box&gt;&#10;&#10;    {/* B · 内容区 */}&#10;    &lt;Box style={{ flex: 1, flexDirection: 'row', flexWrap: 'wrap', gap: 24, paddingTop: 28, paddingBottom: 24 }}&gt;&#10;        {[&#10;            { icon: 'users', title: '以客户为中心', en: 'CLIENT FIRST', desc: '从客户的目标与约束出发设计方案，不以方法论套用代替业务判断。', act: '先问目标，再谈方案' },&#10;            { icon: 'chart-line', title: '以结果为导向', en: 'RESULT DRIVEN', desc: '每个阶段都定义可衡量的指标，用数据说明价值，而不是用篇幅说明努力。', act: '每阶段定义验收指标' },&#10;            { icon: 'file-text', title: '以方法为沉淀', en: 'METHOD BASED', desc: '把经验结构化为流程、模板与语料，让能力留存在组织而不是个人身上。', act: '项目结束即产出模板' },&#10;            { icon: 'clock', title: '以长期为承诺', en: 'LONG TERM', desc: '不交付一份报告就结束，陪跑到动作改变、指标改善并能够自我循环。', act: '季度复盘与持续迭代' }&#10;        ].map((c, idx) =&gt; (&#10;            &lt;Box key={idx} style={{ width: 556, height: 228, flexDirection: 'column', background: 'rgba(255,255,255,0.045)', border: '1px solid rgba(143,216,232,0.18)', borderRadius: 16, padding: '22px 28px 20px', boxShadow: '0 10px 34px rgba(0,0,0,0.36)' }}&gt;&#10;                &lt;Box style={{ flexDirection: 'row', alignItems: 'center', gap: 16 }}&gt;&#10;                    &lt;Box style={{ width: 54, height: 54, borderRadius: 16, background: 'linear-gradient(135deg, #8FD8E8 0%, #3FA8BF 100%)', justifyContent: 'center', alignItems: 'center', boxShadow: '0 6px 18px rgba(91,200,200,0.32)' }}&gt;&#10;                        &lt;FAIcon name={c.icon} style={{ fill: '#081322', width: 25, height: 25 }} /&gt;&#10;                    &lt;/Box&gt;&#10;                    &lt;Box style={{ flexDirection: 'column', gap: 6 }}&gt;&#10;                        &lt;Text style={{ fontSize: 24, fontWeight: 'bold', color: '#EAF2F8', letterSpacing: -0.3 }}&gt;{c.title}&lt;/Text&gt;&#10;                        &lt;Text style={{ fontSize: 12, color: '#5E7590', letterSpacing: 2.5, fontFamily: '&quot;Inter&quot;,&quot;Helvetica Neue&quot;,Arial,sans-serif' }}&gt;{c.en}&lt;/Text&gt;&#10;                    &lt;/Box&gt;&#10;                &lt;/Box&gt;&#10;                &lt;Text style={{ fontSize: 16, color: '#9FB4C6', lineHeight: 1.85, marginTop: 18 }}&gt;&#10;                    {c.desc}&#10;                &lt;/Text&gt;&#10;                &lt;Box style={{ marginTop: 'auto', flexDirection: 'row', alignItems: 'center', gap: 10, paddingTop: 12 }}&gt;&#10;                    &lt;Box style={{ width: 18, height: 2, background: 'linear-gradient(135deg, #8FD8E8 0%, #3FA8BF 100%)', borderRadius: 1 }} /&gt;&#10;                    &lt;Text style={{ fontSize: 14, color: '#8FD8E8' }}&gt;行动准则：{c.act}&lt;/Text&gt;&#10;                &lt;/Box&gt;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5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矩形 3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343" name="任意多边形 342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344" name="圆角矩形 343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标准在册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46" name="矩形 345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2381250" y="590550"/>
            <a:ext cx="11715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RECORD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348" name="文本框 347" descr="{&quot;isTemplate&quot;:true,&quot;type&quot;:&quot;text&quot;}"/>
          <p:cNvSpPr txBox="1"/>
          <p:nvPr/>
        </p:nvSpPr>
        <p:spPr>
          <a:xfrm>
            <a:off x="9639300" y="58102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公开口径，截至 2026 年中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349" name="圆角矩形 348"/>
          <p:cNvSpPr/>
          <p:nvPr/>
        </p:nvSpPr>
        <p:spPr>
          <a:xfrm>
            <a:off x="685800" y="14097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50" name="圆角矩形 349"/>
          <p:cNvSpPr/>
          <p:nvPr/>
        </p:nvSpPr>
        <p:spPr>
          <a:xfrm>
            <a:off x="952500" y="16192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51" name="图片 35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375" y="1762125"/>
            <a:ext cx="238125" cy="238125"/>
          </a:xfrm>
          <a:prstGeom prst="rect">
            <a:avLst/>
          </a:prstGeom>
        </p:spPr>
      </p:pic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1619250" y="16383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参与规模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1619250" y="19716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SCALE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54" name="文本框 353" descr="{&quot;isTemplate&quot;:true,&quot;type&quot;:&quot;text&quot;}"/>
          <p:cNvSpPr txBox="1"/>
          <p:nvPr/>
        </p:nvSpPr>
        <p:spPr>
          <a:xfrm>
            <a:off x="952500" y="2305050"/>
            <a:ext cx="4762500" cy="822960"/>
          </a:xfrm>
          <a:prstGeom prst="rect">
            <a:avLst/>
          </a:prstGeom>
        </p:spPr>
        <p:txBody>
          <a:bodyPr wrap="squar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国内标准 699 项，已发布 592 项；IEC 34 项，IEA 21 项。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55" name="圆角矩形 354"/>
          <p:cNvSpPr/>
          <p:nvPr/>
        </p:nvSpPr>
        <p:spPr>
          <a:xfrm>
            <a:off x="952500" y="33051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1219200" y="32289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边界：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半年报口径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57" name="圆角矩形 356"/>
          <p:cNvSpPr/>
          <p:nvPr/>
        </p:nvSpPr>
        <p:spPr>
          <a:xfrm>
            <a:off x="6210300" y="14097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58" name="圆角矩形 357"/>
          <p:cNvSpPr/>
          <p:nvPr/>
        </p:nvSpPr>
        <p:spPr>
          <a:xfrm>
            <a:off x="6477000" y="16192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59" name="图片 3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9875" y="1762125"/>
            <a:ext cx="238125" cy="238125"/>
          </a:xfrm>
          <a:prstGeom prst="rect">
            <a:avLst/>
          </a:prstGeom>
        </p:spPr>
      </p:pic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7143750" y="16383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验证点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61" name="文本框 360" descr="{&quot;isTemplate&quot;:true,&quot;type&quot;:&quot;text&quot;}"/>
          <p:cNvSpPr txBox="1"/>
          <p:nvPr/>
        </p:nvSpPr>
        <p:spPr>
          <a:xfrm>
            <a:off x="7143750" y="19716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POINT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62" name="文本框 361" descr="{&quot;isTemplate&quot;:true,&quot;type&quot;:&quot;text&quot;}"/>
          <p:cNvSpPr txBox="1"/>
          <p:nvPr/>
        </p:nvSpPr>
        <p:spPr>
          <a:xfrm>
            <a:off x="6477000" y="2305050"/>
            <a:ext cx="4762500" cy="822960"/>
          </a:xfrm>
          <a:prstGeom prst="rect">
            <a:avLst/>
          </a:prstGeom>
        </p:spPr>
        <p:txBody>
          <a:bodyPr wrap="squar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2023 年成为风电行业唯一的国家标准验证点，标准进入检测与认证。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63" name="圆角矩形 362"/>
          <p:cNvSpPr/>
          <p:nvPr/>
        </p:nvSpPr>
        <p:spPr>
          <a:xfrm>
            <a:off x="6477000" y="33051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6743700" y="32289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边界：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行业唯一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65" name="圆角矩形 364"/>
          <p:cNvSpPr/>
          <p:nvPr/>
        </p:nvSpPr>
        <p:spPr>
          <a:xfrm>
            <a:off x="685800" y="38100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66" name="圆角矩形 365"/>
          <p:cNvSpPr/>
          <p:nvPr/>
        </p:nvSpPr>
        <p:spPr>
          <a:xfrm>
            <a:off x="952500" y="40195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67" name="图片 36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5375" y="4162425"/>
            <a:ext cx="238125" cy="238125"/>
          </a:xfrm>
          <a:prstGeom prst="rect">
            <a:avLst/>
          </a:prstGeom>
        </p:spPr>
      </p:pic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1619250" y="40386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技术战略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1619250" y="43719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POLICY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952500" y="4705350"/>
            <a:ext cx="4762500" cy="822960"/>
          </a:xfrm>
          <a:prstGeom prst="rect">
            <a:avLst/>
          </a:prstGeom>
        </p:spPr>
        <p:txBody>
          <a:bodyPr wrap="squar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1999 年加入全国风力发电标准化技术委员会，标准项目有储备。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71" name="圆角矩形 370"/>
          <p:cNvSpPr/>
          <p:nvPr/>
        </p:nvSpPr>
        <p:spPr>
          <a:xfrm>
            <a:off x="952500" y="57054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1219200" y="56292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边界：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标委会成员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73" name="圆角矩形 372"/>
          <p:cNvSpPr/>
          <p:nvPr/>
        </p:nvSpPr>
        <p:spPr>
          <a:xfrm>
            <a:off x="6210300" y="38100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74" name="圆角矩形 373"/>
          <p:cNvSpPr/>
          <p:nvPr/>
        </p:nvSpPr>
        <p:spPr>
          <a:xfrm>
            <a:off x="6477000" y="40195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75" name="图片 37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9875" y="4162425"/>
            <a:ext cx="238125" cy="238125"/>
          </a:xfrm>
          <a:prstGeom prst="rect">
            <a:avLst/>
          </a:prstGeom>
        </p:spPr>
      </p:pic>
      <p:sp>
        <p:nvSpPr>
          <p:cNvPr id="376" name="文本框 375" descr="{&quot;isTemplate&quot;:true,&quot;type&quot;:&quot;text&quot;}"/>
          <p:cNvSpPr txBox="1"/>
          <p:nvPr/>
        </p:nvSpPr>
        <p:spPr>
          <a:xfrm>
            <a:off x="7143750" y="40386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版本状态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77" name="文本框 376" descr="{&quot;isTemplate&quot;:true,&quot;type&quot;:&quot;text&quot;}"/>
          <p:cNvSpPr txBox="1"/>
          <p:nvPr/>
        </p:nvSpPr>
        <p:spPr>
          <a:xfrm>
            <a:off x="7143750" y="43719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STATE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78" name="文本框 377" descr="{&quot;isTemplate&quot;:true,&quot;type&quot;:&quot;text&quot;}"/>
          <p:cNvSpPr txBox="1"/>
          <p:nvPr/>
        </p:nvSpPr>
        <p:spPr>
          <a:xfrm>
            <a:off x="6477000" y="4705350"/>
            <a:ext cx="4762500" cy="822960"/>
          </a:xfrm>
          <a:prstGeom prst="rect">
            <a:avLst/>
          </a:prstGeom>
        </p:spPr>
        <p:txBody>
          <a:bodyPr wrap="squar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已发布约占参与数量的八成五。已发布、在研与报批同时存在。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79" name="圆角矩形 378"/>
          <p:cNvSpPr/>
          <p:nvPr/>
        </p:nvSpPr>
        <p:spPr>
          <a:xfrm>
            <a:off x="6477000" y="57054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80" name="文本框 379" descr="{&quot;isTemplate&quot;:true,&quot;type&quot;:&quot;text&quot;}"/>
          <p:cNvSpPr txBox="1"/>
          <p:nvPr/>
        </p:nvSpPr>
        <p:spPr>
          <a:xfrm>
            <a:off x="6743700" y="56292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边界：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状态并存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81" name="任意多边形 380"/>
          <p:cNvSpPr/>
          <p:nvPr/>
        </p:nvSpPr>
        <p:spPr>
          <a:xfrm>
            <a:off x="685800" y="62103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382" name="文本框 381" descr="{&quot;isTemplate&quot;:true,&quot;type&quot;:&quot;text&quot;}"/>
          <p:cNvSpPr txBox="1"/>
          <p:nvPr/>
        </p:nvSpPr>
        <p:spPr>
          <a:xfrm>
            <a:off x="685800" y="64293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11087100" y="64198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04 / 16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84" name="圆角矩形 383"/>
          <p:cNvSpPr/>
          <p:nvPr/>
        </p:nvSpPr>
        <p:spPr>
          <a:xfrm>
            <a:off x="3238500" y="1333500"/>
            <a:ext cx="5334000" cy="3810000"/>
          </a:xfrm>
          <a:prstGeom prst="roundRect">
            <a:avLst>
              <a:gd name="adj" fmla="val 70000"/>
            </a:avLst>
          </a:prstGeom>
          <a:gradFill>
            <a:gsLst>
              <a:gs pos="0">
                <a:srgbClr val="5BC8C8">
                  <a:alpha val="9000"/>
                </a:srgbClr>
              </a:gs>
              <a:gs pos="70000">
                <a:srgbClr val="081322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5" name="" descr="// B · 08 内容页 · 服务流程 — 五步（玻璃卡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380, top: 160, width: 560, height: 380, borderRadius: 280, background: 'radial-gradient(circle, rgba(91,200,200,0.10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服务流程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HOW WE WORK&lt;/Text&gt;&#10;        &lt;Box style={{ flex: 1 }} /&gt;&#10;        &lt;Text style={{ fontSize: 14, color: '#8FA6BC' }}&gt;五步走完一个完整项目周期&lt;/Text&gt;&#10;    &lt;/Box&gt;&#10;&#10;    {/* B · 内容区 */}&#10;    &lt;Box style={{ flex: 1, flexDirection: 'row', alignItems: 'stretch', paddingTop: 30, paddingBottom: 24 }}&gt;&#10;        {[&#10;            { no: '01', t: '业务诊断', d: '访谈与数据盘点，定位销售体系的真实瓶颈。', pts: ['高层访谈', '数据盘点', '瓶颈清单'], cycle: '2 周' },&#10;            { no: '02', t: '蓝图设计', d: '输出智能化蓝图与分阶段落地路线图。', pts: ['目标定义', '里程碑拆解', '资源规划'], cycle: '3 周' },&#10;            { no: '03', t: '知识萃取', d: '沉淀结构化语料库与场景化训练素材。', pts: ['场景梳理', '语料打标', '案例沉淀'], cycle: '3 周' },&#10;            { no: '04', t: '系统落地', d: '智能中台搭建与关键销售流程线上化。', pts: ['流程上线', '数据打通', '角色培训'], cycle: '4 – 8 周' },&#10;            { no: '05', t: '陪跑运营', d: '复盘教练与持续迭代，形成组织能力。', pts: ['商机复盘', '指标跟踪', '迭代机制'], cycle: '持续' }&#10;        ].map((s, idx) =&gt; (&#10;            &lt;Box key={idx} style={{ flex: 1, flexDirection: 'row', alignItems: 'stretch' }}&gt;&#10;                &lt;Box style={{ flex: 1, flexDirection: 'column', background: 'rgba(255,255,255,0.045)', border: '1px solid rgba(143,216,232,0.18)', borderRadius: 14, padding: '24px 20px 22px', boxShadow: '0 10px 34px rgba(0,0,0,0.36)' }}&gt;&#10;                    &lt;Box style={{ width: 44, height: 44, borderRadius: 22, background: 'linear-gradient(135deg, #8FD8E8 0%, #3FA8BF 100%)', justifyContent: 'center', alignItems: 'center', boxShadow: '0 6px 18px rgba(91,200,200,0.32)' }}&gt;&#10;                        &lt;Text style={{ fontSize: 18, fontWeight: 'bold', color: '#081322', fontFamily: '&quot;Inter&quot;,&quot;Helvetica Neue&quot;,Arial,sans-serif' }}&gt;{s.no}&lt;/Text&gt;&#10;                    &lt;/Box&gt;&#10;                    &lt;Text style={{ fontSize: 20, fontWeight: 'bold', color: '#EAF2F8', marginTop: 18, letterSpacing: -0.3 }}&gt;{s.t}&lt;/Text&gt;&#10;                    &lt;Box style={{ width: 26, height: 2, background: 'rgba(143,216,232,0.35)', marginTop: 12 }} /&gt;&#10;                    &lt;Text style={{ fontSize: 15, color: '#9FB4C6', lineHeight: 1.85, marginTop: 12 }}&gt;{s.d}&lt;/Text&gt;&#10;                    &lt;Box style={{ flexDirection: 'column', gap: 12, marginTop: 18 }}&gt;&#10;                        {s.pts.map((p, i) =&gt; (&#10;                            &lt;Box key={i} style={{ flexDirection: 'row', alignItems: 'center', gap: 9 }}&gt;&#10;                                &lt;Box style={{ width: 5, height: 5, borderRadius: 2.5, background: '#5BC8C8' }} /&gt;&#10;                                &lt;Text style={{ fontSize: 14, color: '#B9CBDA' }}&gt;{p}&lt;/Text&gt;&#10;                            &lt;/Box&gt;&#10;                        ))}&#10;                    &lt;/Box&gt;&#10;                    &lt;Box style={{ marginTop: 'auto', flexDirection: 'row', paddingTop: 18 }}&gt;&#10;                        &lt;Box style={{ padding: '5px 12px', borderRadius: 999, background: 'rgba(91,200,200,0.09)', border: '1px solid rgba(143,216,232,0.24)' }}&gt;&#10;                            &lt;Text style={{ fontSize: 12, color: '#8FD8E8' }}&gt;周期 · {s.cycle}&lt;/Text&gt;&#10;                        &lt;/Box&gt;&#10;                    &lt;/Box&gt;&#10;                &lt;/Box&gt;&#10;                {idx &lt; 4 &amp;&amp; (&#10;                    &lt;Box style={{ width: 30, justifyContent: 'center', alignItems: 'center' }}&gt;&#10;                        &lt;FAIcon name='chevron-right' style={{ fill: 'rgba(143,216,232,0.45)', width: 18, height: 18 }} /&gt;&#10;                    &lt;/Box&gt;&#10;                )}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8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矩形 4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447" name="任意多边形 446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448" name="圆角矩形 447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49" name="文本框 448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进入工作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50" name="矩形 449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451" name="文本框 450" descr="{&quot;isTemplate&quot;:true,&quot;type&quot;:&quot;text&quot;}"/>
          <p:cNvSpPr txBox="1"/>
          <p:nvPr/>
        </p:nvSpPr>
        <p:spPr>
          <a:xfrm>
            <a:off x="2381250" y="590550"/>
            <a:ext cx="125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IN USE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452" name="文本框 451" descr="{&quot;isTemplate&quot;:true,&quot;type&quot;:&quot;text&quot;}"/>
          <p:cNvSpPr txBox="1"/>
          <p:nvPr/>
        </p:nvSpPr>
        <p:spPr>
          <a:xfrm>
            <a:off x="9906000" y="581025"/>
            <a:ext cx="1600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三条链路分别进入工作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453" name="圆角矩形 452"/>
          <p:cNvSpPr/>
          <p:nvPr/>
        </p:nvSpPr>
        <p:spPr>
          <a:xfrm>
            <a:off x="685800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54" name="圆角矩形 453"/>
          <p:cNvSpPr/>
          <p:nvPr/>
        </p:nvSpPr>
        <p:spPr>
          <a:xfrm>
            <a:off x="87630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55" name="文本框 454" descr="{&quot;isTemplate&quot;:true,&quot;type&quot;:&quot;text&quot;}"/>
          <p:cNvSpPr txBox="1"/>
          <p:nvPr/>
        </p:nvSpPr>
        <p:spPr>
          <a:xfrm>
            <a:off x="99060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01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56" name="文本框 455" descr="{&quot;isTemplate&quot;:true,&quot;type&quot;:&quot;text&quot;}"/>
          <p:cNvSpPr txBox="1"/>
          <p:nvPr/>
        </p:nvSpPr>
        <p:spPr>
          <a:xfrm>
            <a:off x="876300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设计红线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57" name="矩形 456"/>
          <p:cNvSpPr/>
          <p:nvPr/>
        </p:nvSpPr>
        <p:spPr>
          <a:xfrm>
            <a:off x="87630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58" name="文本框 457" descr="{&quot;isTemplate&quot;:true,&quot;type&quot;:&quot;text&quot;}"/>
          <p:cNvSpPr txBox="1"/>
          <p:nvPr/>
        </p:nvSpPr>
        <p:spPr>
          <a:xfrm>
            <a:off x="876300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设计约束并列工艺评审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59" name="圆角矩形 458"/>
          <p:cNvSpPr/>
          <p:nvPr/>
        </p:nvSpPr>
        <p:spPr>
          <a:xfrm>
            <a:off x="876300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0" name="文本框 459" descr="{&quot;isTemplate&quot;:true,&quot;type&quot;:&quot;text&quot;}"/>
          <p:cNvSpPr txBox="1"/>
          <p:nvPr/>
        </p:nvSpPr>
        <p:spPr>
          <a:xfrm>
            <a:off x="1009650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设计约束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1" name="圆角矩形 460"/>
          <p:cNvSpPr/>
          <p:nvPr/>
        </p:nvSpPr>
        <p:spPr>
          <a:xfrm>
            <a:off x="876300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2" name="文本框 461" descr="{&quot;isTemplate&quot;:true,&quot;type&quot;:&quot;text&quot;}"/>
          <p:cNvSpPr txBox="1"/>
          <p:nvPr/>
        </p:nvSpPr>
        <p:spPr>
          <a:xfrm>
            <a:off x="1009650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工艺并列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3" name="圆角矩形 462"/>
          <p:cNvSpPr/>
          <p:nvPr/>
        </p:nvSpPr>
        <p:spPr>
          <a:xfrm>
            <a:off x="876300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4" name="文本框 463" descr="{&quot;isTemplate&quot;:true,&quot;type&quot;:&quot;text&quot;}"/>
          <p:cNvSpPr txBox="1"/>
          <p:nvPr/>
        </p:nvSpPr>
        <p:spPr>
          <a:xfrm>
            <a:off x="1009650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年报披露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5" name="圆角矩形 464"/>
          <p:cNvSpPr/>
          <p:nvPr/>
        </p:nvSpPr>
        <p:spPr>
          <a:xfrm>
            <a:off x="876300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6" name="文本框 465" descr="{&quot;isTemplate&quot;:true,&quot;type&quot;:&quot;text&quot;}"/>
          <p:cNvSpPr txBox="1"/>
          <p:nvPr/>
        </p:nvSpPr>
        <p:spPr>
          <a:xfrm>
            <a:off x="990600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强约束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67" name="图片 46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9375" y="3562350"/>
            <a:ext cx="171450" cy="171450"/>
          </a:xfrm>
          <a:prstGeom prst="rect">
            <a:avLst/>
          </a:prstGeom>
        </p:spPr>
      </p:pic>
      <p:sp>
        <p:nvSpPr>
          <p:cNvPr id="468" name="圆角矩形 467"/>
          <p:cNvSpPr/>
          <p:nvPr/>
        </p:nvSpPr>
        <p:spPr>
          <a:xfrm>
            <a:off x="2847975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69" name="圆角矩形 468"/>
          <p:cNvSpPr/>
          <p:nvPr/>
        </p:nvSpPr>
        <p:spPr>
          <a:xfrm>
            <a:off x="3038475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3152775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02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71" name="文本框 470" descr="{&quot;isTemplate&quot;:true,&quot;type&quot;:&quot;text&quot;}"/>
          <p:cNvSpPr txBox="1"/>
          <p:nvPr/>
        </p:nvSpPr>
        <p:spPr>
          <a:xfrm>
            <a:off x="3038475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认证取证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72" name="矩形 471"/>
          <p:cNvSpPr/>
          <p:nvPr/>
        </p:nvSpPr>
        <p:spPr>
          <a:xfrm>
            <a:off x="3038475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73" name="文本框 472" descr="{&quot;isTemplate&quot;:true,&quot;type&quot;:&quot;text&quot;}"/>
          <p:cNvSpPr txBox="1"/>
          <p:nvPr/>
        </p:nvSpPr>
        <p:spPr>
          <a:xfrm>
            <a:off x="3038475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大纲、报告与证书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74" name="圆角矩形 473"/>
          <p:cNvSpPr/>
          <p:nvPr/>
        </p:nvSpPr>
        <p:spPr>
          <a:xfrm>
            <a:off x="3038475" y="393319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5" name="文本框 474" descr="{&quot;isTemplate&quot;:true,&quot;type&quot;:&quot;text&quot;}"/>
          <p:cNvSpPr txBox="1"/>
          <p:nvPr/>
        </p:nvSpPr>
        <p:spPr>
          <a:xfrm>
            <a:off x="3171825" y="387604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测试大纲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76" name="圆角矩形 475"/>
          <p:cNvSpPr/>
          <p:nvPr/>
        </p:nvSpPr>
        <p:spPr>
          <a:xfrm>
            <a:off x="3038475" y="420941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7" name="文本框 476" descr="{&quot;isTemplate&quot;:true,&quot;type&quot;:&quot;text&quot;}"/>
          <p:cNvSpPr txBox="1"/>
          <p:nvPr/>
        </p:nvSpPr>
        <p:spPr>
          <a:xfrm>
            <a:off x="3171825" y="4152265"/>
            <a:ext cx="666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检测报告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78" name="圆角矩形 477"/>
          <p:cNvSpPr/>
          <p:nvPr/>
        </p:nvSpPr>
        <p:spPr>
          <a:xfrm>
            <a:off x="3038475" y="448564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9" name="文本框 478" descr="{&quot;isTemplate&quot;:true,&quot;type&quot;:&quot;text&quot;}"/>
          <p:cNvSpPr txBox="1"/>
          <p:nvPr/>
        </p:nvSpPr>
        <p:spPr>
          <a:xfrm>
            <a:off x="3171825" y="442849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型式证书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80" name="圆角矩形 479"/>
          <p:cNvSpPr/>
          <p:nvPr/>
        </p:nvSpPr>
        <p:spPr>
          <a:xfrm>
            <a:off x="3038475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1" name="文本框 480" descr="{&quot;isTemplate&quot;:true,&quot;type&quot;:&quot;text&quot;}"/>
          <p:cNvSpPr txBox="1"/>
          <p:nvPr/>
        </p:nvSpPr>
        <p:spPr>
          <a:xfrm>
            <a:off x="3152775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市场准入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82" name="图片 48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1550" y="3562350"/>
            <a:ext cx="171450" cy="171450"/>
          </a:xfrm>
          <a:prstGeom prst="rect">
            <a:avLst/>
          </a:prstGeom>
        </p:spPr>
      </p:pic>
      <p:sp>
        <p:nvSpPr>
          <p:cNvPr id="483" name="圆角矩形 482"/>
          <p:cNvSpPr/>
          <p:nvPr/>
        </p:nvSpPr>
        <p:spPr>
          <a:xfrm>
            <a:off x="5010150" y="1428750"/>
            <a:ext cx="1885950" cy="4438650"/>
          </a:xfrm>
          <a:prstGeom prst="roundRect">
            <a:avLst>
              <a:gd name="adj" fmla="val 7071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84" name="圆角矩形 483"/>
          <p:cNvSpPr/>
          <p:nvPr/>
        </p:nvSpPr>
        <p:spPr>
          <a:xfrm>
            <a:off x="520065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85" name="文本框 484" descr="{&quot;isTemplate&quot;:true,&quot;type&quot;:&quot;text&quot;}"/>
          <p:cNvSpPr txBox="1"/>
          <p:nvPr/>
        </p:nvSpPr>
        <p:spPr>
          <a:xfrm>
            <a:off x="531495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03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86" name="文本框 485" descr="{&quot;isTemplate&quot;:true,&quot;type&quot;:&quot;text&quot;}"/>
          <p:cNvSpPr txBox="1"/>
          <p:nvPr/>
        </p:nvSpPr>
        <p:spPr>
          <a:xfrm>
            <a:off x="5200650" y="2247900"/>
            <a:ext cx="15049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供应契约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87" name="矩形 486"/>
          <p:cNvSpPr/>
          <p:nvPr/>
        </p:nvSpPr>
        <p:spPr>
          <a:xfrm>
            <a:off x="520065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88" name="文本框 487" descr="{&quot;isTemplate&quot;:true,&quot;type&quot;:&quot;text&quot;}"/>
          <p:cNvSpPr txBox="1"/>
          <p:nvPr/>
        </p:nvSpPr>
        <p:spPr>
          <a:xfrm>
            <a:off x="5200650" y="2724150"/>
            <a:ext cx="150495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写入合同与评价规范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89" name="圆角矩形 488"/>
          <p:cNvSpPr/>
          <p:nvPr/>
        </p:nvSpPr>
        <p:spPr>
          <a:xfrm>
            <a:off x="5200650" y="389128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0" name="文本框 489" descr="{&quot;isTemplate&quot;:true,&quot;type&quot;:&quot;text&quot;}"/>
          <p:cNvSpPr txBox="1"/>
          <p:nvPr/>
        </p:nvSpPr>
        <p:spPr>
          <a:xfrm>
            <a:off x="5334000" y="383413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品类绑定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1" name="圆角矩形 490"/>
          <p:cNvSpPr/>
          <p:nvPr/>
        </p:nvSpPr>
        <p:spPr>
          <a:xfrm>
            <a:off x="5200650" y="416750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2" name="文本框 491" descr="{&quot;isTemplate&quot;:true,&quot;type&quot;:&quot;text&quot;}"/>
          <p:cNvSpPr txBox="1"/>
          <p:nvPr/>
        </p:nvSpPr>
        <p:spPr>
          <a:xfrm>
            <a:off x="5334000" y="411035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合同准则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3" name="圆角矩形 492"/>
          <p:cNvSpPr/>
          <p:nvPr/>
        </p:nvSpPr>
        <p:spPr>
          <a:xfrm>
            <a:off x="5200650" y="444373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4" name="文本框 493" descr="{&quot;isTemplate&quot;:true,&quot;type&quot;:&quot;text&quot;}"/>
          <p:cNvSpPr txBox="1"/>
          <p:nvPr/>
        </p:nvSpPr>
        <p:spPr>
          <a:xfrm>
            <a:off x="5334000" y="438658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评价规范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5" name="圆角矩形 494"/>
          <p:cNvSpPr/>
          <p:nvPr/>
        </p:nvSpPr>
        <p:spPr>
          <a:xfrm>
            <a:off x="5200650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6" name="文本框 495" descr="{&quot;isTemplate&quot;:true,&quot;type&quot;:&quot;text&quot;}"/>
          <p:cNvSpPr txBox="1"/>
          <p:nvPr/>
        </p:nvSpPr>
        <p:spPr>
          <a:xfrm>
            <a:off x="5314950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审核评分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97" name="图片 49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53250" y="3562350"/>
            <a:ext cx="171450" cy="171450"/>
          </a:xfrm>
          <a:prstGeom prst="rect">
            <a:avLst/>
          </a:prstGeom>
        </p:spPr>
      </p:pic>
      <p:sp>
        <p:nvSpPr>
          <p:cNvPr id="498" name="圆角矩形 497"/>
          <p:cNvSpPr/>
          <p:nvPr/>
        </p:nvSpPr>
        <p:spPr>
          <a:xfrm>
            <a:off x="7181850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99" name="圆角矩形 498"/>
          <p:cNvSpPr/>
          <p:nvPr/>
        </p:nvSpPr>
        <p:spPr>
          <a:xfrm>
            <a:off x="737235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500" name="文本框 499" descr="{&quot;isTemplate&quot;:true,&quot;type&quot;:&quot;text&quot;}"/>
          <p:cNvSpPr txBox="1"/>
          <p:nvPr/>
        </p:nvSpPr>
        <p:spPr>
          <a:xfrm>
            <a:off x="748665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04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501" name="文本框 500" descr="{&quot;isTemplate&quot;:true,&quot;type&quot;:&quot;text&quot;}"/>
          <p:cNvSpPr txBox="1"/>
          <p:nvPr/>
        </p:nvSpPr>
        <p:spPr>
          <a:xfrm>
            <a:off x="7372350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作业载体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02" name="矩形 501"/>
          <p:cNvSpPr/>
          <p:nvPr/>
        </p:nvSpPr>
        <p:spPr>
          <a:xfrm>
            <a:off x="737235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03" name="文本框 502" descr="{&quot;isTemplate&quot;:true,&quot;type&quot;:&quot;text&quot;}"/>
          <p:cNvSpPr txBox="1"/>
          <p:nvPr/>
        </p:nvSpPr>
        <p:spPr>
          <a:xfrm>
            <a:off x="7372350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手册、巡检与课程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04" name="圆角矩形 503"/>
          <p:cNvSpPr/>
          <p:nvPr/>
        </p:nvSpPr>
        <p:spPr>
          <a:xfrm>
            <a:off x="7372350" y="386334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5" name="文本框 504" descr="{&quot;isTemplate&quot;:true,&quot;type&quot;:&quot;text&quot;}"/>
          <p:cNvSpPr txBox="1"/>
          <p:nvPr/>
        </p:nvSpPr>
        <p:spPr>
          <a:xfrm>
            <a:off x="7505700" y="380619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技术手册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06" name="圆角矩形 505"/>
          <p:cNvSpPr/>
          <p:nvPr/>
        </p:nvSpPr>
        <p:spPr>
          <a:xfrm>
            <a:off x="7372350" y="413956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7" name="文本框 506" descr="{&quot;isTemplate&quot;:true,&quot;type&quot;:&quot;text&quot;}"/>
          <p:cNvSpPr txBox="1"/>
          <p:nvPr/>
        </p:nvSpPr>
        <p:spPr>
          <a:xfrm>
            <a:off x="7505700" y="408241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巡检项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08" name="圆角矩形 507"/>
          <p:cNvSpPr/>
          <p:nvPr/>
        </p:nvSpPr>
        <p:spPr>
          <a:xfrm>
            <a:off x="7372350" y="441579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9" name="文本框 508" descr="{&quot;isTemplate&quot;:true,&quot;type&quot;:&quot;text&quot;}"/>
          <p:cNvSpPr txBox="1"/>
          <p:nvPr/>
        </p:nvSpPr>
        <p:spPr>
          <a:xfrm>
            <a:off x="7505700" y="435864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维修工单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10" name="圆角矩形 509"/>
          <p:cNvSpPr/>
          <p:nvPr/>
        </p:nvSpPr>
        <p:spPr>
          <a:xfrm>
            <a:off x="7372350" y="5419725"/>
            <a:ext cx="1057275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1" name="文本框 510" descr="{&quot;isTemplate&quot;:true,&quot;type&quot;:&quot;text&quot;}"/>
          <p:cNvSpPr txBox="1"/>
          <p:nvPr/>
        </p:nvSpPr>
        <p:spPr>
          <a:xfrm>
            <a:off x="7486650" y="5467350"/>
            <a:ext cx="8286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培训课程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512" name="图片 51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15425" y="3562350"/>
            <a:ext cx="171450" cy="171450"/>
          </a:xfrm>
          <a:prstGeom prst="rect">
            <a:avLst/>
          </a:prstGeom>
        </p:spPr>
      </p:pic>
      <p:sp>
        <p:nvSpPr>
          <p:cNvPr id="513" name="圆角矩形 512"/>
          <p:cNvSpPr/>
          <p:nvPr/>
        </p:nvSpPr>
        <p:spPr>
          <a:xfrm>
            <a:off x="9344025" y="1428750"/>
            <a:ext cx="2162175" cy="4438650"/>
          </a:xfrm>
          <a:prstGeom prst="roundRect">
            <a:avLst>
              <a:gd name="adj" fmla="val 616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14" name="圆角矩形 513"/>
          <p:cNvSpPr/>
          <p:nvPr/>
        </p:nvSpPr>
        <p:spPr>
          <a:xfrm>
            <a:off x="9534525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515" name="文本框 514" descr="{&quot;isTemplate&quot;:true,&quot;type&quot;:&quot;text&quot;}"/>
          <p:cNvSpPr txBox="1"/>
          <p:nvPr/>
        </p:nvSpPr>
        <p:spPr>
          <a:xfrm>
            <a:off x="9648825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05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516" name="文本框 515" descr="{&quot;isTemplate&quot;:true,&quot;type&quot;:&quot;text&quot;}"/>
          <p:cNvSpPr txBox="1"/>
          <p:nvPr/>
        </p:nvSpPr>
        <p:spPr>
          <a:xfrm>
            <a:off x="9534525" y="2247900"/>
            <a:ext cx="17811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链路强弱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17" name="矩形 516"/>
          <p:cNvSpPr/>
          <p:nvPr/>
        </p:nvSpPr>
        <p:spPr>
          <a:xfrm>
            <a:off x="9534525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18" name="文本框 517" descr="{&quot;isTemplate&quot;:true,&quot;type&quot;:&quot;text&quot;}"/>
          <p:cNvSpPr txBox="1"/>
          <p:nvPr/>
        </p:nvSpPr>
        <p:spPr>
          <a:xfrm>
            <a:off x="9534525" y="2724150"/>
            <a:ext cx="178117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作业链是否同步待核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19" name="圆角矩形 518"/>
          <p:cNvSpPr/>
          <p:nvPr/>
        </p:nvSpPr>
        <p:spPr>
          <a:xfrm>
            <a:off x="9534525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0" name="文本框 519" descr="{&quot;isTemplate&quot;:true,&quot;type&quot;:&quot;text&quot;}"/>
          <p:cNvSpPr txBox="1"/>
          <p:nvPr/>
        </p:nvSpPr>
        <p:spPr>
          <a:xfrm>
            <a:off x="9667875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合规链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1" name="圆角矩形 520"/>
          <p:cNvSpPr/>
          <p:nvPr/>
        </p:nvSpPr>
        <p:spPr>
          <a:xfrm>
            <a:off x="9534525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2" name="文本框 521" descr="{&quot;isTemplate&quot;:true,&quot;type&quot;:&quot;text&quot;}"/>
          <p:cNvSpPr txBox="1"/>
          <p:nvPr/>
        </p:nvSpPr>
        <p:spPr>
          <a:xfrm>
            <a:off x="9667875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契约链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3" name="圆角矩形 522"/>
          <p:cNvSpPr/>
          <p:nvPr/>
        </p:nvSpPr>
        <p:spPr>
          <a:xfrm>
            <a:off x="9534525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4" name="文本框 523" descr="{&quot;isTemplate&quot;:true,&quot;type&quot;:&quot;text&quot;}"/>
          <p:cNvSpPr txBox="1"/>
          <p:nvPr/>
        </p:nvSpPr>
        <p:spPr>
          <a:xfrm>
            <a:off x="9667875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作业链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5" name="圆角矩形 524"/>
          <p:cNvSpPr/>
          <p:nvPr/>
        </p:nvSpPr>
        <p:spPr>
          <a:xfrm>
            <a:off x="9534525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6" name="文本框 525" descr="{&quot;isTemplate&quot;:true,&quot;type&quot;:&quot;text&quot;}"/>
          <p:cNvSpPr txBox="1"/>
          <p:nvPr/>
        </p:nvSpPr>
        <p:spPr>
          <a:xfrm>
            <a:off x="9648825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作业待核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27" name="任意多边形 526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528" name="文本框 527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529" name="文本框 528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05 / 16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1" name="" descr="// B · 05 内容页 · 核心理念 — 四宫格（玻璃卡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340, top: 140, width: 560, height: 400, borderRadius: 280, background: 'radial-gradient(circle, rgba(91,200,200,0.09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核心理念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CORE VALUES&lt;/Text&gt;&#10;        &lt;Box style={{ flex: 1 }} /&gt;&#10;        &lt;Text style={{ fontSize: 14, color: '#8FA6BC' }}&gt;四条原则，决定我们怎么做项目&lt;/Text&gt;&#10;    &lt;/Box&gt;&#10;&#10;    {/* B · 内容区 */}&#10;    &lt;Box style={{ flex: 1, flexDirection: 'row', flexWrap: 'wrap', gap: 24, paddingTop: 28, paddingBottom: 24 }}&gt;&#10;        {[&#10;            { icon: 'users', title: '以客户为中心', en: 'CLIENT FIRST', desc: '从客户的目标与约束出发设计方案，不以方法论套用代替业务判断。', act: '先问目标，再谈方案' },&#10;            { icon: 'chart-line', title: '以结果为导向', en: 'RESULT DRIVEN', desc: '每个阶段都定义可衡量的指标，用数据说明价值，而不是用篇幅说明努力。', act: '每阶段定义验收指标' },&#10;            { icon: 'file-text', title: '以方法为沉淀', en: 'METHOD BASED', desc: '把经验结构化为流程、模板与语料，让能力留存在组织而不是个人身上。', act: '项目结束即产出模板' },&#10;            { icon: 'clock', title: '以长期为承诺', en: 'LONG TERM', desc: '不交付一份报告就结束，陪跑到动作改变、指标改善并能够自我循环。', act: '季度复盘与持续迭代' }&#10;        ].map((c, idx) =&gt; (&#10;            &lt;Box key={idx} style={{ width: 556, height: 228, flexDirection: 'column', background: 'rgba(255,255,255,0.045)', border: '1px solid rgba(143,216,232,0.18)', borderRadius: 16, padding: '22px 28px 20px', boxShadow: '0 10px 34px rgba(0,0,0,0.36)' }}&gt;&#10;                &lt;Box style={{ flexDirection: 'row', alignItems: 'center', gap: 16 }}&gt;&#10;                    &lt;Box style={{ width: 54, height: 54, borderRadius: 16, background: 'linear-gradient(135deg, #8FD8E8 0%, #3FA8BF 100%)', justifyContent: 'center', alignItems: 'center', boxShadow: '0 6px 18px rgba(91,200,200,0.32)' }}&gt;&#10;                        &lt;FAIcon name={c.icon} style={{ fill: '#081322', width: 25, height: 25 }} /&gt;&#10;                    &lt;/Box&gt;&#10;                    &lt;Box style={{ flexDirection: 'column', gap: 6 }}&gt;&#10;                        &lt;Text style={{ fontSize: 24, fontWeight: 'bold', color: '#EAF2F8', letterSpacing: -0.3 }}&gt;{c.title}&lt;/Text&gt;&#10;                        &lt;Text style={{ fontSize: 12, color: '#5E7590', letterSpacing: 2.5, fontFamily: '&quot;Inter&quot;,&quot;Helvetica Neue&quot;,Arial,sans-serif' }}&gt;{c.en}&lt;/Text&gt;&#10;                    &lt;/Box&gt;&#10;                &lt;/Box&gt;&#10;                &lt;Text style={{ fontSize: 16, color: '#9FB4C6', lineHeight: 1.85, marginTop: 18 }}&gt;&#10;                    {c.desc}&#10;                &lt;/Text&gt;&#10;                &lt;Box style={{ marginTop: 'auto', flexDirection: 'row', alignItems: 'center', gap: 10, paddingTop: 12 }}&gt;&#10;                    &lt;Box style={{ width: 18, height: 2, background: 'linear-gradient(135deg, #8FD8E8 0%, #3FA8BF 100%)', borderRadius: 1 }} /&gt;&#10;                    &lt;Text style={{ fontSize: 14, color: '#8FD8E8' }}&gt;行动准则：{c.act}&lt;/Text&gt;&#10;                &lt;/Box&gt;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5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矩形 3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343" name="任意多边形 342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344" name="圆角矩形 343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行业对照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46" name="矩形 345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2381250" y="590550"/>
            <a:ext cx="11715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PEERS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348" name="文本框 347" descr="{&quot;isTemplate&quot;:true,&quot;type&quot;:&quot;text&quot;}"/>
          <p:cNvSpPr txBox="1"/>
          <p:nvPr/>
        </p:nvSpPr>
        <p:spPr>
          <a:xfrm>
            <a:off x="9639300" y="58102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对照方法，不引用自报效率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349" name="圆角矩形 348"/>
          <p:cNvSpPr/>
          <p:nvPr/>
        </p:nvSpPr>
        <p:spPr>
          <a:xfrm>
            <a:off x="685800" y="14097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50" name="圆角矩形 349"/>
          <p:cNvSpPr/>
          <p:nvPr/>
        </p:nvSpPr>
        <p:spPr>
          <a:xfrm>
            <a:off x="952500" y="16192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51" name="图片 35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375" y="1762125"/>
            <a:ext cx="238125" cy="238125"/>
          </a:xfrm>
          <a:prstGeom prst="rect">
            <a:avLst/>
          </a:prstGeom>
        </p:spPr>
      </p:pic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1619250" y="16383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工程助手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1619250" y="19716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DESIGN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54" name="文本框 353" descr="{&quot;isTemplate&quot;:true,&quot;type&quot;:&quot;text&quot;}"/>
          <p:cNvSpPr txBox="1"/>
          <p:nvPr/>
        </p:nvSpPr>
        <p:spPr>
          <a:xfrm>
            <a:off x="952500" y="2305050"/>
            <a:ext cx="4762500" cy="822960"/>
          </a:xfrm>
          <a:prstGeom prst="rect">
            <a:avLst/>
          </a:prstGeom>
        </p:spPr>
        <p:txBody>
          <a:bodyPr wrap="squar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装备企业把手册和指南接进工程助手，辅助设计与现场排障。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55" name="圆角矩形 354"/>
          <p:cNvSpPr/>
          <p:nvPr/>
        </p:nvSpPr>
        <p:spPr>
          <a:xfrm>
            <a:off x="952500" y="33051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1219200" y="32289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边界：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文档进助手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57" name="圆角矩形 356"/>
          <p:cNvSpPr/>
          <p:nvPr/>
        </p:nvSpPr>
        <p:spPr>
          <a:xfrm>
            <a:off x="6210300" y="14097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58" name="圆角矩形 357"/>
          <p:cNvSpPr/>
          <p:nvPr/>
        </p:nvSpPr>
        <p:spPr>
          <a:xfrm>
            <a:off x="6477000" y="16192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59" name="图片 3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9875" y="1762125"/>
            <a:ext cx="238125" cy="238125"/>
          </a:xfrm>
          <a:prstGeom prst="rect">
            <a:avLst/>
          </a:prstGeom>
        </p:spPr>
      </p:pic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7143750" y="16383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运维助手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61" name="文本框 360" descr="{&quot;isTemplate&quot;:true,&quot;type&quot;:&quot;text&quot;}"/>
          <p:cNvSpPr txBox="1"/>
          <p:nvPr/>
        </p:nvSpPr>
        <p:spPr>
          <a:xfrm>
            <a:off x="7143750" y="19716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FIELD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62" name="文本框 361" descr="{&quot;isTemplate&quot;:true,&quot;type&quot;:&quot;text&quot;}"/>
          <p:cNvSpPr txBox="1"/>
          <p:nvPr/>
        </p:nvSpPr>
        <p:spPr>
          <a:xfrm>
            <a:off x="6477000" y="2305050"/>
            <a:ext cx="4762500" cy="822960"/>
          </a:xfrm>
          <a:prstGeom prst="rect">
            <a:avLst/>
          </a:prstGeom>
        </p:spPr>
        <p:txBody>
          <a:bodyPr wrap="squar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能源企业用运行数据与专业知识辅助诊断。金风已公开风机诊断。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63" name="圆角矩形 362"/>
          <p:cNvSpPr/>
          <p:nvPr/>
        </p:nvSpPr>
        <p:spPr>
          <a:xfrm>
            <a:off x="6477000" y="33051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6743700" y="32289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边界：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已有诊断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65" name="圆角矩形 364"/>
          <p:cNvSpPr/>
          <p:nvPr/>
        </p:nvSpPr>
        <p:spPr>
          <a:xfrm>
            <a:off x="685800" y="38100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66" name="圆角矩形 365"/>
          <p:cNvSpPr/>
          <p:nvPr/>
        </p:nvSpPr>
        <p:spPr>
          <a:xfrm>
            <a:off x="952500" y="40195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67" name="图片 36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5375" y="4162425"/>
            <a:ext cx="238125" cy="238125"/>
          </a:xfrm>
          <a:prstGeom prst="rect">
            <a:avLst/>
          </a:prstGeom>
        </p:spPr>
      </p:pic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1619250" y="40386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质量流程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1619250" y="43719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AUDIT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952500" y="4705350"/>
            <a:ext cx="4762500" cy="822960"/>
          </a:xfrm>
          <a:prstGeom prst="rect">
            <a:avLst/>
          </a:prstGeom>
        </p:spPr>
        <p:txBody>
          <a:bodyPr wrap="squar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受监管流程整理证据与记录。放行仍由质量责任人签署。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71" name="圆角矩形 370"/>
          <p:cNvSpPr/>
          <p:nvPr/>
        </p:nvSpPr>
        <p:spPr>
          <a:xfrm>
            <a:off x="952500" y="57054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1219200" y="56292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边界：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签署在人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73" name="圆角矩形 372"/>
          <p:cNvSpPr/>
          <p:nvPr/>
        </p:nvSpPr>
        <p:spPr>
          <a:xfrm>
            <a:off x="6210300" y="38100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74" name="圆角矩形 373"/>
          <p:cNvSpPr/>
          <p:nvPr/>
        </p:nvSpPr>
        <p:spPr>
          <a:xfrm>
            <a:off x="6477000" y="40195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75" name="图片 37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9875" y="4162425"/>
            <a:ext cx="238125" cy="238125"/>
          </a:xfrm>
          <a:prstGeom prst="rect">
            <a:avLst/>
          </a:prstGeom>
        </p:spPr>
      </p:pic>
      <p:sp>
        <p:nvSpPr>
          <p:cNvPr id="376" name="文本框 375" descr="{&quot;isTemplate&quot;:true,&quot;type&quot;:&quot;text&quot;}"/>
          <p:cNvSpPr txBox="1"/>
          <p:nvPr/>
        </p:nvSpPr>
        <p:spPr>
          <a:xfrm>
            <a:off x="7143750" y="40386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产品边界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77" name="文本框 376" descr="{&quot;isTemplate&quot;:true,&quot;type&quot;:&quot;text&quot;}"/>
          <p:cNvSpPr txBox="1"/>
          <p:nvPr/>
        </p:nvSpPr>
        <p:spPr>
          <a:xfrm>
            <a:off x="7143750" y="43719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LIMIT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78" name="文本框 377" descr="{&quot;isTemplate&quot;:true,&quot;type&quot;:&quot;text&quot;}"/>
          <p:cNvSpPr txBox="1"/>
          <p:nvPr/>
        </p:nvSpPr>
        <p:spPr>
          <a:xfrm>
            <a:off x="6477000" y="4705350"/>
            <a:ext cx="4762500" cy="822960"/>
          </a:xfrm>
          <a:prstGeom prst="rect">
            <a:avLst/>
          </a:prstGeom>
        </p:spPr>
        <p:txBody>
          <a:bodyPr wrap="squar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检索与草稿可以产品化。符合性结论、签字和安全许可由人完成。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79" name="圆角矩形 378"/>
          <p:cNvSpPr/>
          <p:nvPr/>
        </p:nvSpPr>
        <p:spPr>
          <a:xfrm>
            <a:off x="6477000" y="57054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80" name="文本框 379" descr="{&quot;isTemplate&quot;:true,&quot;type&quot;:&quot;text&quot;}"/>
          <p:cNvSpPr txBox="1"/>
          <p:nvPr/>
        </p:nvSpPr>
        <p:spPr>
          <a:xfrm>
            <a:off x="6743700" y="56292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边界：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结论由人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81" name="任意多边形 380"/>
          <p:cNvSpPr/>
          <p:nvPr/>
        </p:nvSpPr>
        <p:spPr>
          <a:xfrm>
            <a:off x="685800" y="62103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382" name="文本框 381" descr="{&quot;isTemplate&quot;:true,&quot;type&quot;:&quot;text&quot;}"/>
          <p:cNvSpPr txBox="1"/>
          <p:nvPr/>
        </p:nvSpPr>
        <p:spPr>
          <a:xfrm>
            <a:off x="685800" y="64293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11087100" y="64198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06 / 16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84" name="圆角矩形 383"/>
          <p:cNvSpPr/>
          <p:nvPr/>
        </p:nvSpPr>
        <p:spPr>
          <a:xfrm>
            <a:off x="3238500" y="1333500"/>
            <a:ext cx="5334000" cy="3810000"/>
          </a:xfrm>
          <a:prstGeom prst="roundRect">
            <a:avLst>
              <a:gd name="adj" fmla="val 70000"/>
            </a:avLst>
          </a:prstGeom>
          <a:gradFill>
            <a:gsLst>
              <a:gs pos="0">
                <a:srgbClr val="5BC8C8">
                  <a:alpha val="9000"/>
                </a:srgbClr>
              </a:gs>
              <a:gs pos="70000">
                <a:srgbClr val="081322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6" name="" descr="// B · 03 章节过渡 — 巨型编号 + 底部辉光&#10;&lt;Slide style={{ width: 1280, height: 720, background: '#081322', position: 'relative', overflow: 'hidden', fontFamily: '&quot;PingFang SC&quot;,&quot;Source Han Sans SC&quot;,&quot;Microsoft YaHei&quot;,sans-serif' }}&gt;&#10;&#10;    {/* 装饰：底部辉光 */}&#10;    &lt;Box style={{ position: 'absolute', left: 160, bottom: -300, width: 960, height: 560, borderRadius: 480, background: 'radial-gradient(circle, rgba(91,200,200,0.24) 0%, rgba(8,19,34,0) 70%)' }} /&gt;&#10;    {/* 装饰：同心细环 */}&#10;    &lt;Box style={{ position: 'absolute', right: -200, top: -140, width: 640, height: 640, borderRadius: 320, background: 'radial-gradient(circle, rgba(143,216,232,0) 60%, rgba(143,216,232,0.16) 62%, rgba(143,216,232,0.16) 63%, rgba(143,216,232,0) 65%)' }} /&gt;&#10;    &lt;Box style={{ position: 'absolute', right: -80, top: -20, width: 440, height: 440, borderRadius: 220, background: 'radial-gradient(circle, rgba(199,169,107,0) 60%, rgba(199,169,107,0.18) 62%, rgba(199,169,107,0.18) 63%, rgba(199,169,107,0) 65%)' }} /&gt;&#10;&#10;    {/* 顶部品牌 */}&#10;    &lt;Box style={{ position: 'absolute', left: 72, top: 54, flexDirection: 'row', alignItems: 'center', gap: 14 }}&gt;&#10;        &lt;Image src=&quot;assets/badge.png&quot; style={{ width: 36, height: 40 }} /&gt;&#10;        &lt;Box style={{ flexDirection: 'column', gap: 2 }}&gt;&#10;            &lt;Image src=&quot;assets/logo_zh_light.png&quot; style={{ width: 158, height: 36 }} /&gt;&#10;            &lt;Image src=&quot;assets/logo_en_light.png&quot; style={{ width: 158, height: 16 }} /&gt;&#10;        &lt;/Box&gt;&#10;    &lt;/Box&gt;&#10;&#10;    {/* 巨型编号 */}&#10;    &lt;Text style={{ position: 'absolute', right: 60, top: 336, fontSize: 220, fontWeight: 'bold', color: 'rgba(143,216,232,0.22)', lineHeight: 1, letterSpacing: -12, fontFamily: '&quot;Inter&quot;,&quot;Helvetica Neue&quot;,Arial,sans-serif' }}&gt;&#10;        01&#10;    &lt;/Text&gt;&#10;&#10;    {/* 章节信息 */}&#10;    &lt;Box style={{ position: 'absolute', left: 72, top: 272, flexDirection: 'column' }}&gt;&#10;        &lt;Text style={{ fontSize: 14, fontWeight: 'bold', color: '#C7A96B', letterSpacing: 5, fontFamily: '&quot;Inter&quot;,&quot;Helvetica Neue&quot;,Arial,sans-serif' }}&gt;&#10;            PART 01&#10;        &lt;/Text&gt;&#10;        &lt;Text style={{ fontSize: 64, fontWeight: 'bold', color: '#EAF2F8', lineHeight: 1.15, letterSpacing: -1, marginTop: 18 }}&gt;&#10;            公司简介&#10;        &lt;/Text&gt;&#10;        &lt;Box style={{ width: 64, height: 4, background: 'linear-gradient(135deg, #8FD8E8 0%, #3FA8BF 100%)', borderRadius: 2, marginTop: 24 }} /&gt;&#10;        &lt;Text style={{ fontSize: 20, color: '#8FA6BC', lineHeight: 1.6, marginTop: 22 }}&gt;&#10;            从定位到使命，认识一家把销售管理做深的咨询公司&#10;        &lt;/Text&gt;&#10;    &lt;/Box&gt;&#10;&#10;    {/* 底部锚点 */}&#10;    &lt;Box style={{ position: 'absolute', left: 72, bottom: 56, flexDirection: 'row', alignItems: 'center', gap: 14 }}&gt;&#10;        &lt;Box style={{ width: 28, height: 1, background: 'rgba(199,169,107,0.7)' }} /&gt;&#10;        &lt;Text style={{ fontSize: 13, color: '#6E86A0', letterSpacing: 3, fontFamily: '&quot;Inter&quot;,&quot;Helvetica Neue&quot;,Arial,sans-serif' }}&gt;&#10;            DISHENG CONSULTING · 2026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矩形 28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288" name="任意多边形 287"/>
          <p:cNvSpPr/>
          <p:nvPr/>
        </p:nvSpPr>
        <p:spPr>
          <a:xfrm>
            <a:off x="1524000" y="4381500"/>
            <a:ext cx="9144000" cy="5334000"/>
          </a:xfrm>
          <a:custGeom>
            <a:avLst/>
            <a:gdLst/>
            <a:ahLst/>
            <a:cxnLst/>
            <a:pathLst>
              <a:path w="960" h="560">
                <a:moveTo>
                  <a:pt x="687" y="0"/>
                </a:moveTo>
                <a:lnTo>
                  <a:pt x="694" y="0"/>
                </a:lnTo>
                <a:lnTo>
                  <a:pt x="702" y="1"/>
                </a:lnTo>
                <a:lnTo>
                  <a:pt x="709" y="1"/>
                </a:lnTo>
                <a:lnTo>
                  <a:pt x="716" y="2"/>
                </a:lnTo>
                <a:lnTo>
                  <a:pt x="723" y="3"/>
                </a:lnTo>
                <a:lnTo>
                  <a:pt x="730" y="4"/>
                </a:lnTo>
                <a:lnTo>
                  <a:pt x="736" y="6"/>
                </a:lnTo>
                <a:lnTo>
                  <a:pt x="743" y="7"/>
                </a:lnTo>
                <a:lnTo>
                  <a:pt x="750" y="9"/>
                </a:lnTo>
                <a:lnTo>
                  <a:pt x="757" y="11"/>
                </a:lnTo>
                <a:lnTo>
                  <a:pt x="763" y="13"/>
                </a:lnTo>
                <a:lnTo>
                  <a:pt x="770" y="15"/>
                </a:lnTo>
                <a:lnTo>
                  <a:pt x="776" y="17"/>
                </a:lnTo>
                <a:lnTo>
                  <a:pt x="783" y="19"/>
                </a:lnTo>
                <a:lnTo>
                  <a:pt x="789" y="22"/>
                </a:lnTo>
                <a:lnTo>
                  <a:pt x="795" y="25"/>
                </a:lnTo>
                <a:lnTo>
                  <a:pt x="801" y="28"/>
                </a:lnTo>
                <a:lnTo>
                  <a:pt x="807" y="31"/>
                </a:lnTo>
                <a:lnTo>
                  <a:pt x="813" y="34"/>
                </a:lnTo>
                <a:lnTo>
                  <a:pt x="819" y="37"/>
                </a:lnTo>
                <a:lnTo>
                  <a:pt x="825" y="41"/>
                </a:lnTo>
                <a:lnTo>
                  <a:pt x="831" y="44"/>
                </a:lnTo>
                <a:lnTo>
                  <a:pt x="837" y="48"/>
                </a:lnTo>
                <a:lnTo>
                  <a:pt x="842" y="52"/>
                </a:lnTo>
                <a:lnTo>
                  <a:pt x="847" y="56"/>
                </a:lnTo>
                <a:lnTo>
                  <a:pt x="853" y="60"/>
                </a:lnTo>
                <a:lnTo>
                  <a:pt x="858" y="64"/>
                </a:lnTo>
                <a:lnTo>
                  <a:pt x="863" y="68"/>
                </a:lnTo>
                <a:lnTo>
                  <a:pt x="868" y="73"/>
                </a:lnTo>
                <a:lnTo>
                  <a:pt x="873" y="77"/>
                </a:lnTo>
                <a:lnTo>
                  <a:pt x="878" y="82"/>
                </a:lnTo>
                <a:lnTo>
                  <a:pt x="883" y="87"/>
                </a:lnTo>
                <a:lnTo>
                  <a:pt x="887" y="92"/>
                </a:lnTo>
                <a:lnTo>
                  <a:pt x="892" y="97"/>
                </a:lnTo>
                <a:lnTo>
                  <a:pt x="896" y="102"/>
                </a:lnTo>
                <a:lnTo>
                  <a:pt x="900" y="107"/>
                </a:lnTo>
                <a:lnTo>
                  <a:pt x="904" y="113"/>
                </a:lnTo>
                <a:lnTo>
                  <a:pt x="908" y="118"/>
                </a:lnTo>
                <a:lnTo>
                  <a:pt x="912" y="123"/>
                </a:lnTo>
                <a:lnTo>
                  <a:pt x="916" y="129"/>
                </a:lnTo>
                <a:lnTo>
                  <a:pt x="919" y="135"/>
                </a:lnTo>
                <a:lnTo>
                  <a:pt x="923" y="141"/>
                </a:lnTo>
                <a:lnTo>
                  <a:pt x="926" y="147"/>
                </a:lnTo>
                <a:lnTo>
                  <a:pt x="929" y="153"/>
                </a:lnTo>
                <a:lnTo>
                  <a:pt x="932" y="159"/>
                </a:lnTo>
                <a:lnTo>
                  <a:pt x="935" y="165"/>
                </a:lnTo>
                <a:lnTo>
                  <a:pt x="938" y="171"/>
                </a:lnTo>
                <a:lnTo>
                  <a:pt x="941" y="177"/>
                </a:lnTo>
                <a:lnTo>
                  <a:pt x="943" y="184"/>
                </a:lnTo>
                <a:lnTo>
                  <a:pt x="945" y="190"/>
                </a:lnTo>
                <a:lnTo>
                  <a:pt x="947" y="197"/>
                </a:lnTo>
                <a:lnTo>
                  <a:pt x="949" y="203"/>
                </a:lnTo>
                <a:lnTo>
                  <a:pt x="951" y="210"/>
                </a:lnTo>
                <a:lnTo>
                  <a:pt x="953" y="217"/>
                </a:lnTo>
                <a:lnTo>
                  <a:pt x="954" y="224"/>
                </a:lnTo>
                <a:lnTo>
                  <a:pt x="956" y="230"/>
                </a:lnTo>
                <a:lnTo>
                  <a:pt x="957" y="237"/>
                </a:lnTo>
                <a:lnTo>
                  <a:pt x="958" y="244"/>
                </a:lnTo>
                <a:lnTo>
                  <a:pt x="959" y="251"/>
                </a:lnTo>
                <a:lnTo>
                  <a:pt x="959" y="258"/>
                </a:lnTo>
                <a:lnTo>
                  <a:pt x="959" y="260"/>
                </a:lnTo>
                <a:lnTo>
                  <a:pt x="1" y="260"/>
                </a:lnTo>
                <a:lnTo>
                  <a:pt x="1" y="258"/>
                </a:lnTo>
                <a:lnTo>
                  <a:pt x="1" y="251"/>
                </a:lnTo>
                <a:lnTo>
                  <a:pt x="2" y="244"/>
                </a:lnTo>
                <a:lnTo>
                  <a:pt x="3" y="237"/>
                </a:lnTo>
                <a:lnTo>
                  <a:pt x="4" y="230"/>
                </a:lnTo>
                <a:lnTo>
                  <a:pt x="6" y="224"/>
                </a:lnTo>
                <a:lnTo>
                  <a:pt x="7" y="217"/>
                </a:lnTo>
                <a:lnTo>
                  <a:pt x="9" y="210"/>
                </a:lnTo>
                <a:lnTo>
                  <a:pt x="11" y="203"/>
                </a:lnTo>
                <a:lnTo>
                  <a:pt x="13" y="197"/>
                </a:lnTo>
                <a:lnTo>
                  <a:pt x="15" y="190"/>
                </a:lnTo>
                <a:lnTo>
                  <a:pt x="17" y="184"/>
                </a:lnTo>
                <a:lnTo>
                  <a:pt x="19" y="177"/>
                </a:lnTo>
                <a:lnTo>
                  <a:pt x="22" y="171"/>
                </a:lnTo>
                <a:lnTo>
                  <a:pt x="25" y="165"/>
                </a:lnTo>
                <a:lnTo>
                  <a:pt x="28" y="159"/>
                </a:lnTo>
                <a:lnTo>
                  <a:pt x="31" y="153"/>
                </a:lnTo>
                <a:lnTo>
                  <a:pt x="34" y="147"/>
                </a:lnTo>
                <a:lnTo>
                  <a:pt x="37" y="141"/>
                </a:lnTo>
                <a:lnTo>
                  <a:pt x="41" y="135"/>
                </a:lnTo>
                <a:lnTo>
                  <a:pt x="44" y="129"/>
                </a:lnTo>
                <a:lnTo>
                  <a:pt x="48" y="123"/>
                </a:lnTo>
                <a:lnTo>
                  <a:pt x="52" y="118"/>
                </a:lnTo>
                <a:lnTo>
                  <a:pt x="56" y="113"/>
                </a:lnTo>
                <a:lnTo>
                  <a:pt x="60" y="107"/>
                </a:lnTo>
                <a:lnTo>
                  <a:pt x="64" y="102"/>
                </a:lnTo>
                <a:lnTo>
                  <a:pt x="68" y="97"/>
                </a:lnTo>
                <a:lnTo>
                  <a:pt x="73" y="92"/>
                </a:lnTo>
                <a:lnTo>
                  <a:pt x="77" y="87"/>
                </a:lnTo>
                <a:lnTo>
                  <a:pt x="82" y="82"/>
                </a:lnTo>
                <a:lnTo>
                  <a:pt x="87" y="77"/>
                </a:lnTo>
                <a:lnTo>
                  <a:pt x="92" y="73"/>
                </a:lnTo>
                <a:lnTo>
                  <a:pt x="97" y="68"/>
                </a:lnTo>
                <a:lnTo>
                  <a:pt x="102" y="64"/>
                </a:lnTo>
                <a:lnTo>
                  <a:pt x="107" y="60"/>
                </a:lnTo>
                <a:lnTo>
                  <a:pt x="113" y="56"/>
                </a:lnTo>
                <a:lnTo>
                  <a:pt x="118" y="52"/>
                </a:lnTo>
                <a:lnTo>
                  <a:pt x="123" y="48"/>
                </a:lnTo>
                <a:lnTo>
                  <a:pt x="129" y="44"/>
                </a:lnTo>
                <a:lnTo>
                  <a:pt x="135" y="41"/>
                </a:lnTo>
                <a:lnTo>
                  <a:pt x="141" y="37"/>
                </a:lnTo>
                <a:lnTo>
                  <a:pt x="147" y="34"/>
                </a:lnTo>
                <a:lnTo>
                  <a:pt x="153" y="31"/>
                </a:lnTo>
                <a:lnTo>
                  <a:pt x="159" y="28"/>
                </a:lnTo>
                <a:lnTo>
                  <a:pt x="165" y="25"/>
                </a:lnTo>
                <a:lnTo>
                  <a:pt x="171" y="22"/>
                </a:lnTo>
                <a:lnTo>
                  <a:pt x="177" y="19"/>
                </a:lnTo>
                <a:lnTo>
                  <a:pt x="184" y="17"/>
                </a:lnTo>
                <a:lnTo>
                  <a:pt x="190" y="15"/>
                </a:lnTo>
                <a:lnTo>
                  <a:pt x="197" y="13"/>
                </a:lnTo>
                <a:lnTo>
                  <a:pt x="203" y="11"/>
                </a:lnTo>
                <a:lnTo>
                  <a:pt x="210" y="9"/>
                </a:lnTo>
                <a:lnTo>
                  <a:pt x="217" y="7"/>
                </a:lnTo>
                <a:lnTo>
                  <a:pt x="224" y="6"/>
                </a:lnTo>
                <a:lnTo>
                  <a:pt x="230" y="4"/>
                </a:lnTo>
                <a:lnTo>
                  <a:pt x="237" y="3"/>
                </a:lnTo>
                <a:lnTo>
                  <a:pt x="244" y="2"/>
                </a:lnTo>
                <a:lnTo>
                  <a:pt x="251" y="1"/>
                </a:lnTo>
                <a:lnTo>
                  <a:pt x="258" y="1"/>
                </a:lnTo>
                <a:lnTo>
                  <a:pt x="266" y="0"/>
                </a:lnTo>
                <a:lnTo>
                  <a:pt x="273" y="0"/>
                </a:lnTo>
                <a:lnTo>
                  <a:pt x="280" y="0"/>
                </a:lnTo>
                <a:lnTo>
                  <a:pt x="680" y="0"/>
                </a:lnTo>
                <a:close/>
              </a:path>
            </a:pathLst>
          </a:custGeom>
          <a:gradFill>
            <a:gsLst>
              <a:gs pos="0">
                <a:srgbClr val="5BC8C8">
                  <a:alpha val="24000"/>
                </a:srgbClr>
              </a:gs>
              <a:gs pos="70000">
                <a:srgbClr val="081322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sp>
        <p:nvSpPr>
          <p:cNvPr id="289" name="任意多边形 288"/>
          <p:cNvSpPr/>
          <p:nvPr/>
        </p:nvSpPr>
        <p:spPr>
          <a:xfrm>
            <a:off x="8001000" y="-1333500"/>
            <a:ext cx="6096000" cy="6096000"/>
          </a:xfrm>
          <a:custGeom>
            <a:avLst/>
            <a:gdLst/>
            <a:ahLst/>
            <a:cxnLst/>
            <a:pathLst>
              <a:path w="640" h="640">
                <a:moveTo>
                  <a:pt x="440" y="617"/>
                </a:moveTo>
                <a:lnTo>
                  <a:pt x="437" y="618"/>
                </a:lnTo>
                <a:lnTo>
                  <a:pt x="430" y="621"/>
                </a:lnTo>
                <a:lnTo>
                  <a:pt x="423" y="623"/>
                </a:lnTo>
                <a:lnTo>
                  <a:pt x="415" y="626"/>
                </a:lnTo>
                <a:lnTo>
                  <a:pt x="408" y="628"/>
                </a:lnTo>
                <a:lnTo>
                  <a:pt x="400" y="630"/>
                </a:lnTo>
                <a:lnTo>
                  <a:pt x="392" y="632"/>
                </a:lnTo>
                <a:lnTo>
                  <a:pt x="384" y="633"/>
                </a:lnTo>
                <a:lnTo>
                  <a:pt x="377" y="635"/>
                </a:lnTo>
                <a:lnTo>
                  <a:pt x="369" y="636"/>
                </a:lnTo>
                <a:lnTo>
                  <a:pt x="361" y="637"/>
                </a:lnTo>
                <a:lnTo>
                  <a:pt x="353" y="638"/>
                </a:lnTo>
                <a:lnTo>
                  <a:pt x="345" y="639"/>
                </a:lnTo>
                <a:lnTo>
                  <a:pt x="336" y="640"/>
                </a:lnTo>
                <a:lnTo>
                  <a:pt x="328" y="640"/>
                </a:lnTo>
                <a:lnTo>
                  <a:pt x="320" y="640"/>
                </a:lnTo>
                <a:lnTo>
                  <a:pt x="312" y="640"/>
                </a:lnTo>
                <a:lnTo>
                  <a:pt x="304" y="640"/>
                </a:lnTo>
                <a:lnTo>
                  <a:pt x="295" y="639"/>
                </a:lnTo>
                <a:lnTo>
                  <a:pt x="287" y="638"/>
                </a:lnTo>
                <a:lnTo>
                  <a:pt x="279" y="637"/>
                </a:lnTo>
                <a:lnTo>
                  <a:pt x="271" y="636"/>
                </a:lnTo>
                <a:lnTo>
                  <a:pt x="263" y="635"/>
                </a:lnTo>
                <a:lnTo>
                  <a:pt x="256" y="633"/>
                </a:lnTo>
                <a:lnTo>
                  <a:pt x="248" y="632"/>
                </a:lnTo>
                <a:lnTo>
                  <a:pt x="240" y="630"/>
                </a:lnTo>
                <a:lnTo>
                  <a:pt x="232" y="628"/>
                </a:lnTo>
                <a:lnTo>
                  <a:pt x="225" y="626"/>
                </a:lnTo>
                <a:lnTo>
                  <a:pt x="217" y="623"/>
                </a:lnTo>
                <a:lnTo>
                  <a:pt x="210" y="621"/>
                </a:lnTo>
                <a:lnTo>
                  <a:pt x="203" y="618"/>
                </a:lnTo>
                <a:lnTo>
                  <a:pt x="195" y="615"/>
                </a:lnTo>
                <a:lnTo>
                  <a:pt x="188" y="612"/>
                </a:lnTo>
                <a:lnTo>
                  <a:pt x="181" y="608"/>
                </a:lnTo>
                <a:lnTo>
                  <a:pt x="174" y="605"/>
                </a:lnTo>
                <a:lnTo>
                  <a:pt x="168" y="601"/>
                </a:lnTo>
                <a:lnTo>
                  <a:pt x="161" y="598"/>
                </a:lnTo>
                <a:lnTo>
                  <a:pt x="154" y="594"/>
                </a:lnTo>
                <a:lnTo>
                  <a:pt x="148" y="590"/>
                </a:lnTo>
                <a:lnTo>
                  <a:pt x="141" y="585"/>
                </a:lnTo>
                <a:lnTo>
                  <a:pt x="135" y="581"/>
                </a:lnTo>
                <a:lnTo>
                  <a:pt x="129" y="576"/>
                </a:lnTo>
                <a:lnTo>
                  <a:pt x="122" y="572"/>
                </a:lnTo>
                <a:lnTo>
                  <a:pt x="116" y="567"/>
                </a:lnTo>
                <a:lnTo>
                  <a:pt x="111" y="562"/>
                </a:lnTo>
                <a:lnTo>
                  <a:pt x="105" y="557"/>
                </a:lnTo>
                <a:lnTo>
                  <a:pt x="99" y="552"/>
                </a:lnTo>
                <a:lnTo>
                  <a:pt x="94" y="546"/>
                </a:lnTo>
                <a:lnTo>
                  <a:pt x="88" y="541"/>
                </a:lnTo>
                <a:lnTo>
                  <a:pt x="83" y="535"/>
                </a:lnTo>
                <a:lnTo>
                  <a:pt x="78" y="529"/>
                </a:lnTo>
                <a:lnTo>
                  <a:pt x="73" y="524"/>
                </a:lnTo>
                <a:lnTo>
                  <a:pt x="68" y="518"/>
                </a:lnTo>
                <a:lnTo>
                  <a:pt x="64" y="511"/>
                </a:lnTo>
                <a:lnTo>
                  <a:pt x="59" y="505"/>
                </a:lnTo>
                <a:lnTo>
                  <a:pt x="55" y="499"/>
                </a:lnTo>
                <a:lnTo>
                  <a:pt x="50" y="492"/>
                </a:lnTo>
                <a:lnTo>
                  <a:pt x="46" y="486"/>
                </a:lnTo>
                <a:lnTo>
                  <a:pt x="42" y="479"/>
                </a:lnTo>
                <a:lnTo>
                  <a:pt x="39" y="472"/>
                </a:lnTo>
                <a:lnTo>
                  <a:pt x="35" y="466"/>
                </a:lnTo>
                <a:lnTo>
                  <a:pt x="32" y="459"/>
                </a:lnTo>
                <a:lnTo>
                  <a:pt x="28" y="452"/>
                </a:lnTo>
                <a:lnTo>
                  <a:pt x="25" y="445"/>
                </a:lnTo>
                <a:lnTo>
                  <a:pt x="22" y="437"/>
                </a:lnTo>
                <a:lnTo>
                  <a:pt x="19" y="430"/>
                </a:lnTo>
                <a:lnTo>
                  <a:pt x="17" y="423"/>
                </a:lnTo>
                <a:lnTo>
                  <a:pt x="14" y="415"/>
                </a:lnTo>
                <a:lnTo>
                  <a:pt x="12" y="408"/>
                </a:lnTo>
                <a:lnTo>
                  <a:pt x="10" y="400"/>
                </a:lnTo>
                <a:lnTo>
                  <a:pt x="8" y="392"/>
                </a:lnTo>
                <a:lnTo>
                  <a:pt x="7" y="384"/>
                </a:lnTo>
                <a:lnTo>
                  <a:pt x="5" y="377"/>
                </a:lnTo>
                <a:lnTo>
                  <a:pt x="4" y="369"/>
                </a:lnTo>
                <a:lnTo>
                  <a:pt x="3" y="361"/>
                </a:lnTo>
                <a:lnTo>
                  <a:pt x="2" y="353"/>
                </a:lnTo>
                <a:lnTo>
                  <a:pt x="1" y="345"/>
                </a:lnTo>
                <a:lnTo>
                  <a:pt x="0" y="336"/>
                </a:lnTo>
                <a:lnTo>
                  <a:pt x="0" y="328"/>
                </a:lnTo>
                <a:lnTo>
                  <a:pt x="0" y="320"/>
                </a:lnTo>
                <a:lnTo>
                  <a:pt x="0" y="312"/>
                </a:lnTo>
                <a:lnTo>
                  <a:pt x="0" y="304"/>
                </a:lnTo>
                <a:lnTo>
                  <a:pt x="1" y="295"/>
                </a:lnTo>
                <a:lnTo>
                  <a:pt x="2" y="287"/>
                </a:lnTo>
                <a:lnTo>
                  <a:pt x="3" y="279"/>
                </a:lnTo>
                <a:lnTo>
                  <a:pt x="4" y="271"/>
                </a:lnTo>
                <a:lnTo>
                  <a:pt x="5" y="263"/>
                </a:lnTo>
                <a:lnTo>
                  <a:pt x="7" y="256"/>
                </a:lnTo>
                <a:lnTo>
                  <a:pt x="8" y="248"/>
                </a:lnTo>
                <a:lnTo>
                  <a:pt x="10" y="240"/>
                </a:lnTo>
                <a:lnTo>
                  <a:pt x="12" y="232"/>
                </a:lnTo>
                <a:lnTo>
                  <a:pt x="14" y="225"/>
                </a:lnTo>
                <a:lnTo>
                  <a:pt x="17" y="217"/>
                </a:lnTo>
                <a:lnTo>
                  <a:pt x="19" y="210"/>
                </a:lnTo>
                <a:lnTo>
                  <a:pt x="22" y="203"/>
                </a:lnTo>
                <a:lnTo>
                  <a:pt x="25" y="195"/>
                </a:lnTo>
                <a:lnTo>
                  <a:pt x="28" y="188"/>
                </a:lnTo>
                <a:lnTo>
                  <a:pt x="32" y="181"/>
                </a:lnTo>
                <a:lnTo>
                  <a:pt x="35" y="174"/>
                </a:lnTo>
                <a:lnTo>
                  <a:pt x="39" y="168"/>
                </a:lnTo>
                <a:lnTo>
                  <a:pt x="42" y="161"/>
                </a:lnTo>
                <a:lnTo>
                  <a:pt x="46" y="154"/>
                </a:lnTo>
                <a:lnTo>
                  <a:pt x="50" y="148"/>
                </a:lnTo>
                <a:lnTo>
                  <a:pt x="55" y="141"/>
                </a:lnTo>
                <a:lnTo>
                  <a:pt x="55" y="140"/>
                </a:lnTo>
                <a:lnTo>
                  <a:pt x="440" y="140"/>
                </a:lnTo>
                <a:close/>
              </a:path>
            </a:pathLst>
          </a:custGeom>
          <a:gradFill>
            <a:gsLst>
              <a:gs pos="60000">
                <a:srgbClr val="8FD8E8">
                  <a:alpha val="0"/>
                </a:srgbClr>
              </a:gs>
              <a:gs pos="62000">
                <a:srgbClr val="8FD8E8">
                  <a:alpha val="16000"/>
                </a:srgbClr>
              </a:gs>
              <a:gs pos="63000">
                <a:srgbClr val="8FD8E8">
                  <a:alpha val="16000"/>
                </a:srgbClr>
              </a:gs>
              <a:gs pos="65000">
                <a:srgbClr val="8FD8E8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sp>
        <p:nvSpPr>
          <p:cNvPr id="290" name="任意多边形 289"/>
          <p:cNvSpPr/>
          <p:nvPr/>
        </p:nvSpPr>
        <p:spPr>
          <a:xfrm>
            <a:off x="8763000" y="-190500"/>
            <a:ext cx="4191000" cy="4191000"/>
          </a:xfrm>
          <a:custGeom>
            <a:avLst/>
            <a:gdLst/>
            <a:ahLst/>
            <a:cxnLst/>
            <a:pathLst>
              <a:path w="440" h="440">
                <a:moveTo>
                  <a:pt x="315" y="22"/>
                </a:moveTo>
                <a:lnTo>
                  <a:pt x="320" y="24"/>
                </a:lnTo>
                <a:lnTo>
                  <a:pt x="325" y="27"/>
                </a:lnTo>
                <a:lnTo>
                  <a:pt x="329" y="29"/>
                </a:lnTo>
                <a:lnTo>
                  <a:pt x="334" y="32"/>
                </a:lnTo>
                <a:lnTo>
                  <a:pt x="339" y="35"/>
                </a:lnTo>
                <a:lnTo>
                  <a:pt x="343" y="38"/>
                </a:lnTo>
                <a:lnTo>
                  <a:pt x="347" y="41"/>
                </a:lnTo>
                <a:lnTo>
                  <a:pt x="352" y="44"/>
                </a:lnTo>
                <a:lnTo>
                  <a:pt x="356" y="47"/>
                </a:lnTo>
                <a:lnTo>
                  <a:pt x="360" y="50"/>
                </a:lnTo>
                <a:lnTo>
                  <a:pt x="360" y="50"/>
                </a:lnTo>
                <a:lnTo>
                  <a:pt x="360" y="390"/>
                </a:lnTo>
                <a:lnTo>
                  <a:pt x="360" y="390"/>
                </a:lnTo>
                <a:lnTo>
                  <a:pt x="356" y="393"/>
                </a:lnTo>
                <a:lnTo>
                  <a:pt x="352" y="396"/>
                </a:lnTo>
                <a:lnTo>
                  <a:pt x="347" y="399"/>
                </a:lnTo>
                <a:lnTo>
                  <a:pt x="343" y="402"/>
                </a:lnTo>
                <a:lnTo>
                  <a:pt x="339" y="405"/>
                </a:lnTo>
                <a:lnTo>
                  <a:pt x="334" y="408"/>
                </a:lnTo>
                <a:lnTo>
                  <a:pt x="329" y="411"/>
                </a:lnTo>
                <a:lnTo>
                  <a:pt x="325" y="413"/>
                </a:lnTo>
                <a:lnTo>
                  <a:pt x="320" y="416"/>
                </a:lnTo>
                <a:lnTo>
                  <a:pt x="315" y="418"/>
                </a:lnTo>
                <a:lnTo>
                  <a:pt x="311" y="421"/>
                </a:lnTo>
                <a:lnTo>
                  <a:pt x="306" y="423"/>
                </a:lnTo>
                <a:lnTo>
                  <a:pt x="301" y="425"/>
                </a:lnTo>
                <a:lnTo>
                  <a:pt x="296" y="427"/>
                </a:lnTo>
                <a:lnTo>
                  <a:pt x="291" y="428"/>
                </a:lnTo>
                <a:lnTo>
                  <a:pt x="285" y="430"/>
                </a:lnTo>
                <a:lnTo>
                  <a:pt x="280" y="432"/>
                </a:lnTo>
                <a:lnTo>
                  <a:pt x="275" y="433"/>
                </a:lnTo>
                <a:lnTo>
                  <a:pt x="270" y="434"/>
                </a:lnTo>
                <a:lnTo>
                  <a:pt x="264" y="436"/>
                </a:lnTo>
                <a:lnTo>
                  <a:pt x="259" y="437"/>
                </a:lnTo>
                <a:lnTo>
                  <a:pt x="253" y="437"/>
                </a:lnTo>
                <a:lnTo>
                  <a:pt x="248" y="438"/>
                </a:lnTo>
                <a:lnTo>
                  <a:pt x="242" y="439"/>
                </a:lnTo>
                <a:lnTo>
                  <a:pt x="237" y="439"/>
                </a:lnTo>
                <a:lnTo>
                  <a:pt x="231" y="440"/>
                </a:lnTo>
                <a:lnTo>
                  <a:pt x="226" y="440"/>
                </a:lnTo>
                <a:lnTo>
                  <a:pt x="220" y="440"/>
                </a:lnTo>
                <a:lnTo>
                  <a:pt x="214" y="440"/>
                </a:lnTo>
                <a:lnTo>
                  <a:pt x="209" y="440"/>
                </a:lnTo>
                <a:lnTo>
                  <a:pt x="203" y="439"/>
                </a:lnTo>
                <a:lnTo>
                  <a:pt x="198" y="439"/>
                </a:lnTo>
                <a:lnTo>
                  <a:pt x="192" y="438"/>
                </a:lnTo>
                <a:lnTo>
                  <a:pt x="187" y="437"/>
                </a:lnTo>
                <a:lnTo>
                  <a:pt x="181" y="437"/>
                </a:lnTo>
                <a:lnTo>
                  <a:pt x="176" y="436"/>
                </a:lnTo>
                <a:lnTo>
                  <a:pt x="170" y="434"/>
                </a:lnTo>
                <a:lnTo>
                  <a:pt x="165" y="433"/>
                </a:lnTo>
                <a:lnTo>
                  <a:pt x="160" y="432"/>
                </a:lnTo>
                <a:lnTo>
                  <a:pt x="155" y="430"/>
                </a:lnTo>
                <a:lnTo>
                  <a:pt x="149" y="428"/>
                </a:lnTo>
                <a:lnTo>
                  <a:pt x="144" y="427"/>
                </a:lnTo>
                <a:lnTo>
                  <a:pt x="139" y="425"/>
                </a:lnTo>
                <a:lnTo>
                  <a:pt x="134" y="423"/>
                </a:lnTo>
                <a:lnTo>
                  <a:pt x="129" y="421"/>
                </a:lnTo>
                <a:lnTo>
                  <a:pt x="125" y="418"/>
                </a:lnTo>
                <a:lnTo>
                  <a:pt x="120" y="416"/>
                </a:lnTo>
                <a:lnTo>
                  <a:pt x="115" y="413"/>
                </a:lnTo>
                <a:lnTo>
                  <a:pt x="111" y="411"/>
                </a:lnTo>
                <a:lnTo>
                  <a:pt x="106" y="408"/>
                </a:lnTo>
                <a:lnTo>
                  <a:pt x="101" y="405"/>
                </a:lnTo>
                <a:lnTo>
                  <a:pt x="97" y="402"/>
                </a:lnTo>
                <a:lnTo>
                  <a:pt x="93" y="399"/>
                </a:lnTo>
                <a:lnTo>
                  <a:pt x="88" y="396"/>
                </a:lnTo>
                <a:lnTo>
                  <a:pt x="84" y="393"/>
                </a:lnTo>
                <a:lnTo>
                  <a:pt x="80" y="390"/>
                </a:lnTo>
                <a:lnTo>
                  <a:pt x="76" y="386"/>
                </a:lnTo>
                <a:lnTo>
                  <a:pt x="72" y="383"/>
                </a:lnTo>
                <a:lnTo>
                  <a:pt x="68" y="379"/>
                </a:lnTo>
                <a:lnTo>
                  <a:pt x="64" y="376"/>
                </a:lnTo>
                <a:lnTo>
                  <a:pt x="61" y="372"/>
                </a:lnTo>
                <a:lnTo>
                  <a:pt x="57" y="368"/>
                </a:lnTo>
                <a:lnTo>
                  <a:pt x="54" y="364"/>
                </a:lnTo>
                <a:lnTo>
                  <a:pt x="50" y="360"/>
                </a:lnTo>
                <a:lnTo>
                  <a:pt x="47" y="356"/>
                </a:lnTo>
                <a:lnTo>
                  <a:pt x="44" y="352"/>
                </a:lnTo>
                <a:lnTo>
                  <a:pt x="41" y="347"/>
                </a:lnTo>
                <a:lnTo>
                  <a:pt x="38" y="343"/>
                </a:lnTo>
                <a:lnTo>
                  <a:pt x="35" y="339"/>
                </a:lnTo>
                <a:lnTo>
                  <a:pt x="32" y="334"/>
                </a:lnTo>
                <a:lnTo>
                  <a:pt x="29" y="329"/>
                </a:lnTo>
                <a:lnTo>
                  <a:pt x="27" y="325"/>
                </a:lnTo>
                <a:lnTo>
                  <a:pt x="24" y="320"/>
                </a:lnTo>
                <a:lnTo>
                  <a:pt x="22" y="315"/>
                </a:lnTo>
                <a:lnTo>
                  <a:pt x="19" y="311"/>
                </a:lnTo>
                <a:lnTo>
                  <a:pt x="17" y="306"/>
                </a:lnTo>
                <a:lnTo>
                  <a:pt x="15" y="301"/>
                </a:lnTo>
                <a:lnTo>
                  <a:pt x="13" y="296"/>
                </a:lnTo>
                <a:lnTo>
                  <a:pt x="12" y="291"/>
                </a:lnTo>
                <a:lnTo>
                  <a:pt x="10" y="285"/>
                </a:lnTo>
                <a:lnTo>
                  <a:pt x="8" y="280"/>
                </a:lnTo>
                <a:lnTo>
                  <a:pt x="7" y="275"/>
                </a:lnTo>
                <a:lnTo>
                  <a:pt x="6" y="270"/>
                </a:lnTo>
                <a:lnTo>
                  <a:pt x="4" y="264"/>
                </a:lnTo>
                <a:lnTo>
                  <a:pt x="3" y="259"/>
                </a:lnTo>
                <a:lnTo>
                  <a:pt x="3" y="253"/>
                </a:lnTo>
                <a:lnTo>
                  <a:pt x="2" y="248"/>
                </a:lnTo>
                <a:lnTo>
                  <a:pt x="1" y="242"/>
                </a:lnTo>
                <a:lnTo>
                  <a:pt x="1" y="237"/>
                </a:lnTo>
                <a:lnTo>
                  <a:pt x="0" y="231"/>
                </a:lnTo>
                <a:lnTo>
                  <a:pt x="0" y="226"/>
                </a:lnTo>
                <a:lnTo>
                  <a:pt x="0" y="220"/>
                </a:lnTo>
                <a:lnTo>
                  <a:pt x="0" y="214"/>
                </a:lnTo>
                <a:lnTo>
                  <a:pt x="0" y="209"/>
                </a:lnTo>
                <a:lnTo>
                  <a:pt x="1" y="203"/>
                </a:lnTo>
                <a:lnTo>
                  <a:pt x="1" y="198"/>
                </a:lnTo>
                <a:lnTo>
                  <a:pt x="2" y="192"/>
                </a:lnTo>
                <a:lnTo>
                  <a:pt x="3" y="187"/>
                </a:lnTo>
                <a:lnTo>
                  <a:pt x="3" y="181"/>
                </a:lnTo>
                <a:lnTo>
                  <a:pt x="4" y="176"/>
                </a:lnTo>
                <a:lnTo>
                  <a:pt x="6" y="170"/>
                </a:lnTo>
                <a:lnTo>
                  <a:pt x="7" y="165"/>
                </a:lnTo>
                <a:lnTo>
                  <a:pt x="8" y="160"/>
                </a:lnTo>
                <a:lnTo>
                  <a:pt x="10" y="155"/>
                </a:lnTo>
                <a:lnTo>
                  <a:pt x="12" y="149"/>
                </a:lnTo>
                <a:lnTo>
                  <a:pt x="13" y="144"/>
                </a:lnTo>
                <a:lnTo>
                  <a:pt x="15" y="139"/>
                </a:lnTo>
                <a:lnTo>
                  <a:pt x="17" y="134"/>
                </a:lnTo>
                <a:lnTo>
                  <a:pt x="19" y="129"/>
                </a:lnTo>
                <a:lnTo>
                  <a:pt x="22" y="125"/>
                </a:lnTo>
                <a:lnTo>
                  <a:pt x="24" y="120"/>
                </a:lnTo>
                <a:lnTo>
                  <a:pt x="27" y="115"/>
                </a:lnTo>
                <a:lnTo>
                  <a:pt x="29" y="111"/>
                </a:lnTo>
                <a:lnTo>
                  <a:pt x="32" y="106"/>
                </a:lnTo>
                <a:lnTo>
                  <a:pt x="35" y="101"/>
                </a:lnTo>
                <a:lnTo>
                  <a:pt x="38" y="97"/>
                </a:lnTo>
                <a:lnTo>
                  <a:pt x="41" y="93"/>
                </a:lnTo>
                <a:lnTo>
                  <a:pt x="44" y="88"/>
                </a:lnTo>
                <a:lnTo>
                  <a:pt x="47" y="84"/>
                </a:lnTo>
                <a:lnTo>
                  <a:pt x="50" y="80"/>
                </a:lnTo>
                <a:lnTo>
                  <a:pt x="54" y="76"/>
                </a:lnTo>
                <a:lnTo>
                  <a:pt x="57" y="72"/>
                </a:lnTo>
                <a:lnTo>
                  <a:pt x="61" y="68"/>
                </a:lnTo>
                <a:lnTo>
                  <a:pt x="64" y="64"/>
                </a:lnTo>
                <a:lnTo>
                  <a:pt x="68" y="61"/>
                </a:lnTo>
                <a:lnTo>
                  <a:pt x="72" y="57"/>
                </a:lnTo>
                <a:lnTo>
                  <a:pt x="76" y="54"/>
                </a:lnTo>
                <a:lnTo>
                  <a:pt x="80" y="50"/>
                </a:lnTo>
                <a:lnTo>
                  <a:pt x="84" y="47"/>
                </a:lnTo>
                <a:lnTo>
                  <a:pt x="88" y="44"/>
                </a:lnTo>
                <a:lnTo>
                  <a:pt x="93" y="41"/>
                </a:lnTo>
                <a:lnTo>
                  <a:pt x="97" y="38"/>
                </a:lnTo>
                <a:lnTo>
                  <a:pt x="101" y="35"/>
                </a:lnTo>
                <a:lnTo>
                  <a:pt x="106" y="32"/>
                </a:lnTo>
                <a:lnTo>
                  <a:pt x="111" y="29"/>
                </a:lnTo>
                <a:lnTo>
                  <a:pt x="115" y="27"/>
                </a:lnTo>
                <a:lnTo>
                  <a:pt x="120" y="24"/>
                </a:lnTo>
                <a:lnTo>
                  <a:pt x="125" y="22"/>
                </a:lnTo>
                <a:lnTo>
                  <a:pt x="128" y="20"/>
                </a:lnTo>
                <a:lnTo>
                  <a:pt x="312" y="20"/>
                </a:lnTo>
                <a:close/>
              </a:path>
            </a:pathLst>
          </a:custGeom>
          <a:gradFill>
            <a:gsLst>
              <a:gs pos="60000">
                <a:srgbClr val="C7A96B">
                  <a:alpha val="0"/>
                </a:srgbClr>
              </a:gs>
              <a:gs pos="62000">
                <a:srgbClr val="C7A96B">
                  <a:alpha val="18000"/>
                </a:srgbClr>
              </a:gs>
              <a:gs pos="63000">
                <a:srgbClr val="C7A96B">
                  <a:alpha val="18000"/>
                </a:srgbClr>
              </a:gs>
              <a:gs pos="65000">
                <a:srgbClr val="C7A96B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pic>
        <p:nvPicPr>
          <p:cNvPr id="291" name="图片 290"/>
          <p:cNvPicPr>
            <a:picLocks noChangeAspect="1"/>
          </p:cNvPicPr>
          <p:nvPr/>
        </p:nvPicPr>
        <p:blipFill>
          <a:blip r:embed="rId1"/>
          <a:srcRect l="367" r="367"/>
          <a:stretch>
            <a:fillRect/>
          </a:stretch>
        </p:blipFill>
        <p:spPr>
          <a:xfrm>
            <a:off x="685800" y="581025"/>
            <a:ext cx="342900" cy="381000"/>
          </a:xfrm>
          <a:prstGeom prst="rect">
            <a:avLst/>
          </a:prstGeom>
        </p:spPr>
      </p:pic>
      <p:pic>
        <p:nvPicPr>
          <p:cNvPr id="292" name="图片 291"/>
          <p:cNvPicPr>
            <a:picLocks noChangeAspect="1"/>
          </p:cNvPicPr>
          <p:nvPr/>
        </p:nvPicPr>
        <p:blipFill>
          <a:blip r:embed="rId2"/>
          <a:srcRect t="852" b="852"/>
          <a:stretch>
            <a:fillRect/>
          </a:stretch>
        </p:blipFill>
        <p:spPr>
          <a:xfrm>
            <a:off x="1162050" y="514350"/>
            <a:ext cx="1504950" cy="342900"/>
          </a:xfrm>
          <a:prstGeom prst="rect">
            <a:avLst/>
          </a:prstGeom>
        </p:spPr>
      </p:pic>
      <p:pic>
        <p:nvPicPr>
          <p:cNvPr id="293" name="图片 292"/>
          <p:cNvPicPr>
            <a:picLocks noChangeAspect="1"/>
          </p:cNvPicPr>
          <p:nvPr/>
        </p:nvPicPr>
        <p:blipFill>
          <a:blip r:embed="rId3"/>
          <a:srcRect l="1481" r="1481"/>
          <a:stretch>
            <a:fillRect/>
          </a:stretch>
        </p:blipFill>
        <p:spPr>
          <a:xfrm>
            <a:off x="1162050" y="876300"/>
            <a:ext cx="1504950" cy="152400"/>
          </a:xfrm>
          <a:prstGeom prst="rect">
            <a:avLst/>
          </a:prstGeom>
        </p:spPr>
      </p:pic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9515475" y="3200400"/>
            <a:ext cx="2105025" cy="2514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 spc="-900">
                <a:solidFill>
                  <a:srgbClr val="8FD8E8">
                    <a:alpha val="22000"/>
                  </a:srgbClr>
                </a:solidFill>
                <a:latin typeface="Inter"/>
                <a:ea typeface="Inter"/>
              </a:rPr>
              <a:t>02</a:t>
            </a:r>
            <a:endParaRPr lang="en-US" sz="16500" b="1" spc="-900">
              <a:solidFill>
                <a:srgbClr val="8FD8E8">
                  <a:alpha val="22000"/>
                </a:srgbClr>
              </a:solidFill>
              <a:latin typeface="Inter"/>
              <a:ea typeface="Inter"/>
            </a:endParaRPr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685800" y="2590800"/>
            <a:ext cx="4381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75">
                <a:solidFill>
                  <a:srgbClr val="C7A96B"/>
                </a:solidFill>
                <a:latin typeface="Inter"/>
                <a:ea typeface="Inter"/>
              </a:rPr>
              <a:t>PART 02</a:t>
            </a:r>
            <a:endParaRPr lang="en-US" sz="1050" b="1" spc="37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685800" y="2924175"/>
            <a:ext cx="4381500" cy="8477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4800" b="1" spc="-75">
                <a:solidFill>
                  <a:srgbClr val="EAF2F8"/>
                </a:solidFill>
                <a:latin typeface="PingFang SC"/>
                <a:ea typeface="PingFang SC"/>
              </a:rPr>
              <a:t>三处断点</a:t>
            </a:r>
            <a:endParaRPr lang="zh-CN" sz="4800" b="1" spc="-75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297" name="圆角矩形 296"/>
          <p:cNvSpPr/>
          <p:nvPr/>
        </p:nvSpPr>
        <p:spPr>
          <a:xfrm>
            <a:off x="685800" y="4000500"/>
            <a:ext cx="6096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685800" y="4248150"/>
            <a:ext cx="43815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8FA6BC"/>
                </a:solidFill>
                <a:latin typeface="PingFang SC"/>
                <a:ea typeface="PingFang SC"/>
              </a:rPr>
              <a:t>版本影响、任务定位与人工保留</a:t>
            </a:r>
            <a:endParaRPr lang="zh-CN" sz="150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299" name="矩形 298"/>
          <p:cNvSpPr/>
          <p:nvPr/>
        </p:nvSpPr>
        <p:spPr>
          <a:xfrm>
            <a:off x="685800" y="6248400"/>
            <a:ext cx="266700" cy="9525"/>
          </a:xfrm>
          <a:prstGeom prst="rect">
            <a:avLst/>
          </a:prstGeom>
          <a:solidFill>
            <a:srgbClr val="C7A96B">
              <a:alpha val="70000"/>
            </a:srgbClr>
          </a:solidFill>
        </p:spPr>
        <p:txBody>
          <a:bodyPr/>
          <a:p/>
        </p:txBody>
      </p:sp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1085850" y="6172200"/>
            <a:ext cx="24765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6E86A0"/>
                </a:solidFill>
                <a:latin typeface="Inter"/>
                <a:ea typeface="Inter"/>
              </a:rPr>
              <a:t>DISHENG CONSULTING · 2026</a:t>
            </a:r>
            <a:endParaRPr lang="en-US" sz="975" spc="225">
              <a:solidFill>
                <a:srgbClr val="6E86A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1" name="" descr="// B · 05 内容页 · 核心理念 — 四宫格（玻璃卡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340, top: 140, width: 560, height: 400, borderRadius: 280, background: 'radial-gradient(circle, rgba(91,200,200,0.09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核心理念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CORE VALUES&lt;/Text&gt;&#10;        &lt;Box style={{ flex: 1 }} /&gt;&#10;        &lt;Text style={{ fontSize: 14, color: '#8FA6BC' }}&gt;四条原则，决定我们怎么做项目&lt;/Text&gt;&#10;    &lt;/Box&gt;&#10;&#10;    {/* B · 内容区 */}&#10;    &lt;Box style={{ flex: 1, flexDirection: 'row', flexWrap: 'wrap', gap: 24, paddingTop: 28, paddingBottom: 24 }}&gt;&#10;        {[&#10;            { icon: 'users', title: '以客户为中心', en: 'CLIENT FIRST', desc: '从客户的目标与约束出发设计方案，不以方法论套用代替业务判断。', act: '先问目标，再谈方案' },&#10;            { icon: 'chart-line', title: '以结果为导向', en: 'RESULT DRIVEN', desc: '每个阶段都定义可衡量的指标，用数据说明价值，而不是用篇幅说明努力。', act: '每阶段定义验收指标' },&#10;            { icon: 'file-text', title: '以方法为沉淀', en: 'METHOD BASED', desc: '把经验结构化为流程、模板与语料，让能力留存在组织而不是个人身上。', act: '项目结束即产出模板' },&#10;            { icon: 'clock', title: '以长期为承诺', en: 'LONG TERM', desc: '不交付一份报告就结束，陪跑到动作改变、指标改善并能够自我循环。', act: '季度复盘与持续迭代' }&#10;        ].map((c, idx) =&gt; (&#10;            &lt;Box key={idx} style={{ width: 556, height: 228, flexDirection: 'column', background: 'rgba(255,255,255,0.045)', border: '1px solid rgba(143,216,232,0.18)', borderRadius: 16, padding: '22px 28px 20px', boxShadow: '0 10px 34px rgba(0,0,0,0.36)' }}&gt;&#10;                &lt;Box style={{ flexDirection: 'row', alignItems: 'center', gap: 16 }}&gt;&#10;                    &lt;Box style={{ width: 54, height: 54, borderRadius: 16, background: 'linear-gradient(135deg, #8FD8E8 0%, #3FA8BF 100%)', justifyContent: 'center', alignItems: 'center', boxShadow: '0 6px 18px rgba(91,200,200,0.32)' }}&gt;&#10;                        &lt;FAIcon name={c.icon} style={{ fill: '#081322', width: 25, height: 25 }} /&gt;&#10;                    &lt;/Box&gt;&#10;                    &lt;Box style={{ flexDirection: 'column', gap: 6 }}&gt;&#10;                        &lt;Text style={{ fontSize: 24, fontWeight: 'bold', color: '#EAF2F8', letterSpacing: -0.3 }}&gt;{c.title}&lt;/Text&gt;&#10;                        &lt;Text style={{ fontSize: 12, color: '#5E7590', letterSpacing: 2.5, fontFamily: '&quot;Inter&quot;,&quot;Helvetica Neue&quot;,Arial,sans-serif' }}&gt;{c.en}&lt;/Text&gt;&#10;                    &lt;/Box&gt;&#10;                &lt;/Box&gt;&#10;                &lt;Text style={{ fontSize: 16, color: '#9FB4C6', lineHeight: 1.85, marginTop: 18 }}&gt;&#10;                    {c.desc}&#10;                &lt;/Text&gt;&#10;                &lt;Box style={{ marginTop: 'auto', flexDirection: 'row', alignItems: 'center', gap: 10, paddingTop: 12 }}&gt;&#10;                    &lt;Box style={{ width: 18, height: 2, background: 'linear-gradient(135deg, #8FD8E8 0%, #3FA8BF 100%)', borderRadius: 1 }} /&gt;&#10;                    &lt;Text style={{ fontSize: 14, color: '#8FD8E8' }}&gt;行动准则：{c.act}&lt;/Text&gt;&#10;                &lt;/Box&gt;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5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矩形 3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343" name="任意多边形 342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344" name="圆角矩形 343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三处断点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46" name="矩形 345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2381250" y="590550"/>
            <a:ext cx="11715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GAPS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348" name="文本框 347" descr="{&quot;isTemplate&quot;:true,&quot;type&quot;:&quot;text&quot;}"/>
          <p:cNvSpPr txBox="1"/>
          <p:nvPr/>
        </p:nvSpPr>
        <p:spPr>
          <a:xfrm>
            <a:off x="9639300" y="58102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公开未披露处标为待核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349" name="圆角矩形 348"/>
          <p:cNvSpPr/>
          <p:nvPr/>
        </p:nvSpPr>
        <p:spPr>
          <a:xfrm>
            <a:off x="685800" y="14097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50" name="圆角矩形 349"/>
          <p:cNvSpPr/>
          <p:nvPr/>
        </p:nvSpPr>
        <p:spPr>
          <a:xfrm>
            <a:off x="952500" y="16192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51" name="图片 35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375" y="1762125"/>
            <a:ext cx="238125" cy="238125"/>
          </a:xfrm>
          <a:prstGeom prst="rect">
            <a:avLst/>
          </a:prstGeom>
        </p:spPr>
      </p:pic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1619250" y="16383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影响面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1619250" y="19716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IMPACT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54" name="文本框 353" descr="{&quot;isTemplate&quot;:true,&quot;type&quot;:&quot;text&quot;}"/>
          <p:cNvSpPr txBox="1"/>
          <p:nvPr/>
        </p:nvSpPr>
        <p:spPr>
          <a:xfrm>
            <a:off x="952500" y="2305050"/>
            <a:ext cx="4762500" cy="822960"/>
          </a:xfrm>
          <a:prstGeom prst="rect">
            <a:avLst/>
          </a:prstGeom>
        </p:spPr>
        <p:txBody>
          <a:bodyPr wrap="squar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一条标准换版，需排查设计红线、合同、手册、巡检与课程。影响清单未见公开说明。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55" name="圆角矩形 354"/>
          <p:cNvSpPr/>
          <p:nvPr/>
        </p:nvSpPr>
        <p:spPr>
          <a:xfrm>
            <a:off x="952500" y="33051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1219200" y="32289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边界：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清单待核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57" name="圆角矩形 356"/>
          <p:cNvSpPr/>
          <p:nvPr/>
        </p:nvSpPr>
        <p:spPr>
          <a:xfrm>
            <a:off x="6210300" y="14097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58" name="圆角矩形 357"/>
          <p:cNvSpPr/>
          <p:nvPr/>
        </p:nvSpPr>
        <p:spPr>
          <a:xfrm>
            <a:off x="6477000" y="16192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59" name="图片 3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9875" y="1762125"/>
            <a:ext cx="238125" cy="238125"/>
          </a:xfrm>
          <a:prstGeom prst="rect">
            <a:avLst/>
          </a:prstGeom>
        </p:spPr>
      </p:pic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7143750" y="16383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任务定位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61" name="文本框 360" descr="{&quot;isTemplate&quot;:true,&quot;type&quot;:&quot;text&quot;}"/>
          <p:cNvSpPr txBox="1"/>
          <p:nvPr/>
        </p:nvSpPr>
        <p:spPr>
          <a:xfrm>
            <a:off x="7143750" y="19716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LOCATE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62" name="文本框 361" descr="{&quot;isTemplate&quot;:true,&quot;type&quot;:&quot;text&quot;}"/>
          <p:cNvSpPr txBox="1"/>
          <p:nvPr/>
        </p:nvSpPr>
        <p:spPr>
          <a:xfrm>
            <a:off x="6477000" y="2305050"/>
            <a:ext cx="4762500" cy="822960"/>
          </a:xfrm>
          <a:prstGeom prst="rect">
            <a:avLst/>
          </a:prstGeom>
        </p:spPr>
        <p:txBody>
          <a:bodyPr wrap="squar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按机型、市场与认证体系定位条款。公开材料未证明已有统一检索。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63" name="圆角矩形 362"/>
          <p:cNvSpPr/>
          <p:nvPr/>
        </p:nvSpPr>
        <p:spPr>
          <a:xfrm>
            <a:off x="6477000" y="33051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6743700" y="32289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边界：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检索待核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65" name="圆角矩形 364"/>
          <p:cNvSpPr/>
          <p:nvPr/>
        </p:nvSpPr>
        <p:spPr>
          <a:xfrm>
            <a:off x="685800" y="38100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66" name="圆角矩形 365"/>
          <p:cNvSpPr/>
          <p:nvPr/>
        </p:nvSpPr>
        <p:spPr>
          <a:xfrm>
            <a:off x="952500" y="40195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67" name="图片 36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5375" y="4162425"/>
            <a:ext cx="238125" cy="238125"/>
          </a:xfrm>
          <a:prstGeom prst="rect">
            <a:avLst/>
          </a:prstGeom>
        </p:spPr>
      </p:pic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1619250" y="40386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载体同步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1619250" y="43719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SYNC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952500" y="4705350"/>
            <a:ext cx="4762500" cy="822960"/>
          </a:xfrm>
          <a:prstGeom prst="rect">
            <a:avLst/>
          </a:prstGeom>
        </p:spPr>
        <p:txBody>
          <a:bodyPr wrap="squar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手册、课程、巡检项与条款的对应关系未见公开说明。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71" name="圆角矩形 370"/>
          <p:cNvSpPr/>
          <p:nvPr/>
        </p:nvSpPr>
        <p:spPr>
          <a:xfrm>
            <a:off x="952500" y="57054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1219200" y="56292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边界：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同步待核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73" name="圆角矩形 372"/>
          <p:cNvSpPr/>
          <p:nvPr/>
        </p:nvSpPr>
        <p:spPr>
          <a:xfrm>
            <a:off x="6210300" y="38100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74" name="圆角矩形 373"/>
          <p:cNvSpPr/>
          <p:nvPr/>
        </p:nvSpPr>
        <p:spPr>
          <a:xfrm>
            <a:off x="6477000" y="40195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75" name="图片 37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9875" y="4162425"/>
            <a:ext cx="238125" cy="238125"/>
          </a:xfrm>
          <a:prstGeom prst="rect">
            <a:avLst/>
          </a:prstGeom>
        </p:spPr>
      </p:pic>
      <p:sp>
        <p:nvSpPr>
          <p:cNvPr id="376" name="文本框 375" descr="{&quot;isTemplate&quot;:true,&quot;type&quot;:&quot;text&quot;}"/>
          <p:cNvSpPr txBox="1"/>
          <p:nvPr/>
        </p:nvSpPr>
        <p:spPr>
          <a:xfrm>
            <a:off x="7143750" y="40386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口径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77" name="文本框 376" descr="{&quot;isTemplate&quot;:true,&quot;type&quot;:&quot;text&quot;}"/>
          <p:cNvSpPr txBox="1"/>
          <p:nvPr/>
        </p:nvSpPr>
        <p:spPr>
          <a:xfrm>
            <a:off x="7143750" y="43719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SCOPE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78" name="文本框 377" descr="{&quot;isTemplate&quot;:true,&quot;type&quot;:&quot;text&quot;}"/>
          <p:cNvSpPr txBox="1"/>
          <p:nvPr/>
        </p:nvSpPr>
        <p:spPr>
          <a:xfrm>
            <a:off x="6477000" y="4705350"/>
            <a:ext cx="4762500" cy="822960"/>
          </a:xfrm>
          <a:prstGeom prst="rect">
            <a:avLst/>
          </a:prstGeom>
        </p:spPr>
        <p:txBody>
          <a:bodyPr wrap="squar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公开未披露只说明尚未对外说明，不说明企业内部未建设。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79" name="圆角矩形 378"/>
          <p:cNvSpPr/>
          <p:nvPr/>
        </p:nvSpPr>
        <p:spPr>
          <a:xfrm>
            <a:off x="6477000" y="57054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80" name="文本框 379" descr="{&quot;isTemplate&quot;:true,&quot;type&quot;:&quot;text&quot;}"/>
          <p:cNvSpPr txBox="1"/>
          <p:nvPr/>
        </p:nvSpPr>
        <p:spPr>
          <a:xfrm>
            <a:off x="6743700" y="56292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边界：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访谈核验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81" name="任意多边形 380"/>
          <p:cNvSpPr/>
          <p:nvPr/>
        </p:nvSpPr>
        <p:spPr>
          <a:xfrm>
            <a:off x="685800" y="62103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382" name="文本框 381" descr="{&quot;isTemplate&quot;:true,&quot;type&quot;:&quot;text&quot;}"/>
          <p:cNvSpPr txBox="1"/>
          <p:nvPr/>
        </p:nvSpPr>
        <p:spPr>
          <a:xfrm>
            <a:off x="685800" y="64293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11087100" y="64198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08 / 16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84" name="圆角矩形 383"/>
          <p:cNvSpPr/>
          <p:nvPr/>
        </p:nvSpPr>
        <p:spPr>
          <a:xfrm>
            <a:off x="3238500" y="1333500"/>
            <a:ext cx="5334000" cy="3810000"/>
          </a:xfrm>
          <a:prstGeom prst="roundRect">
            <a:avLst>
              <a:gd name="adj" fmla="val 70000"/>
            </a:avLst>
          </a:prstGeom>
          <a:gradFill>
            <a:gsLst>
              <a:gs pos="0">
                <a:srgbClr val="5BC8C8">
                  <a:alpha val="9000"/>
                </a:srgbClr>
              </a:gs>
              <a:gs pos="70000">
                <a:srgbClr val="081322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5" name="" descr="// B · 08 内容页 · 服务流程 — 五步（玻璃卡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380, top: 160, width: 560, height: 380, borderRadius: 280, background: 'radial-gradient(circle, rgba(91,200,200,0.10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服务流程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HOW WE WORK&lt;/Text&gt;&#10;        &lt;Box style={{ flex: 1 }} /&gt;&#10;        &lt;Text style={{ fontSize: 14, color: '#8FA6BC' }}&gt;五步走完一个完整项目周期&lt;/Text&gt;&#10;    &lt;/Box&gt;&#10;&#10;    {/* B · 内容区 */}&#10;    &lt;Box style={{ flex: 1, flexDirection: 'row', alignItems: 'stretch', paddingTop: 30, paddingBottom: 24 }}&gt;&#10;        {[&#10;            { no: '01', t: '业务诊断', d: '访谈与数据盘点，定位销售体系的真实瓶颈。', pts: ['高层访谈', '数据盘点', '瓶颈清单'], cycle: '2 周' },&#10;            { no: '02', t: '蓝图设计', d: '输出智能化蓝图与分阶段落地路线图。', pts: ['目标定义', '里程碑拆解', '资源规划'], cycle: '3 周' },&#10;            { no: '03', t: '知识萃取', d: '沉淀结构化语料库与场景化训练素材。', pts: ['场景梳理', '语料打标', '案例沉淀'], cycle: '3 周' },&#10;            { no: '04', t: '系统落地', d: '智能中台搭建与关键销售流程线上化。', pts: ['流程上线', '数据打通', '角色培训'], cycle: '4 – 8 周' },&#10;            { no: '05', t: '陪跑运营', d: '复盘教练与持续迭代，形成组织能力。', pts: ['商机复盘', '指标跟踪', '迭代机制'], cycle: '持续' }&#10;        ].map((s, idx) =&gt; (&#10;            &lt;Box key={idx} style={{ flex: 1, flexDirection: 'row', alignItems: 'stretch' }}&gt;&#10;                &lt;Box style={{ flex: 1, flexDirection: 'column', background: 'rgba(255,255,255,0.045)', border: '1px solid rgba(143,216,232,0.18)', borderRadius: 14, padding: '24px 20px 22px', boxShadow: '0 10px 34px rgba(0,0,0,0.36)' }}&gt;&#10;                    &lt;Box style={{ width: 44, height: 44, borderRadius: 22, background: 'linear-gradient(135deg, #8FD8E8 0%, #3FA8BF 100%)', justifyContent: 'center', alignItems: 'center', boxShadow: '0 6px 18px rgba(91,200,200,0.32)' }}&gt;&#10;                        &lt;Text style={{ fontSize: 18, fontWeight: 'bold', color: '#081322', fontFamily: '&quot;Inter&quot;,&quot;Helvetica Neue&quot;,Arial,sans-serif' }}&gt;{s.no}&lt;/Text&gt;&#10;                    &lt;/Box&gt;&#10;                    &lt;Text style={{ fontSize: 20, fontWeight: 'bold', color: '#EAF2F8', marginTop: 18, letterSpacing: -0.3 }}&gt;{s.t}&lt;/Text&gt;&#10;                    &lt;Box style={{ width: 26, height: 2, background: 'rgba(143,216,232,0.35)', marginTop: 12 }} /&gt;&#10;                    &lt;Text style={{ fontSize: 15, color: '#9FB4C6', lineHeight: 1.85, marginTop: 12 }}&gt;{s.d}&lt;/Text&gt;&#10;                    &lt;Box style={{ flexDirection: 'column', gap: 12, marginTop: 18 }}&gt;&#10;                        {s.pts.map((p, i) =&gt; (&#10;                            &lt;Box key={i} style={{ flexDirection: 'row', alignItems: 'center', gap: 9 }}&gt;&#10;                                &lt;Box style={{ width: 5, height: 5, borderRadius: 2.5, background: '#5BC8C8' }} /&gt;&#10;                                &lt;Text style={{ fontSize: 14, color: '#B9CBDA' }}&gt;{p}&lt;/Text&gt;&#10;                            &lt;/Box&gt;&#10;                        ))}&#10;                    &lt;/Box&gt;&#10;                    &lt;Box style={{ marginTop: 'auto', flexDirection: 'row', paddingTop: 18 }}&gt;&#10;                        &lt;Box style={{ padding: '5px 12px', borderRadius: 999, background: 'rgba(91,200,200,0.09)', border: '1px solid rgba(143,216,232,0.24)' }}&gt;&#10;                            &lt;Text style={{ fontSize: 12, color: '#8FD8E8' }}&gt;周期 · {s.cycle}&lt;/Text&gt;&#10;                        &lt;/Box&gt;&#10;                    &lt;/Box&gt;&#10;                &lt;/Box&gt;&#10;                {idx &lt; 4 &amp;&amp; (&#10;                    &lt;Box style={{ width: 30, justifyContent: 'center', alignItems: 'center' }}&gt;&#10;                        &lt;FAIcon name='chevron-right' style={{ fill: 'rgba(143,216,232,0.45)', width: 18, height: 18 }} /&gt;&#10;                    &lt;/Box&gt;&#10;                )}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8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矩形 4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447" name="任意多边形 446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448" name="圆角矩形 447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49" name="文本框 448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人工保留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50" name="矩形 449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451" name="文本框 450" descr="{&quot;isTemplate&quot;:true,&quot;type&quot;:&quot;text&quot;}"/>
          <p:cNvSpPr txBox="1"/>
          <p:nvPr/>
        </p:nvSpPr>
        <p:spPr>
          <a:xfrm>
            <a:off x="2381250" y="590550"/>
            <a:ext cx="125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PEOPLE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452" name="文本框 451" descr="{&quot;isTemplate&quot;:true,&quot;type&quot;:&quot;text&quot;}"/>
          <p:cNvSpPr txBox="1"/>
          <p:nvPr/>
        </p:nvSpPr>
        <p:spPr>
          <a:xfrm>
            <a:off x="9906000" y="581025"/>
            <a:ext cx="1600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草稿与风险由系统给出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453" name="圆角矩形 452"/>
          <p:cNvSpPr/>
          <p:nvPr/>
        </p:nvSpPr>
        <p:spPr>
          <a:xfrm>
            <a:off x="685800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54" name="圆角矩形 453"/>
          <p:cNvSpPr/>
          <p:nvPr/>
        </p:nvSpPr>
        <p:spPr>
          <a:xfrm>
            <a:off x="87630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55" name="文本框 454" descr="{&quot;isTemplate&quot;:true,&quot;type&quot;:&quot;text&quot;}"/>
          <p:cNvSpPr txBox="1"/>
          <p:nvPr/>
        </p:nvSpPr>
        <p:spPr>
          <a:xfrm>
            <a:off x="99060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01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56" name="文本框 455" descr="{&quot;isTemplate&quot;:true,&quot;type&quot;:&quot;text&quot;}"/>
          <p:cNvSpPr txBox="1"/>
          <p:nvPr/>
        </p:nvSpPr>
        <p:spPr>
          <a:xfrm>
            <a:off x="876300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认证签署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57" name="矩形 456"/>
          <p:cNvSpPr/>
          <p:nvPr/>
        </p:nvSpPr>
        <p:spPr>
          <a:xfrm>
            <a:off x="87630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58" name="文本框 457" descr="{&quot;isTemplate&quot;:true,&quot;type&quot;:&quot;text&quot;}"/>
          <p:cNvSpPr txBox="1"/>
          <p:nvPr/>
        </p:nvSpPr>
        <p:spPr>
          <a:xfrm>
            <a:off x="876300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授权人完成签署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59" name="圆角矩形 458"/>
          <p:cNvSpPr/>
          <p:nvPr/>
        </p:nvSpPr>
        <p:spPr>
          <a:xfrm>
            <a:off x="876300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0" name="文本框 459" descr="{&quot;isTemplate&quot;:true,&quot;type&quot;:&quot;text&quot;}"/>
          <p:cNvSpPr txBox="1"/>
          <p:nvPr/>
        </p:nvSpPr>
        <p:spPr>
          <a:xfrm>
            <a:off x="1009650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授权签署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1" name="圆角矩形 460"/>
          <p:cNvSpPr/>
          <p:nvPr/>
        </p:nvSpPr>
        <p:spPr>
          <a:xfrm>
            <a:off x="876300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2" name="文本框 461" descr="{&quot;isTemplate&quot;:true,&quot;type&quot;:&quot;text&quot;}"/>
          <p:cNvSpPr txBox="1"/>
          <p:nvPr/>
        </p:nvSpPr>
        <p:spPr>
          <a:xfrm>
            <a:off x="1009650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授权盖章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3" name="圆角矩形 462"/>
          <p:cNvSpPr/>
          <p:nvPr/>
        </p:nvSpPr>
        <p:spPr>
          <a:xfrm>
            <a:off x="876300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4" name="文本框 463" descr="{&quot;isTemplate&quot;:true,&quot;type&quot;:&quot;text&quot;}"/>
          <p:cNvSpPr txBox="1"/>
          <p:nvPr/>
        </p:nvSpPr>
        <p:spPr>
          <a:xfrm>
            <a:off x="1009650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人提交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5" name="圆角矩形 464"/>
          <p:cNvSpPr/>
          <p:nvPr/>
        </p:nvSpPr>
        <p:spPr>
          <a:xfrm>
            <a:off x="876300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6" name="文本框 465" descr="{&quot;isTemplate&quot;:true,&quot;type&quot;:&quot;text&quot;}"/>
          <p:cNvSpPr txBox="1"/>
          <p:nvPr/>
        </p:nvSpPr>
        <p:spPr>
          <a:xfrm>
            <a:off x="990600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授权人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67" name="图片 46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9375" y="3562350"/>
            <a:ext cx="171450" cy="171450"/>
          </a:xfrm>
          <a:prstGeom prst="rect">
            <a:avLst/>
          </a:prstGeom>
        </p:spPr>
      </p:pic>
      <p:sp>
        <p:nvSpPr>
          <p:cNvPr id="468" name="圆角矩形 467"/>
          <p:cNvSpPr/>
          <p:nvPr/>
        </p:nvSpPr>
        <p:spPr>
          <a:xfrm>
            <a:off x="2847975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69" name="圆角矩形 468"/>
          <p:cNvSpPr/>
          <p:nvPr/>
        </p:nvSpPr>
        <p:spPr>
          <a:xfrm>
            <a:off x="3038475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3152775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02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71" name="文本框 470" descr="{&quot;isTemplate&quot;:true,&quot;type&quot;:&quot;text&quot;}"/>
          <p:cNvSpPr txBox="1"/>
          <p:nvPr/>
        </p:nvSpPr>
        <p:spPr>
          <a:xfrm>
            <a:off x="3038475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准入结论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72" name="矩形 471"/>
          <p:cNvSpPr/>
          <p:nvPr/>
        </p:nvSpPr>
        <p:spPr>
          <a:xfrm>
            <a:off x="3038475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73" name="文本框 472" descr="{&quot;isTemplate&quot;:true,&quot;type&quot;:&quot;text&quot;}"/>
          <p:cNvSpPr txBox="1"/>
          <p:nvPr/>
        </p:nvSpPr>
        <p:spPr>
          <a:xfrm>
            <a:off x="3038475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采购与质量作结论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74" name="圆角矩形 473"/>
          <p:cNvSpPr/>
          <p:nvPr/>
        </p:nvSpPr>
        <p:spPr>
          <a:xfrm>
            <a:off x="3038475" y="393319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5" name="文本框 474" descr="{&quot;isTemplate&quot;:true,&quot;type&quot;:&quot;text&quot;}"/>
          <p:cNvSpPr txBox="1"/>
          <p:nvPr/>
        </p:nvSpPr>
        <p:spPr>
          <a:xfrm>
            <a:off x="3171825" y="387604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采购确认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76" name="圆角矩形 475"/>
          <p:cNvSpPr/>
          <p:nvPr/>
        </p:nvSpPr>
        <p:spPr>
          <a:xfrm>
            <a:off x="3038475" y="420941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7" name="文本框 476" descr="{&quot;isTemplate&quot;:true,&quot;type&quot;:&quot;text&quot;}"/>
          <p:cNvSpPr txBox="1"/>
          <p:nvPr/>
        </p:nvSpPr>
        <p:spPr>
          <a:xfrm>
            <a:off x="3171825" y="4152265"/>
            <a:ext cx="666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质量确认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78" name="圆角矩形 477"/>
          <p:cNvSpPr/>
          <p:nvPr/>
        </p:nvSpPr>
        <p:spPr>
          <a:xfrm>
            <a:off x="3038475" y="448564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9" name="文本框 478" descr="{&quot;isTemplate&quot;:true,&quot;type&quot;:&quot;text&quot;}"/>
          <p:cNvSpPr txBox="1"/>
          <p:nvPr/>
        </p:nvSpPr>
        <p:spPr>
          <a:xfrm>
            <a:off x="3171825" y="442849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人作结论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80" name="圆角矩形 479"/>
          <p:cNvSpPr/>
          <p:nvPr/>
        </p:nvSpPr>
        <p:spPr>
          <a:xfrm>
            <a:off x="3038475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1" name="文本框 480" descr="{&quot;isTemplate&quot;:true,&quot;type&quot;:&quot;text&quot;}"/>
          <p:cNvSpPr txBox="1"/>
          <p:nvPr/>
        </p:nvSpPr>
        <p:spPr>
          <a:xfrm>
            <a:off x="3152775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结论在人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82" name="图片 48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1550" y="3562350"/>
            <a:ext cx="171450" cy="171450"/>
          </a:xfrm>
          <a:prstGeom prst="rect">
            <a:avLst/>
          </a:prstGeom>
        </p:spPr>
      </p:pic>
      <p:sp>
        <p:nvSpPr>
          <p:cNvPr id="483" name="圆角矩形 482"/>
          <p:cNvSpPr/>
          <p:nvPr/>
        </p:nvSpPr>
        <p:spPr>
          <a:xfrm>
            <a:off x="5010150" y="1428750"/>
            <a:ext cx="1885950" cy="4438650"/>
          </a:xfrm>
          <a:prstGeom prst="roundRect">
            <a:avLst>
              <a:gd name="adj" fmla="val 7071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84" name="圆角矩形 483"/>
          <p:cNvSpPr/>
          <p:nvPr/>
        </p:nvSpPr>
        <p:spPr>
          <a:xfrm>
            <a:off x="520065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85" name="文本框 484" descr="{&quot;isTemplate&quot;:true,&quot;type&quot;:&quot;text&quot;}"/>
          <p:cNvSpPr txBox="1"/>
          <p:nvPr/>
        </p:nvSpPr>
        <p:spPr>
          <a:xfrm>
            <a:off x="531495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03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86" name="文本框 485" descr="{&quot;isTemplate&quot;:true,&quot;type&quot;:&quot;text&quot;}"/>
          <p:cNvSpPr txBox="1"/>
          <p:nvPr/>
        </p:nvSpPr>
        <p:spPr>
          <a:xfrm>
            <a:off x="5200650" y="2247900"/>
            <a:ext cx="15049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设计符合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87" name="矩形 486"/>
          <p:cNvSpPr/>
          <p:nvPr/>
        </p:nvSpPr>
        <p:spPr>
          <a:xfrm>
            <a:off x="520065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88" name="文本框 487" descr="{&quot;isTemplate&quot;:true,&quot;type&quot;:&quot;text&quot;}"/>
          <p:cNvSpPr txBox="1"/>
          <p:nvPr/>
        </p:nvSpPr>
        <p:spPr>
          <a:xfrm>
            <a:off x="5200650" y="2724150"/>
            <a:ext cx="150495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设计确认是否符合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89" name="圆角矩形 488"/>
          <p:cNvSpPr/>
          <p:nvPr/>
        </p:nvSpPr>
        <p:spPr>
          <a:xfrm>
            <a:off x="5200650" y="389128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0" name="文本框 489" descr="{&quot;isTemplate&quot;:true,&quot;type&quot;:&quot;text&quot;}"/>
          <p:cNvSpPr txBox="1"/>
          <p:nvPr/>
        </p:nvSpPr>
        <p:spPr>
          <a:xfrm>
            <a:off x="5334000" y="383413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红线判定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1" name="圆角矩形 490"/>
          <p:cNvSpPr/>
          <p:nvPr/>
        </p:nvSpPr>
        <p:spPr>
          <a:xfrm>
            <a:off x="5200650" y="416750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2" name="文本框 491" descr="{&quot;isTemplate&quot;:true,&quot;type&quot;:&quot;text&quot;}"/>
          <p:cNvSpPr txBox="1"/>
          <p:nvPr/>
        </p:nvSpPr>
        <p:spPr>
          <a:xfrm>
            <a:off x="5334000" y="411035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设计确认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3" name="圆角矩形 492"/>
          <p:cNvSpPr/>
          <p:nvPr/>
        </p:nvSpPr>
        <p:spPr>
          <a:xfrm>
            <a:off x="5200650" y="444373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4" name="文本框 493" descr="{&quot;isTemplate&quot;:true,&quot;type&quot;:&quot;text&quot;}"/>
          <p:cNvSpPr txBox="1"/>
          <p:nvPr/>
        </p:nvSpPr>
        <p:spPr>
          <a:xfrm>
            <a:off x="5334000" y="438658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人出结论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5" name="圆角矩形 494"/>
          <p:cNvSpPr/>
          <p:nvPr/>
        </p:nvSpPr>
        <p:spPr>
          <a:xfrm>
            <a:off x="5200650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6" name="文本框 495" descr="{&quot;isTemplate&quot;:true,&quot;type&quot;:&quot;text&quot;}"/>
          <p:cNvSpPr txBox="1"/>
          <p:nvPr/>
        </p:nvSpPr>
        <p:spPr>
          <a:xfrm>
            <a:off x="5314950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设计负责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97" name="图片 49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53250" y="3562350"/>
            <a:ext cx="171450" cy="171450"/>
          </a:xfrm>
          <a:prstGeom prst="rect">
            <a:avLst/>
          </a:prstGeom>
        </p:spPr>
      </p:pic>
      <p:sp>
        <p:nvSpPr>
          <p:cNvPr id="498" name="圆角矩形 497"/>
          <p:cNvSpPr/>
          <p:nvPr/>
        </p:nvSpPr>
        <p:spPr>
          <a:xfrm>
            <a:off x="7181850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99" name="圆角矩形 498"/>
          <p:cNvSpPr/>
          <p:nvPr/>
        </p:nvSpPr>
        <p:spPr>
          <a:xfrm>
            <a:off x="737235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500" name="文本框 499" descr="{&quot;isTemplate&quot;:true,&quot;type&quot;:&quot;text&quot;}"/>
          <p:cNvSpPr txBox="1"/>
          <p:nvPr/>
        </p:nvSpPr>
        <p:spPr>
          <a:xfrm>
            <a:off x="748665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04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501" name="文本框 500" descr="{&quot;isTemplate&quot;:true,&quot;type&quot;:&quot;text&quot;}"/>
          <p:cNvSpPr txBox="1"/>
          <p:nvPr/>
        </p:nvSpPr>
        <p:spPr>
          <a:xfrm>
            <a:off x="7372350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安全许可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02" name="矩形 501"/>
          <p:cNvSpPr/>
          <p:nvPr/>
        </p:nvSpPr>
        <p:spPr>
          <a:xfrm>
            <a:off x="737235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03" name="文本框 502" descr="{&quot;isTemplate&quot;:true,&quot;type&quot;:&quot;text&quot;}"/>
          <p:cNvSpPr txBox="1"/>
          <p:nvPr/>
        </p:nvSpPr>
        <p:spPr>
          <a:xfrm>
            <a:off x="7372350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现场负责人作许可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04" name="圆角矩形 503"/>
          <p:cNvSpPr/>
          <p:nvPr/>
        </p:nvSpPr>
        <p:spPr>
          <a:xfrm>
            <a:off x="7372350" y="386334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5" name="文本框 504" descr="{&quot;isTemplate&quot;:true,&quot;type&quot;:&quot;text&quot;}"/>
          <p:cNvSpPr txBox="1"/>
          <p:nvPr/>
        </p:nvSpPr>
        <p:spPr>
          <a:xfrm>
            <a:off x="7505700" y="380619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现场负责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06" name="圆角矩形 505"/>
          <p:cNvSpPr/>
          <p:nvPr/>
        </p:nvSpPr>
        <p:spPr>
          <a:xfrm>
            <a:off x="7372350" y="413956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7" name="文本框 506" descr="{&quot;isTemplate&quot;:true,&quot;type&quot;:&quot;text&quot;}"/>
          <p:cNvSpPr txBox="1"/>
          <p:nvPr/>
        </p:nvSpPr>
        <p:spPr>
          <a:xfrm>
            <a:off x="7505700" y="408241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现场放行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08" name="圆角矩形 507"/>
          <p:cNvSpPr/>
          <p:nvPr/>
        </p:nvSpPr>
        <p:spPr>
          <a:xfrm>
            <a:off x="7372350" y="441579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9" name="文本框 508" descr="{&quot;isTemplate&quot;:true,&quot;type&quot;:&quot;text&quot;}"/>
          <p:cNvSpPr txBox="1"/>
          <p:nvPr/>
        </p:nvSpPr>
        <p:spPr>
          <a:xfrm>
            <a:off x="7505700" y="435864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许可在人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10" name="圆角矩形 509"/>
          <p:cNvSpPr/>
          <p:nvPr/>
        </p:nvSpPr>
        <p:spPr>
          <a:xfrm>
            <a:off x="7372350" y="5419725"/>
            <a:ext cx="1057275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1" name="文本框 510" descr="{&quot;isTemplate&quot;:true,&quot;type&quot;:&quot;text&quot;}"/>
          <p:cNvSpPr txBox="1"/>
          <p:nvPr/>
        </p:nvSpPr>
        <p:spPr>
          <a:xfrm>
            <a:off x="7486650" y="5467350"/>
            <a:ext cx="8286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人签字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512" name="图片 51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15425" y="3562350"/>
            <a:ext cx="171450" cy="171450"/>
          </a:xfrm>
          <a:prstGeom prst="rect">
            <a:avLst/>
          </a:prstGeom>
        </p:spPr>
      </p:pic>
      <p:sp>
        <p:nvSpPr>
          <p:cNvPr id="513" name="圆角矩形 512"/>
          <p:cNvSpPr/>
          <p:nvPr/>
        </p:nvSpPr>
        <p:spPr>
          <a:xfrm>
            <a:off x="9344025" y="1428750"/>
            <a:ext cx="2162175" cy="4438650"/>
          </a:xfrm>
          <a:prstGeom prst="roundRect">
            <a:avLst>
              <a:gd name="adj" fmla="val 616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14" name="圆角矩形 513"/>
          <p:cNvSpPr/>
          <p:nvPr/>
        </p:nvSpPr>
        <p:spPr>
          <a:xfrm>
            <a:off x="9534525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515" name="文本框 514" descr="{&quot;isTemplate&quot;:true,&quot;type&quot;:&quot;text&quot;}"/>
          <p:cNvSpPr txBox="1"/>
          <p:nvPr/>
        </p:nvSpPr>
        <p:spPr>
          <a:xfrm>
            <a:off x="9648825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05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516" name="文本框 515" descr="{&quot;isTemplate&quot;:true,&quot;type&quot;:&quot;text&quot;}"/>
          <p:cNvSpPr txBox="1"/>
          <p:nvPr/>
        </p:nvSpPr>
        <p:spPr>
          <a:xfrm>
            <a:off x="9534525" y="2247900"/>
            <a:ext cx="17811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对外口径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17" name="矩形 516"/>
          <p:cNvSpPr/>
          <p:nvPr/>
        </p:nvSpPr>
        <p:spPr>
          <a:xfrm>
            <a:off x="9534525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18" name="文本框 517" descr="{&quot;isTemplate&quot;:true,&quot;type&quot;:&quot;text&quot;}"/>
          <p:cNvSpPr txBox="1"/>
          <p:nvPr/>
        </p:nvSpPr>
        <p:spPr>
          <a:xfrm>
            <a:off x="9534525" y="2724150"/>
            <a:ext cx="178117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对外表述由人定稿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19" name="圆角矩形 518"/>
          <p:cNvSpPr/>
          <p:nvPr/>
        </p:nvSpPr>
        <p:spPr>
          <a:xfrm>
            <a:off x="9534525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0" name="文本框 519" descr="{&quot;isTemplate&quot;:true,&quot;type&quot;:&quot;text&quot;}"/>
          <p:cNvSpPr txBox="1"/>
          <p:nvPr/>
        </p:nvSpPr>
        <p:spPr>
          <a:xfrm>
            <a:off x="9667875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报价终稿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1" name="圆角矩形 520"/>
          <p:cNvSpPr/>
          <p:nvPr/>
        </p:nvSpPr>
        <p:spPr>
          <a:xfrm>
            <a:off x="9534525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2" name="文本框 521" descr="{&quot;isTemplate&quot;:true,&quot;type&quot;:&quot;text&quot;}"/>
          <p:cNvSpPr txBox="1"/>
          <p:nvPr/>
        </p:nvSpPr>
        <p:spPr>
          <a:xfrm>
            <a:off x="9667875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法律终稿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3" name="圆角矩形 522"/>
          <p:cNvSpPr/>
          <p:nvPr/>
        </p:nvSpPr>
        <p:spPr>
          <a:xfrm>
            <a:off x="9534525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4" name="文本框 523" descr="{&quot;isTemplate&quot;:true,&quot;type&quot;:&quot;text&quot;}"/>
          <p:cNvSpPr txBox="1"/>
          <p:nvPr/>
        </p:nvSpPr>
        <p:spPr>
          <a:xfrm>
            <a:off x="9667875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对外口径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5" name="圆角矩形 524"/>
          <p:cNvSpPr/>
          <p:nvPr/>
        </p:nvSpPr>
        <p:spPr>
          <a:xfrm>
            <a:off x="9534525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6" name="文本框 525" descr="{&quot;isTemplate&quot;:true,&quot;type&quot;:&quot;text&quot;}"/>
          <p:cNvSpPr txBox="1"/>
          <p:nvPr/>
        </p:nvSpPr>
        <p:spPr>
          <a:xfrm>
            <a:off x="9648825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人定稿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27" name="任意多边形 526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528" name="文本框 527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529" name="文本框 528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09 / 16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5" name="" descr="// B · 08 内容页 · 服务流程 — 五步（玻璃卡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380, top: 160, width: 560, height: 380, borderRadius: 280, background: 'radial-gradient(circle, rgba(91,200,200,0.10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服务流程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HOW WE WORK&lt;/Text&gt;&#10;        &lt;Box style={{ flex: 1 }} /&gt;&#10;        &lt;Text style={{ fontSize: 14, color: '#8FA6BC' }}&gt;五步走完一个完整项目周期&lt;/Text&gt;&#10;    &lt;/Box&gt;&#10;&#10;    {/* B · 内容区 */}&#10;    &lt;Box style={{ flex: 1, flexDirection: 'row', alignItems: 'stretch', paddingTop: 30, paddingBottom: 24 }}&gt;&#10;        {[&#10;            { no: '01', t: '业务诊断', d: '访谈与数据盘点，定位销售体系的真实瓶颈。', pts: ['高层访谈', '数据盘点', '瓶颈清单'], cycle: '2 周' },&#10;            { no: '02', t: '蓝图设计', d: '输出智能化蓝图与分阶段落地路线图。', pts: ['目标定义', '里程碑拆解', '资源规划'], cycle: '3 周' },&#10;            { no: '03', t: '知识萃取', d: '沉淀结构化语料库与场景化训练素材。', pts: ['场景梳理', '语料打标', '案例沉淀'], cycle: '3 周' },&#10;            { no: '04', t: '系统落地', d: '智能中台搭建与关键销售流程线上化。', pts: ['流程上线', '数据打通', '角色培训'], cycle: '4 – 8 周' },&#10;            { no: '05', t: '陪跑运营', d: '复盘教练与持续迭代，形成组织能力。', pts: ['商机复盘', '指标跟踪', '迭代机制'], cycle: '持续' }&#10;        ].map((s, idx) =&gt; (&#10;            &lt;Box key={idx} style={{ flex: 1, flexDirection: 'row', alignItems: 'stretch' }}&gt;&#10;                &lt;Box style={{ flex: 1, flexDirection: 'column', background: 'rgba(255,255,255,0.045)', border: '1px solid rgba(143,216,232,0.18)', borderRadius: 14, padding: '24px 20px 22px', boxShadow: '0 10px 34px rgba(0,0,0,0.36)' }}&gt;&#10;                    &lt;Box style={{ width: 44, height: 44, borderRadius: 22, background: 'linear-gradient(135deg, #8FD8E8 0%, #3FA8BF 100%)', justifyContent: 'center', alignItems: 'center', boxShadow: '0 6px 18px rgba(91,200,200,0.32)' }}&gt;&#10;                        &lt;Text style={{ fontSize: 18, fontWeight: 'bold', color: '#081322', fontFamily: '&quot;Inter&quot;,&quot;Helvetica Neue&quot;,Arial,sans-serif' }}&gt;{s.no}&lt;/Text&gt;&#10;                    &lt;/Box&gt;&#10;                    &lt;Text style={{ fontSize: 20, fontWeight: 'bold', color: '#EAF2F8', marginTop: 18, letterSpacing: -0.3 }}&gt;{s.t}&lt;/Text&gt;&#10;                    &lt;Box style={{ width: 26, height: 2, background: 'rgba(143,216,232,0.35)', marginTop: 12 }} /&gt;&#10;                    &lt;Text style={{ fontSize: 15, color: '#9FB4C6', lineHeight: 1.85, marginTop: 12 }}&gt;{s.d}&lt;/Text&gt;&#10;                    &lt;Box style={{ flexDirection: 'column', gap: 12, marginTop: 18 }}&gt;&#10;                        {s.pts.map((p, i) =&gt; (&#10;                            &lt;Box key={i} style={{ flexDirection: 'row', alignItems: 'center', gap: 9 }}&gt;&#10;                                &lt;Box style={{ width: 5, height: 5, borderRadius: 2.5, background: '#5BC8C8' }} /&gt;&#10;                                &lt;Text style={{ fontSize: 14, color: '#B9CBDA' }}&gt;{p}&lt;/Text&gt;&#10;                            &lt;/Box&gt;&#10;                        ))}&#10;                    &lt;/Box&gt;&#10;                    &lt;Box style={{ marginTop: 'auto', flexDirection: 'row', paddingTop: 18 }}&gt;&#10;                        &lt;Box style={{ padding: '5px 12px', borderRadius: 999, background: 'rgba(91,200,200,0.09)', border: '1px solid rgba(143,216,232,0.24)' }}&gt;&#10;                            &lt;Text style={{ fontSize: 12, color: '#8FD8E8' }}&gt;周期 · {s.cycle}&lt;/Text&gt;&#10;                        &lt;/Box&gt;&#10;                    &lt;/Box&gt;&#10;                &lt;/Box&gt;&#10;                {idx &lt; 4 &amp;&amp; (&#10;                    &lt;Box style={{ width: 30, justifyContent: 'center', alignItems: 'center' }}&gt;&#10;                        &lt;FAIcon name='chevron-right' style={{ fill: 'rgba(143,216,232,0.45)', width: 18, height: 18 }} /&gt;&#10;                    &lt;/Box&gt;&#10;                )}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8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矩形 4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447" name="任意多边形 446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448" name="圆角矩形 447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49" name="文本框 448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如何引用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50" name="矩形 449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451" name="文本框 450" descr="{&quot;isTemplate&quot;:true,&quot;type&quot;:&quot;text&quot;}"/>
          <p:cNvSpPr txBox="1"/>
          <p:nvPr/>
        </p:nvSpPr>
        <p:spPr>
          <a:xfrm>
            <a:off x="2381250" y="590550"/>
            <a:ext cx="125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CITE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452" name="文本框 451" descr="{&quot;isTemplate&quot;:true,&quot;type&quot;:&quot;text&quot;}"/>
          <p:cNvSpPr txBox="1"/>
          <p:nvPr/>
        </p:nvSpPr>
        <p:spPr>
          <a:xfrm>
            <a:off x="9906000" y="581025"/>
            <a:ext cx="1600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已发布条款才可被引用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453" name="圆角矩形 452"/>
          <p:cNvSpPr/>
          <p:nvPr/>
        </p:nvSpPr>
        <p:spPr>
          <a:xfrm>
            <a:off x="685800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54" name="圆角矩形 453"/>
          <p:cNvSpPr/>
          <p:nvPr/>
        </p:nvSpPr>
        <p:spPr>
          <a:xfrm>
            <a:off x="87630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55" name="文本框 454" descr="{&quot;isTemplate&quot;:true,&quot;type&quot;:&quot;text&quot;}"/>
          <p:cNvSpPr txBox="1"/>
          <p:nvPr/>
        </p:nvSpPr>
        <p:spPr>
          <a:xfrm>
            <a:off x="99060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01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56" name="文本框 455" descr="{&quot;isTemplate&quot;:true,&quot;type&quot;:&quot;text&quot;}"/>
          <p:cNvSpPr txBox="1"/>
          <p:nvPr/>
        </p:nvSpPr>
        <p:spPr>
          <a:xfrm>
            <a:off x="876300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条款单位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57" name="矩形 456"/>
          <p:cNvSpPr/>
          <p:nvPr/>
        </p:nvSpPr>
        <p:spPr>
          <a:xfrm>
            <a:off x="87630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58" name="文本框 457" descr="{&quot;isTemplate&quot;:true,&quot;type&quot;:&quot;text&quot;}"/>
          <p:cNvSpPr txBox="1"/>
          <p:nvPr/>
        </p:nvSpPr>
        <p:spPr>
          <a:xfrm>
            <a:off x="876300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有效条款为检索单位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59" name="圆角矩形 458"/>
          <p:cNvSpPr/>
          <p:nvPr/>
        </p:nvSpPr>
        <p:spPr>
          <a:xfrm>
            <a:off x="876300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0" name="文本框 459" descr="{&quot;isTemplate&quot;:true,&quot;type&quot;:&quot;text&quot;}"/>
          <p:cNvSpPr txBox="1"/>
          <p:nvPr/>
        </p:nvSpPr>
        <p:spPr>
          <a:xfrm>
            <a:off x="1009650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标准号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1" name="圆角矩形 460"/>
          <p:cNvSpPr/>
          <p:nvPr/>
        </p:nvSpPr>
        <p:spPr>
          <a:xfrm>
            <a:off x="876300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2" name="文本框 461" descr="{&quot;isTemplate&quot;:true,&quot;type&quot;:&quot;text&quot;}"/>
          <p:cNvSpPr txBox="1"/>
          <p:nvPr/>
        </p:nvSpPr>
        <p:spPr>
          <a:xfrm>
            <a:off x="1009650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条款号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3" name="圆角矩形 462"/>
          <p:cNvSpPr/>
          <p:nvPr/>
        </p:nvSpPr>
        <p:spPr>
          <a:xfrm>
            <a:off x="876300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4" name="文本框 463" descr="{&quot;isTemplate&quot;:true,&quot;type&quot;:&quot;text&quot;}"/>
          <p:cNvSpPr txBox="1"/>
          <p:nvPr/>
        </p:nvSpPr>
        <p:spPr>
          <a:xfrm>
            <a:off x="1009650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版本号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5" name="圆角矩形 464"/>
          <p:cNvSpPr/>
          <p:nvPr/>
        </p:nvSpPr>
        <p:spPr>
          <a:xfrm>
            <a:off x="876300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6" name="文本框 465" descr="{&quot;isTemplate&quot;:true,&quot;type&quot;:&quot;text&quot;}"/>
          <p:cNvSpPr txBox="1"/>
          <p:nvPr/>
        </p:nvSpPr>
        <p:spPr>
          <a:xfrm>
            <a:off x="990600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适用范围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67" name="图片 46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9375" y="3562350"/>
            <a:ext cx="171450" cy="171450"/>
          </a:xfrm>
          <a:prstGeom prst="rect">
            <a:avLst/>
          </a:prstGeom>
        </p:spPr>
      </p:pic>
      <p:sp>
        <p:nvSpPr>
          <p:cNvPr id="468" name="圆角矩形 467"/>
          <p:cNvSpPr/>
          <p:nvPr/>
        </p:nvSpPr>
        <p:spPr>
          <a:xfrm>
            <a:off x="2847975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69" name="圆角矩形 468"/>
          <p:cNvSpPr/>
          <p:nvPr/>
        </p:nvSpPr>
        <p:spPr>
          <a:xfrm>
            <a:off x="3038475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3152775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02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71" name="文本框 470" descr="{&quot;isTemplate&quot;:true,&quot;type&quot;:&quot;text&quot;}"/>
          <p:cNvSpPr txBox="1"/>
          <p:nvPr/>
        </p:nvSpPr>
        <p:spPr>
          <a:xfrm>
            <a:off x="3038475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原件留档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72" name="矩形 471"/>
          <p:cNvSpPr/>
          <p:nvPr/>
        </p:nvSpPr>
        <p:spPr>
          <a:xfrm>
            <a:off x="3038475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73" name="文本框 472" descr="{&quot;isTemplate&quot;:true,&quot;type&quot;:&quot;text&quot;}"/>
          <p:cNvSpPr txBox="1"/>
          <p:nvPr/>
        </p:nvSpPr>
        <p:spPr>
          <a:xfrm>
            <a:off x="3038475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原件归档不作依据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74" name="圆角矩形 473"/>
          <p:cNvSpPr/>
          <p:nvPr/>
        </p:nvSpPr>
        <p:spPr>
          <a:xfrm>
            <a:off x="3038475" y="39052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5" name="文本框 474" descr="{&quot;isTemplate&quot;:true,&quot;type&quot;:&quot;text&quot;}"/>
          <p:cNvSpPr txBox="1"/>
          <p:nvPr/>
        </p:nvSpPr>
        <p:spPr>
          <a:xfrm>
            <a:off x="3171825" y="38481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标准文本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76" name="圆角矩形 475"/>
          <p:cNvSpPr/>
          <p:nvPr/>
        </p:nvSpPr>
        <p:spPr>
          <a:xfrm>
            <a:off x="3038475" y="41814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7" name="文本框 476" descr="{&quot;isTemplate&quot;:true,&quot;type&quot;:&quot;text&quot;}"/>
          <p:cNvSpPr txBox="1"/>
          <p:nvPr/>
        </p:nvSpPr>
        <p:spPr>
          <a:xfrm>
            <a:off x="3171825" y="4124325"/>
            <a:ext cx="666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版本留存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78" name="圆角矩形 477"/>
          <p:cNvSpPr/>
          <p:nvPr/>
        </p:nvSpPr>
        <p:spPr>
          <a:xfrm>
            <a:off x="3038475" y="445770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9" name="文本框 478" descr="{&quot;isTemplate&quot;:true,&quot;type&quot;:&quot;text&quot;}"/>
          <p:cNvSpPr txBox="1"/>
          <p:nvPr/>
        </p:nvSpPr>
        <p:spPr>
          <a:xfrm>
            <a:off x="3171825" y="440055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不作引用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80" name="圆角矩形 479"/>
          <p:cNvSpPr/>
          <p:nvPr/>
        </p:nvSpPr>
        <p:spPr>
          <a:xfrm>
            <a:off x="3038475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1" name="文本框 480" descr="{&quot;isTemplate&quot;:true,&quot;type&quot;:&quot;text&quot;}"/>
          <p:cNvSpPr txBox="1"/>
          <p:nvPr/>
        </p:nvSpPr>
        <p:spPr>
          <a:xfrm>
            <a:off x="3152775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留作底稿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82" name="图片 48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1550" y="3562350"/>
            <a:ext cx="171450" cy="171450"/>
          </a:xfrm>
          <a:prstGeom prst="rect">
            <a:avLst/>
          </a:prstGeom>
        </p:spPr>
      </p:pic>
      <p:sp>
        <p:nvSpPr>
          <p:cNvPr id="483" name="圆角矩形 482"/>
          <p:cNvSpPr/>
          <p:nvPr/>
        </p:nvSpPr>
        <p:spPr>
          <a:xfrm>
            <a:off x="5010150" y="1428750"/>
            <a:ext cx="1885950" cy="4438650"/>
          </a:xfrm>
          <a:prstGeom prst="roundRect">
            <a:avLst>
              <a:gd name="adj" fmla="val 7071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84" name="圆角矩形 483"/>
          <p:cNvSpPr/>
          <p:nvPr/>
        </p:nvSpPr>
        <p:spPr>
          <a:xfrm>
            <a:off x="520065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85" name="文本框 484" descr="{&quot;isTemplate&quot;:true,&quot;type&quot;:&quot;text&quot;}"/>
          <p:cNvSpPr txBox="1"/>
          <p:nvPr/>
        </p:nvSpPr>
        <p:spPr>
          <a:xfrm>
            <a:off x="531495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03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86" name="文本框 485" descr="{&quot;isTemplate&quot;:true,&quot;type&quot;:&quot;text&quot;}"/>
          <p:cNvSpPr txBox="1"/>
          <p:nvPr/>
        </p:nvSpPr>
        <p:spPr>
          <a:xfrm>
            <a:off x="5200650" y="2247900"/>
            <a:ext cx="15049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先出草稿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87" name="矩形 486"/>
          <p:cNvSpPr/>
          <p:nvPr/>
        </p:nvSpPr>
        <p:spPr>
          <a:xfrm>
            <a:off x="520065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88" name="文本框 487" descr="{&quot;isTemplate&quot;:true,&quot;type&quot;:&quot;text&quot;}"/>
          <p:cNvSpPr txBox="1"/>
          <p:nvPr/>
        </p:nvSpPr>
        <p:spPr>
          <a:xfrm>
            <a:off x="5200650" y="2724150"/>
            <a:ext cx="150495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发布前草稿不召回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89" name="圆角矩形 488"/>
          <p:cNvSpPr/>
          <p:nvPr/>
        </p:nvSpPr>
        <p:spPr>
          <a:xfrm>
            <a:off x="5200650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0" name="文本框 489" descr="{&quot;isTemplate&quot;:true,&quot;type&quot;:&quot;text&quot;}"/>
          <p:cNvSpPr txBox="1"/>
          <p:nvPr/>
        </p:nvSpPr>
        <p:spPr>
          <a:xfrm>
            <a:off x="5334000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系统起草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1" name="圆角矩形 490"/>
          <p:cNvSpPr/>
          <p:nvPr/>
        </p:nvSpPr>
        <p:spPr>
          <a:xfrm>
            <a:off x="5200650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2" name="文本框 491" descr="{&quot;isTemplate&quot;:true,&quot;type&quot;:&quot;text&quot;}"/>
          <p:cNvSpPr txBox="1"/>
          <p:nvPr/>
        </p:nvSpPr>
        <p:spPr>
          <a:xfrm>
            <a:off x="5334000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责任人核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3" name="圆角矩形 492"/>
          <p:cNvSpPr/>
          <p:nvPr/>
        </p:nvSpPr>
        <p:spPr>
          <a:xfrm>
            <a:off x="5200650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4" name="文本框 493" descr="{&quot;isTemplate&quot;:true,&quot;type&quot;:&quot;text&quot;}"/>
          <p:cNvSpPr txBox="1"/>
          <p:nvPr/>
        </p:nvSpPr>
        <p:spPr>
          <a:xfrm>
            <a:off x="5334000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待发布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5" name="圆角矩形 494"/>
          <p:cNvSpPr/>
          <p:nvPr/>
        </p:nvSpPr>
        <p:spPr>
          <a:xfrm>
            <a:off x="5200650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6" name="文本框 495" descr="{&quot;isTemplate&quot;:true,&quot;type&quot;:&quot;text&quot;}"/>
          <p:cNvSpPr txBox="1"/>
          <p:nvPr/>
        </p:nvSpPr>
        <p:spPr>
          <a:xfrm>
            <a:off x="5314950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草稿隔离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97" name="图片 49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53250" y="3562350"/>
            <a:ext cx="171450" cy="171450"/>
          </a:xfrm>
          <a:prstGeom prst="rect">
            <a:avLst/>
          </a:prstGeom>
        </p:spPr>
      </p:pic>
      <p:sp>
        <p:nvSpPr>
          <p:cNvPr id="498" name="圆角矩形 497"/>
          <p:cNvSpPr/>
          <p:nvPr/>
        </p:nvSpPr>
        <p:spPr>
          <a:xfrm>
            <a:off x="7181850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99" name="圆角矩形 498"/>
          <p:cNvSpPr/>
          <p:nvPr/>
        </p:nvSpPr>
        <p:spPr>
          <a:xfrm>
            <a:off x="737235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500" name="文本框 499" descr="{&quot;isTemplate&quot;:true,&quot;type&quot;:&quot;text&quot;}"/>
          <p:cNvSpPr txBox="1"/>
          <p:nvPr/>
        </p:nvSpPr>
        <p:spPr>
          <a:xfrm>
            <a:off x="748665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04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501" name="文本框 500" descr="{&quot;isTemplate&quot;:true,&quot;type&quot;:&quot;text&quot;}"/>
          <p:cNvSpPr txBox="1"/>
          <p:nvPr/>
        </p:nvSpPr>
        <p:spPr>
          <a:xfrm>
            <a:off x="7372350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发布退役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02" name="矩形 501"/>
          <p:cNvSpPr/>
          <p:nvPr/>
        </p:nvSpPr>
        <p:spPr>
          <a:xfrm>
            <a:off x="737235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03" name="文本框 502" descr="{&quot;isTemplate&quot;:true,&quot;type&quot;:&quot;text&quot;}"/>
          <p:cNvSpPr txBox="1"/>
          <p:nvPr/>
        </p:nvSpPr>
        <p:spPr>
          <a:xfrm>
            <a:off x="7372350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发新条，旧条留档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04" name="圆角矩形 503"/>
          <p:cNvSpPr/>
          <p:nvPr/>
        </p:nvSpPr>
        <p:spPr>
          <a:xfrm>
            <a:off x="7372350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5" name="文本框 504" descr="{&quot;isTemplate&quot;:true,&quot;type&quot;:&quot;text&quot;}"/>
          <p:cNvSpPr txBox="1"/>
          <p:nvPr/>
        </p:nvSpPr>
        <p:spPr>
          <a:xfrm>
            <a:off x="7505700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发布新条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06" name="圆角矩形 505"/>
          <p:cNvSpPr/>
          <p:nvPr/>
        </p:nvSpPr>
        <p:spPr>
          <a:xfrm>
            <a:off x="7372350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7" name="文本框 506" descr="{&quot;isTemplate&quot;:true,&quot;type&quot;:&quot;text&quot;}"/>
          <p:cNvSpPr txBox="1"/>
          <p:nvPr/>
        </p:nvSpPr>
        <p:spPr>
          <a:xfrm>
            <a:off x="7505700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退役旧条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08" name="圆角矩形 507"/>
          <p:cNvSpPr/>
          <p:nvPr/>
        </p:nvSpPr>
        <p:spPr>
          <a:xfrm>
            <a:off x="7372350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9" name="文本框 508" descr="{&quot;isTemplate&quot;:true,&quot;type&quot;:&quot;text&quot;}"/>
          <p:cNvSpPr txBox="1"/>
          <p:nvPr/>
        </p:nvSpPr>
        <p:spPr>
          <a:xfrm>
            <a:off x="7505700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旧条留档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10" name="圆角矩形 509"/>
          <p:cNvSpPr/>
          <p:nvPr/>
        </p:nvSpPr>
        <p:spPr>
          <a:xfrm>
            <a:off x="7372350" y="5419725"/>
            <a:ext cx="1057275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1" name="文本框 510" descr="{&quot;isTemplate&quot;:true,&quot;type&quot;:&quot;text&quot;}"/>
          <p:cNvSpPr txBox="1"/>
          <p:nvPr/>
        </p:nvSpPr>
        <p:spPr>
          <a:xfrm>
            <a:off x="7486650" y="5467350"/>
            <a:ext cx="8286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发布可查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512" name="图片 51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15425" y="3562350"/>
            <a:ext cx="171450" cy="171450"/>
          </a:xfrm>
          <a:prstGeom prst="rect">
            <a:avLst/>
          </a:prstGeom>
        </p:spPr>
      </p:pic>
      <p:sp>
        <p:nvSpPr>
          <p:cNvPr id="513" name="圆角矩形 512"/>
          <p:cNvSpPr/>
          <p:nvPr/>
        </p:nvSpPr>
        <p:spPr>
          <a:xfrm>
            <a:off x="9344025" y="1428750"/>
            <a:ext cx="2162175" cy="4438650"/>
          </a:xfrm>
          <a:prstGeom prst="roundRect">
            <a:avLst>
              <a:gd name="adj" fmla="val 616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14" name="圆角矩形 513"/>
          <p:cNvSpPr/>
          <p:nvPr/>
        </p:nvSpPr>
        <p:spPr>
          <a:xfrm>
            <a:off x="9534525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515" name="文本框 514" descr="{&quot;isTemplate&quot;:true,&quot;type&quot;:&quot;text&quot;}"/>
          <p:cNvSpPr txBox="1"/>
          <p:nvPr/>
        </p:nvSpPr>
        <p:spPr>
          <a:xfrm>
            <a:off x="9648825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05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516" name="文本框 515" descr="{&quot;isTemplate&quot;:true,&quot;type&quot;:&quot;text&quot;}"/>
          <p:cNvSpPr txBox="1"/>
          <p:nvPr/>
        </p:nvSpPr>
        <p:spPr>
          <a:xfrm>
            <a:off x="9534525" y="2247900"/>
            <a:ext cx="17811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未命中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17" name="矩形 516"/>
          <p:cNvSpPr/>
          <p:nvPr/>
        </p:nvSpPr>
        <p:spPr>
          <a:xfrm>
            <a:off x="9534525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18" name="文本框 517" descr="{&quot;isTemplate&quot;:true,&quot;type&quot;:&quot;text&quot;}"/>
          <p:cNvSpPr txBox="1"/>
          <p:nvPr/>
        </p:nvSpPr>
        <p:spPr>
          <a:xfrm>
            <a:off x="9534525" y="2724150"/>
            <a:ext cx="178117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未达条件即为未覆盖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19" name="圆角矩形 518"/>
          <p:cNvSpPr/>
          <p:nvPr/>
        </p:nvSpPr>
        <p:spPr>
          <a:xfrm>
            <a:off x="9534525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0" name="文本框 519" descr="{&quot;isTemplate&quot;:true,&quot;type&quot;:&quot;text&quot;}"/>
          <p:cNvSpPr txBox="1"/>
          <p:nvPr/>
        </p:nvSpPr>
        <p:spPr>
          <a:xfrm>
            <a:off x="9667875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未覆盖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1" name="圆角矩形 520"/>
          <p:cNvSpPr/>
          <p:nvPr/>
        </p:nvSpPr>
        <p:spPr>
          <a:xfrm>
            <a:off x="9534525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2" name="文本框 521" descr="{&quot;isTemplate&quot;:true,&quot;type&quot;:&quot;text&quot;}"/>
          <p:cNvSpPr txBox="1"/>
          <p:nvPr/>
        </p:nvSpPr>
        <p:spPr>
          <a:xfrm>
            <a:off x="9667875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不取文首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3" name="圆角矩形 522"/>
          <p:cNvSpPr/>
          <p:nvPr/>
        </p:nvSpPr>
        <p:spPr>
          <a:xfrm>
            <a:off x="9534525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4" name="文本框 523" descr="{&quot;isTemplate&quot;:true,&quot;type&quot;:&quot;text&quot;}"/>
          <p:cNvSpPr txBox="1"/>
          <p:nvPr/>
        </p:nvSpPr>
        <p:spPr>
          <a:xfrm>
            <a:off x="9667875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不造依据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5" name="圆角矩形 524"/>
          <p:cNvSpPr/>
          <p:nvPr/>
        </p:nvSpPr>
        <p:spPr>
          <a:xfrm>
            <a:off x="9534525" y="5419725"/>
            <a:ext cx="995045" cy="238760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6" name="文本框 525" descr="{&quot;isTemplate&quot;:true,&quot;type&quot;:&quot;text&quot;}"/>
          <p:cNvSpPr txBox="1"/>
          <p:nvPr/>
        </p:nvSpPr>
        <p:spPr>
          <a:xfrm>
            <a:off x="9648825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人工复核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27" name="任意多边形 526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528" name="文本框 527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529" name="文本框 528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10 / 16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1" name="" descr="// B · 09 内容页 · 三卡片 — 业务范围（玻璃卡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420, top: 120, width: 520, height: 380, borderRadius: 260, background: 'radial-gradient(circle, rgba(91,200,200,0.10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业务范围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BUSINESS SCOPE&lt;/Text&gt;&#10;        &lt;Box style={{ flex: 1 }} /&gt;&#10;        &lt;Text style={{ fontSize: 14, color: '#8FA6BC' }}&gt;三大板块，覆盖销售管理全链路&lt;/Text&gt;&#10;    &lt;/Box&gt;&#10;&#10;    {/* B · 内容区 */}&#10;    &lt;Box style={{ flex: 1, flexDirection: 'row', gap: 24, paddingTop: 34, paddingBottom: 30 }}&gt;&#10;        {[&#10;            { no: '01', title: '管理咨询', en: 'CONSULTING', desc: '以 PPABC 销售管理体系为主线，完成从市场规划、客户规划到商机规划与达标策略的全链路设计，让目标有清晰的组织承接。', pts: ['市场 · 客户 · 商机三层规划', '销售流程与制度重构', '目标分解与达标策略'], tags: ['销售体系设计', '流程重构', '组织赋能'] },&#10;            { no: '02', title: '销售智能化', en: 'AI ENABLEMENT', desc: '把 LTC 流程、知识与 AI 能力打通，让销售动作可沉淀、可复制、可度量，最终形成企业自己的销售资产。', pts: ['结构化语料库与知识萃取', '智能中台与 Skills 编排', '业务数据双向闭环'], tags: ['智能中台', '知识萃取', '数据闭环'] },&#10;            { no: '03', title: '培训与陪跑', en: 'TRAINING', desc: '从方法论讲授到一线陪跑，用真实商机做复盘与教练式辅导，把方法论变成团队肌肉记忆。', pts: ['方法论分层课程体系', '真实商机复盘与教练', '行为改变跟踪与反馈'], tags: ['实战训练', '商机复盘', '教练辅导'] }&#10;        ].map((c, idx) =&gt; (&#10;            &lt;Box key={idx} style={{ flex: 1, flexDirection: 'column', background: 'rgba(255,255,255,0.045)', border: '1px solid rgba(143,216,232,0.18)', borderRadius: 14, overflow: 'hidden', boxShadow: '0 10px 34px rgba(0,0,0,0.36)' }}&gt;&#10;                &lt;Box style={{ height: 3, width: '100%', background: 'linear-gradient(90deg, #8FD8E8 0%, #3FA8BF 100%)' }} /&gt;&#10;                &lt;Box style={{ flex: 1, flexDirection: 'column', padding: '24px 24px 20px' }}&gt;&#10;                    &lt;Box style={{ flexDirection: 'row', alignItems: 'baseline', gap: 12 }}&gt;&#10;                        &lt;Text style={{ fontSize: 30, fontWeight: 'bold', color: '#5BC8C8', fontFamily: '&quot;Inter&quot;,&quot;Helvetica Neue&quot;,Arial,sans-serif', letterSpacing: -1 }}&gt;{c.no}&lt;/Text&gt;&#10;                        &lt;Text style={{ fontSize: 24, fontWeight: 'bold', color: '#EAF2F8', letterSpacing: -0.3 }}&gt;{c.title}&lt;/Text&gt;&#10;                    &lt;/Box&gt;&#10;                    &lt;Text style={{ fontSize: 11, color: '#5E7590', letterSpacing: 2.5, marginTop: 8, fontFamily: '&quot;Inter&quot;,&quot;Helvetica Neue&quot;,Arial,sans-serif' }}&gt;{c.en}&lt;/Text&gt;&#10;                    &lt;Box style={{ width: 32, height: 2, background: 'rgba(143,216,232,0.35)', marginTop: 14 }} /&gt;&#10;                    &lt;Text style={{ fontSize: 16, color: '#9FB4C6', lineHeight: 1.9, marginTop: 14 }}&gt;&#10;                        {c.desc}&#10;                    &lt;/Text&gt;&#10;                    &lt;Box style={{ flexDirection: 'column', gap: 13, marginTop: 20, paddingTop: 18, borderTop: '1px dashed rgba(143,216,232,0.18)' }}&gt;&#10;                        {c.pts.map((p, i) =&gt; (&#10;                            &lt;Box key={i} style={{ flexDirection: 'row', alignItems: 'center', gap: 10 }}&gt;&#10;                                &lt;Box style={{ width: 6, height: 6, borderRadius: 3, background: '#5BC8C8' }} /&gt;&#10;                                &lt;Text style={{ fontSize: 15, color: '#B9CBDA' }}&gt;{p}&lt;/Text&gt;&#10;                            &lt;/Box&gt;&#10;                        ))}&#10;                    &lt;/Box&gt;&#10;                    &lt;Box style={{ marginTop: 'auto', flexDirection: 'row', flexWrap: 'wrap', gap: 8, paddingTop: 16 }}&gt;&#10;                        {c.tags.map((t, i) =&gt; (&#10;                            &lt;Box key={i} style={{ padding: '5px 11px', borderRadius: 999, background: 'rgba(91,200,200,0.09)', border: '1px solid rgba(143,216,232,0.24)' }}&gt;&#10;                                &lt;Text style={{ fontSize: 12, color: '#8FD8E8' }}&gt;{t}&lt;/Text&gt;&#10;                            &lt;/Box&gt;&#10;                        ))}&#10;                    &lt;/Box&gt;&#10;                &lt;/Box&gt;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9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矩形 5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533" name="任意多边形 532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534" name="圆角矩形 533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35" name="文本框 534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认证应答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36" name="矩形 535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537" name="文本框 536" descr="{&quot;isTemplate&quot;:true,&quot;type&quot;:&quot;text&quot;}"/>
          <p:cNvSpPr txBox="1"/>
          <p:nvPr/>
        </p:nvSpPr>
        <p:spPr>
          <a:xfrm>
            <a:off x="2381250" y="590550"/>
            <a:ext cx="1466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CERT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538" name="文本框 537" descr="{&quot;isTemplate&quot;:true,&quot;type&quot;:&quot;text&quot;}"/>
          <p:cNvSpPr txBox="1"/>
          <p:nvPr/>
        </p:nvSpPr>
        <p:spPr>
          <a:xfrm>
            <a:off x="9639300" y="58102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认证侧先行，投标侧待核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539" name="圆角矩形 538"/>
          <p:cNvSpPr/>
          <p:nvPr/>
        </p:nvSpPr>
        <p:spPr>
          <a:xfrm>
            <a:off x="685800" y="1466850"/>
            <a:ext cx="3457575" cy="4343400"/>
          </a:xfrm>
          <a:prstGeom prst="roundRect">
            <a:avLst>
              <a:gd name="adj" fmla="val 385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40" name="任意多边形 539"/>
          <p:cNvSpPr/>
          <p:nvPr/>
        </p:nvSpPr>
        <p:spPr>
          <a:xfrm>
            <a:off x="685800" y="1466850"/>
            <a:ext cx="3457575" cy="28575"/>
          </a:xfrm>
          <a:custGeom>
            <a:avLst/>
            <a:gdLst/>
            <a:ahLst/>
            <a:cxnLst/>
            <a:pathLst>
              <a:path w="363" h="3">
                <a:moveTo>
                  <a:pt x="349" y="0"/>
                </a:moveTo>
                <a:cubicBezTo>
                  <a:pt x="352" y="0"/>
                  <a:pt x="355" y="1"/>
                  <a:pt x="358" y="3"/>
                </a:cubicBezTo>
                <a:lnTo>
                  <a:pt x="5" y="3"/>
                </a:lnTo>
                <a:cubicBezTo>
                  <a:pt x="8" y="1"/>
                  <a:pt x="11" y="0"/>
                  <a:pt x="14" y="0"/>
                </a:cubicBezTo>
                <a:lnTo>
                  <a:pt x="349" y="0"/>
                </a:lnTo>
                <a:close/>
              </a:path>
            </a:pathLst>
          </a:cu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0" scaled="1"/>
          </a:gradFill>
        </p:spPr>
        <p:txBody>
          <a:bodyPr/>
          <a:p/>
        </p:txBody>
      </p:sp>
      <p:sp>
        <p:nvSpPr>
          <p:cNvPr id="541" name="文本框 540" descr="{&quot;isTemplate&quot;:true,&quot;type&quot;:&quot;text&quot;}"/>
          <p:cNvSpPr txBox="1"/>
          <p:nvPr/>
        </p:nvSpPr>
        <p:spPr>
          <a:xfrm>
            <a:off x="914400" y="1724025"/>
            <a:ext cx="3048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5BC8C8"/>
                </a:solidFill>
                <a:latin typeface="Inter"/>
                <a:ea typeface="Inter"/>
              </a:rPr>
              <a:t>01</a:t>
            </a:r>
            <a:endParaRPr lang="en-US" sz="22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542" name="文本框 541" descr="{&quot;isTemplate&quot;:true,&quot;type&quot;:&quot;text&quot;}"/>
          <p:cNvSpPr txBox="1"/>
          <p:nvPr/>
        </p:nvSpPr>
        <p:spPr>
          <a:xfrm>
            <a:off x="1333500" y="1724025"/>
            <a:ext cx="9048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系统产出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43" name="文本框 542" descr="{&quot;isTemplate&quot;:true,&quot;type&quot;:&quot;text&quot;}"/>
          <p:cNvSpPr txBox="1"/>
          <p:nvPr/>
        </p:nvSpPr>
        <p:spPr>
          <a:xfrm>
            <a:off x="914400" y="2143125"/>
            <a:ext cx="30003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OUTPUT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544" name="矩形 543"/>
          <p:cNvSpPr/>
          <p:nvPr/>
        </p:nvSpPr>
        <p:spPr>
          <a:xfrm>
            <a:off x="914400" y="2409825"/>
            <a:ext cx="30480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45" name="文本框 544" descr="{&quot;isTemplate&quot;:true,&quot;type&quot;:&quot;text&quot;}"/>
          <p:cNvSpPr txBox="1"/>
          <p:nvPr/>
        </p:nvSpPr>
        <p:spPr>
          <a:xfrm>
            <a:off x="914400" y="2562225"/>
            <a:ext cx="3000375" cy="1047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列出条款、证据索引与偏离草稿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46" name="任意多边形 545"/>
          <p:cNvSpPr/>
          <p:nvPr/>
        </p:nvSpPr>
        <p:spPr>
          <a:xfrm>
            <a:off x="914400" y="3800475"/>
            <a:ext cx="3000375" cy="952500"/>
          </a:xfrm>
          <a:custGeom>
            <a:avLst/>
            <a:gdLst/>
            <a:ahLst/>
            <a:cxnLst/>
            <a:pathLst>
              <a:path w="315" h="100">
                <a:moveTo>
                  <a:pt x="0" y="0"/>
                </a:moveTo>
                <a:lnTo>
                  <a:pt x="315" y="0"/>
                </a:lnTo>
                <a:lnTo>
                  <a:pt x="315" y="1"/>
                </a:lnTo>
                <a:lnTo>
                  <a:pt x="0" y="1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sp>
        <p:nvSpPr>
          <p:cNvPr id="547" name="圆角矩形 546"/>
          <p:cNvSpPr/>
          <p:nvPr/>
        </p:nvSpPr>
        <p:spPr>
          <a:xfrm>
            <a:off x="914400" y="4038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48" name="文本框 547" descr="{&quot;isTemplate&quot;:true,&quot;type&quot;:&quot;text&quot;}"/>
          <p:cNvSpPr txBox="1"/>
          <p:nvPr/>
        </p:nvSpPr>
        <p:spPr>
          <a:xfrm>
            <a:off x="1066800" y="3981450"/>
            <a:ext cx="1762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条款清单</a:t>
            </a:r>
            <a:r>
              <a:rPr lang="en-US" sz="1125">
                <a:solidFill>
                  <a:srgbClr val="B9CBDA"/>
                </a:solidFill>
                <a:latin typeface="PingFang SC"/>
                <a:ea typeface="PingFang SC"/>
              </a:rPr>
              <a:t> · </a:t>
            </a: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证据索引</a:t>
            </a:r>
            <a:r>
              <a:rPr lang="en-US" sz="1125">
                <a:solidFill>
                  <a:srgbClr val="B9CBDA"/>
                </a:solidFill>
                <a:latin typeface="PingFang SC"/>
                <a:ea typeface="PingFang SC"/>
              </a:rPr>
              <a:t> · </a:t>
            </a: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偏离草稿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49" name="圆角矩形 548"/>
          <p:cNvSpPr/>
          <p:nvPr/>
        </p:nvSpPr>
        <p:spPr>
          <a:xfrm>
            <a:off x="914400" y="43338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50" name="文本框 549" descr="{&quot;isTemplate&quot;:true,&quot;type&quot;:&quot;text&quot;}"/>
          <p:cNvSpPr txBox="1"/>
          <p:nvPr/>
        </p:nvSpPr>
        <p:spPr>
          <a:xfrm>
            <a:off x="1066800" y="4276725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投标编制待核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51" name="圆角矩形 550"/>
          <p:cNvSpPr/>
          <p:nvPr/>
        </p:nvSpPr>
        <p:spPr>
          <a:xfrm>
            <a:off x="914400" y="46291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52" name="文本框 551" descr="{&quot;isTemplate&quot;:true,&quot;type&quot;:&quot;text&quot;}"/>
          <p:cNvSpPr txBox="1"/>
          <p:nvPr/>
        </p:nvSpPr>
        <p:spPr>
          <a:xfrm>
            <a:off x="1066800" y="4572000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核对后由人提交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53" name="圆角矩形 552"/>
          <p:cNvSpPr/>
          <p:nvPr/>
        </p:nvSpPr>
        <p:spPr>
          <a:xfrm>
            <a:off x="914400" y="5381625"/>
            <a:ext cx="8953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4" name="文本框 553" descr="{&quot;isTemplate&quot;:true,&quot;type&quot;:&quot;text&quot;}"/>
          <p:cNvSpPr txBox="1"/>
          <p:nvPr/>
        </p:nvSpPr>
        <p:spPr>
          <a:xfrm>
            <a:off x="1019175" y="5429250"/>
            <a:ext cx="6858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不代报告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55" name="圆角矩形 554"/>
          <p:cNvSpPr/>
          <p:nvPr/>
        </p:nvSpPr>
        <p:spPr>
          <a:xfrm>
            <a:off x="1885950" y="5381625"/>
            <a:ext cx="753110" cy="24574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6" name="文本框 555" descr="{&quot;isTemplate&quot;:true,&quot;type&quot;:&quot;text&quot;}"/>
          <p:cNvSpPr txBox="1"/>
          <p:nvPr/>
        </p:nvSpPr>
        <p:spPr>
          <a:xfrm>
            <a:off x="1990725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不代证书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57" name="圆角矩形 556"/>
          <p:cNvSpPr/>
          <p:nvPr/>
        </p:nvSpPr>
        <p:spPr>
          <a:xfrm>
            <a:off x="266382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8" name="文本框 557" descr="{&quot;isTemplate&quot;:true,&quot;type&quot;:&quot;text&quot;}"/>
          <p:cNvSpPr txBox="1"/>
          <p:nvPr/>
        </p:nvSpPr>
        <p:spPr>
          <a:xfrm>
            <a:off x="276860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授权提交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59" name="圆角矩形 558"/>
          <p:cNvSpPr/>
          <p:nvPr/>
        </p:nvSpPr>
        <p:spPr>
          <a:xfrm>
            <a:off x="4371975" y="1466850"/>
            <a:ext cx="3448050" cy="4343400"/>
          </a:xfrm>
          <a:prstGeom prst="roundRect">
            <a:avLst>
              <a:gd name="adj" fmla="val 386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60" name="任意多边形 559"/>
          <p:cNvSpPr/>
          <p:nvPr/>
        </p:nvSpPr>
        <p:spPr>
          <a:xfrm>
            <a:off x="4371975" y="1466850"/>
            <a:ext cx="3448050" cy="28575"/>
          </a:xfrm>
          <a:custGeom>
            <a:avLst/>
            <a:gdLst/>
            <a:ahLst/>
            <a:cxnLst/>
            <a:pathLst>
              <a:path w="362" h="3">
                <a:moveTo>
                  <a:pt x="348" y="0"/>
                </a:moveTo>
                <a:cubicBezTo>
                  <a:pt x="351" y="0"/>
                  <a:pt x="354" y="1"/>
                  <a:pt x="357" y="3"/>
                </a:cubicBezTo>
                <a:lnTo>
                  <a:pt x="5" y="3"/>
                </a:lnTo>
                <a:cubicBezTo>
                  <a:pt x="8" y="1"/>
                  <a:pt x="11" y="0"/>
                  <a:pt x="14" y="0"/>
                </a:cubicBezTo>
                <a:lnTo>
                  <a:pt x="348" y="0"/>
                </a:lnTo>
                <a:close/>
              </a:path>
            </a:pathLst>
          </a:cu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0" scaled="1"/>
          </a:gradFill>
        </p:spPr>
        <p:txBody>
          <a:bodyPr/>
          <a:p/>
        </p:txBody>
      </p:sp>
      <p:sp>
        <p:nvSpPr>
          <p:cNvPr id="561" name="文本框 560" descr="{&quot;isTemplate&quot;:true,&quot;type&quot;:&quot;text&quot;}"/>
          <p:cNvSpPr txBox="1"/>
          <p:nvPr/>
        </p:nvSpPr>
        <p:spPr>
          <a:xfrm>
            <a:off x="4600575" y="1724025"/>
            <a:ext cx="3048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5BC8C8"/>
                </a:solidFill>
                <a:latin typeface="Inter"/>
                <a:ea typeface="Inter"/>
              </a:rPr>
              <a:t>02</a:t>
            </a:r>
            <a:endParaRPr lang="en-US" sz="22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562" name="文本框 561" descr="{&quot;isTemplate&quot;:true,&quot;type&quot;:&quot;text&quot;}"/>
          <p:cNvSpPr txBox="1"/>
          <p:nvPr/>
        </p:nvSpPr>
        <p:spPr>
          <a:xfrm>
            <a:off x="5019675" y="1724025"/>
            <a:ext cx="11334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人来确认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63" name="文本框 562" descr="{&quot;isTemplate&quot;:true,&quot;type&quot;:&quot;text&quot;}"/>
          <p:cNvSpPr txBox="1"/>
          <p:nvPr/>
        </p:nvSpPr>
        <p:spPr>
          <a:xfrm>
            <a:off x="4600575" y="2143125"/>
            <a:ext cx="29908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DECIDE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564" name="矩形 563"/>
          <p:cNvSpPr/>
          <p:nvPr/>
        </p:nvSpPr>
        <p:spPr>
          <a:xfrm>
            <a:off x="4600575" y="2409825"/>
            <a:ext cx="30480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65" name="文本框 564" descr="{&quot;isTemplate&quot;:true,&quot;type&quot;:&quot;text&quot;}"/>
          <p:cNvSpPr txBox="1"/>
          <p:nvPr/>
        </p:nvSpPr>
        <p:spPr>
          <a:xfrm>
            <a:off x="4600575" y="2562225"/>
            <a:ext cx="2990850" cy="1047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技术、商务、法务确认偏离与证据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66" name="任意多边形 565"/>
          <p:cNvSpPr/>
          <p:nvPr/>
        </p:nvSpPr>
        <p:spPr>
          <a:xfrm>
            <a:off x="4600575" y="3800475"/>
            <a:ext cx="2990850" cy="952500"/>
          </a:xfrm>
          <a:custGeom>
            <a:avLst/>
            <a:gdLst/>
            <a:ahLst/>
            <a:cxnLst/>
            <a:pathLst>
              <a:path w="314" h="100">
                <a:moveTo>
                  <a:pt x="0" y="0"/>
                </a:moveTo>
                <a:lnTo>
                  <a:pt x="314" y="0"/>
                </a:lnTo>
                <a:lnTo>
                  <a:pt x="314" y="1"/>
                </a:lnTo>
                <a:lnTo>
                  <a:pt x="0" y="1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sp>
        <p:nvSpPr>
          <p:cNvPr id="567" name="圆角矩形 566"/>
          <p:cNvSpPr/>
          <p:nvPr/>
        </p:nvSpPr>
        <p:spPr>
          <a:xfrm>
            <a:off x="4600575" y="4038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68" name="文本框 567" descr="{&quot;isTemplate&quot;:true,&quot;type&quot;:&quot;text&quot;}"/>
          <p:cNvSpPr txBox="1"/>
          <p:nvPr/>
        </p:nvSpPr>
        <p:spPr>
          <a:xfrm>
            <a:off x="4752975" y="3981450"/>
            <a:ext cx="1571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技术确认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69" name="圆角矩形 568"/>
          <p:cNvSpPr/>
          <p:nvPr/>
        </p:nvSpPr>
        <p:spPr>
          <a:xfrm>
            <a:off x="4600575" y="43338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70" name="文本框 569" descr="{&quot;isTemplate&quot;:true,&quot;type&quot;:&quot;text&quot;}"/>
          <p:cNvSpPr txBox="1"/>
          <p:nvPr/>
        </p:nvSpPr>
        <p:spPr>
          <a:xfrm>
            <a:off x="4752975" y="4276725"/>
            <a:ext cx="14382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商务确认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71" name="圆角矩形 570"/>
          <p:cNvSpPr/>
          <p:nvPr/>
        </p:nvSpPr>
        <p:spPr>
          <a:xfrm>
            <a:off x="4600575" y="46291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72" name="文本框 571" descr="{&quot;isTemplate&quot;:true,&quot;type&quot;:&quot;text&quot;}"/>
          <p:cNvSpPr txBox="1"/>
          <p:nvPr/>
        </p:nvSpPr>
        <p:spPr>
          <a:xfrm>
            <a:off x="4752975" y="4572000"/>
            <a:ext cx="1143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法务确认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73" name="圆角矩形 572"/>
          <p:cNvSpPr/>
          <p:nvPr/>
        </p:nvSpPr>
        <p:spPr>
          <a:xfrm>
            <a:off x="460057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4" name="文本框 573" descr="{&quot;isTemplate&quot;:true,&quot;type&quot;:&quot;text&quot;}"/>
          <p:cNvSpPr txBox="1"/>
          <p:nvPr/>
        </p:nvSpPr>
        <p:spPr>
          <a:xfrm>
            <a:off x="470535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偏离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75" name="圆角矩形 574"/>
          <p:cNvSpPr/>
          <p:nvPr/>
        </p:nvSpPr>
        <p:spPr>
          <a:xfrm>
            <a:off x="534352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6" name="文本框 575" descr="{&quot;isTemplate&quot;:true,&quot;type&quot;:&quot;text&quot;}"/>
          <p:cNvSpPr txBox="1"/>
          <p:nvPr/>
        </p:nvSpPr>
        <p:spPr>
          <a:xfrm>
            <a:off x="544830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证据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77" name="圆角矩形 576"/>
          <p:cNvSpPr/>
          <p:nvPr/>
        </p:nvSpPr>
        <p:spPr>
          <a:xfrm>
            <a:off x="6086475" y="5381625"/>
            <a:ext cx="768985" cy="24574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8" name="文本框 577" descr="{&quot;isTemplate&quot;:true,&quot;type&quot;:&quot;text&quot;}"/>
          <p:cNvSpPr txBox="1"/>
          <p:nvPr/>
        </p:nvSpPr>
        <p:spPr>
          <a:xfrm>
            <a:off x="619125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人来提交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79" name="圆角矩形 578"/>
          <p:cNvSpPr/>
          <p:nvPr/>
        </p:nvSpPr>
        <p:spPr>
          <a:xfrm>
            <a:off x="8048625" y="1466850"/>
            <a:ext cx="3457575" cy="4343400"/>
          </a:xfrm>
          <a:prstGeom prst="roundRect">
            <a:avLst>
              <a:gd name="adj" fmla="val 385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80" name="任意多边形 579"/>
          <p:cNvSpPr/>
          <p:nvPr/>
        </p:nvSpPr>
        <p:spPr>
          <a:xfrm>
            <a:off x="8048625" y="1466850"/>
            <a:ext cx="3457575" cy="28575"/>
          </a:xfrm>
          <a:custGeom>
            <a:avLst/>
            <a:gdLst/>
            <a:ahLst/>
            <a:cxnLst/>
            <a:pathLst>
              <a:path w="363" h="3">
                <a:moveTo>
                  <a:pt x="349" y="0"/>
                </a:moveTo>
                <a:cubicBezTo>
                  <a:pt x="352" y="0"/>
                  <a:pt x="355" y="1"/>
                  <a:pt x="358" y="3"/>
                </a:cubicBezTo>
                <a:lnTo>
                  <a:pt x="5" y="3"/>
                </a:lnTo>
                <a:cubicBezTo>
                  <a:pt x="8" y="1"/>
                  <a:pt x="11" y="0"/>
                  <a:pt x="14" y="0"/>
                </a:cubicBezTo>
                <a:lnTo>
                  <a:pt x="349" y="0"/>
                </a:lnTo>
                <a:close/>
              </a:path>
            </a:pathLst>
          </a:cu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0" scaled="1"/>
          </a:gradFill>
        </p:spPr>
        <p:txBody>
          <a:bodyPr/>
          <a:p/>
        </p:txBody>
      </p:sp>
      <p:sp>
        <p:nvSpPr>
          <p:cNvPr id="581" name="文本框 580" descr="{&quot;isTemplate&quot;:true,&quot;type&quot;:&quot;text&quot;}"/>
          <p:cNvSpPr txBox="1"/>
          <p:nvPr/>
        </p:nvSpPr>
        <p:spPr>
          <a:xfrm>
            <a:off x="8277225" y="1724025"/>
            <a:ext cx="3048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5BC8C8"/>
                </a:solidFill>
                <a:latin typeface="Inter"/>
                <a:ea typeface="Inter"/>
              </a:rPr>
              <a:t>03</a:t>
            </a:r>
            <a:endParaRPr lang="en-US" sz="22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582" name="文本框 581" descr="{&quot;isTemplate&quot;:true,&quot;type&quot;:&quot;text&quot;}"/>
          <p:cNvSpPr txBox="1"/>
          <p:nvPr/>
        </p:nvSpPr>
        <p:spPr>
          <a:xfrm>
            <a:off x="8696325" y="1724025"/>
            <a:ext cx="11334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留在人工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83" name="文本框 582" descr="{&quot;isTemplate&quot;:true,&quot;type&quot;:&quot;text&quot;}"/>
          <p:cNvSpPr txBox="1"/>
          <p:nvPr/>
        </p:nvSpPr>
        <p:spPr>
          <a:xfrm>
            <a:off x="8277225" y="2143125"/>
            <a:ext cx="30003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STOP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584" name="矩形 583"/>
          <p:cNvSpPr/>
          <p:nvPr/>
        </p:nvSpPr>
        <p:spPr>
          <a:xfrm>
            <a:off x="8277225" y="2409825"/>
            <a:ext cx="30480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85" name="文本框 584" descr="{&quot;isTemplate&quot;:true,&quot;type&quot;:&quot;text&quot;}"/>
          <p:cNvSpPr txBox="1"/>
          <p:nvPr/>
        </p:nvSpPr>
        <p:spPr>
          <a:xfrm>
            <a:off x="8277225" y="2562225"/>
            <a:ext cx="3000375" cy="1047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签字、盖章与对外提交由授权人完成。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86" name="任意多边形 585"/>
          <p:cNvSpPr/>
          <p:nvPr/>
        </p:nvSpPr>
        <p:spPr>
          <a:xfrm>
            <a:off x="8277225" y="3800475"/>
            <a:ext cx="3000375" cy="952500"/>
          </a:xfrm>
          <a:custGeom>
            <a:avLst/>
            <a:gdLst/>
            <a:ahLst/>
            <a:cxnLst/>
            <a:pathLst>
              <a:path w="315" h="100">
                <a:moveTo>
                  <a:pt x="0" y="0"/>
                </a:moveTo>
                <a:lnTo>
                  <a:pt x="315" y="0"/>
                </a:lnTo>
                <a:lnTo>
                  <a:pt x="315" y="1"/>
                </a:lnTo>
                <a:lnTo>
                  <a:pt x="0" y="1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sp>
        <p:nvSpPr>
          <p:cNvPr id="587" name="圆角矩形 586"/>
          <p:cNvSpPr/>
          <p:nvPr/>
        </p:nvSpPr>
        <p:spPr>
          <a:xfrm>
            <a:off x="8277225" y="4038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88" name="文本框 587" descr="{&quot;isTemplate&quot;:true,&quot;type&quot;:&quot;text&quot;}"/>
          <p:cNvSpPr txBox="1"/>
          <p:nvPr/>
        </p:nvSpPr>
        <p:spPr>
          <a:xfrm>
            <a:off x="8429625" y="3981450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不替代签署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89" name="圆角矩形 588"/>
          <p:cNvSpPr/>
          <p:nvPr/>
        </p:nvSpPr>
        <p:spPr>
          <a:xfrm>
            <a:off x="8277225" y="43338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90" name="文本框 589" descr="{&quot;isTemplate&quot;:true,&quot;type&quot;:&quot;text&quot;}"/>
          <p:cNvSpPr txBox="1"/>
          <p:nvPr/>
        </p:nvSpPr>
        <p:spPr>
          <a:xfrm>
            <a:off x="8429625" y="4276725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不替代盖章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91" name="圆角矩形 590"/>
          <p:cNvSpPr/>
          <p:nvPr/>
        </p:nvSpPr>
        <p:spPr>
          <a:xfrm>
            <a:off x="8277225" y="46291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92" name="文本框 591" descr="{&quot;isTemplate&quot;:true,&quot;type&quot;:&quot;text&quot;}"/>
          <p:cNvSpPr txBox="1"/>
          <p:nvPr/>
        </p:nvSpPr>
        <p:spPr>
          <a:xfrm>
            <a:off x="8429625" y="4572000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不写回系统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93" name="圆角矩形 592"/>
          <p:cNvSpPr/>
          <p:nvPr/>
        </p:nvSpPr>
        <p:spPr>
          <a:xfrm>
            <a:off x="827722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4" name="文本框 593" descr="{&quot;isTemplate&quot;:true,&quot;type&quot;:&quot;text&quot;}"/>
          <p:cNvSpPr txBox="1"/>
          <p:nvPr/>
        </p:nvSpPr>
        <p:spPr>
          <a:xfrm>
            <a:off x="838200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认证提交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95" name="圆角矩形 594"/>
          <p:cNvSpPr/>
          <p:nvPr/>
        </p:nvSpPr>
        <p:spPr>
          <a:xfrm>
            <a:off x="902017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6" name="文本框 595" descr="{&quot;isTemplate&quot;:true,&quot;type&quot;:&quot;text&quot;}"/>
          <p:cNvSpPr txBox="1"/>
          <p:nvPr/>
        </p:nvSpPr>
        <p:spPr>
          <a:xfrm>
            <a:off x="912495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投标提交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97" name="圆角矩形 596"/>
          <p:cNvSpPr/>
          <p:nvPr/>
        </p:nvSpPr>
        <p:spPr>
          <a:xfrm>
            <a:off x="976312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8" name="文本框 597" descr="{&quot;isTemplate&quot;:true,&quot;type&quot;:&quot;text&quot;}"/>
          <p:cNvSpPr txBox="1"/>
          <p:nvPr/>
        </p:nvSpPr>
        <p:spPr>
          <a:xfrm>
            <a:off x="986790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对外口径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99" name="任意多边形 598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600" name="文本框 599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601" name="文本框 600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11 / 16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1" name="" descr="// B · 09 内容页 · 三卡片 — 业务范围（玻璃卡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420, top: 120, width: 520, height: 380, borderRadius: 260, background: 'radial-gradient(circle, rgba(91,200,200,0.10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业务范围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BUSINESS SCOPE&lt;/Text&gt;&#10;        &lt;Box style={{ flex: 1 }} /&gt;&#10;        &lt;Text style={{ fontSize: 14, color: '#8FA6BC' }}&gt;三大板块，覆盖销售管理全链路&lt;/Text&gt;&#10;    &lt;/Box&gt;&#10;&#10;    {/* B · 内容区 */}&#10;    &lt;Box style={{ flex: 1, flexDirection: 'row', gap: 24, paddingTop: 34, paddingBottom: 30 }}&gt;&#10;        {[&#10;            { no: '01', title: '管理咨询', en: 'CONSULTING', desc: '以 PPABC 销售管理体系为主线，完成从市场规划、客户规划到商机规划与达标策略的全链路设计，让目标有清晰的组织承接。', pts: ['市场 · 客户 · 商机三层规划', '销售流程与制度重构', '目标分解与达标策略'], tags: ['销售体系设计', '流程重构', '组织赋能'] },&#10;            { no: '02', title: '销售智能化', en: 'AI ENABLEMENT', desc: '把 LTC 流程、知识与 AI 能力打通，让销售动作可沉淀、可复制、可度量，最终形成企业自己的销售资产。', pts: ['结构化语料库与知识萃取', '智能中台与 Skills 编排', '业务数据双向闭环'], tags: ['智能中台', '知识萃取', '数据闭环'] },&#10;            { no: '03', title: '培训与陪跑', en: 'TRAINING', desc: '从方法论讲授到一线陪跑，用真实商机做复盘与教练式辅导，把方法论变成团队肌肉记忆。', pts: ['方法论分层课程体系', '真实商机复盘与教练', '行为改变跟踪与反馈'], tags: ['实战训练', '商机复盘', '教练辅导'] }&#10;        ].map((c, idx) =&gt; (&#10;            &lt;Box key={idx} style={{ flex: 1, flexDirection: 'column', background: 'rgba(255,255,255,0.045)', border: '1px solid rgba(143,216,232,0.18)', borderRadius: 14, overflow: 'hidden', boxShadow: '0 10px 34px rgba(0,0,0,0.36)' }}&gt;&#10;                &lt;Box style={{ height: 3, width: '100%', background: 'linear-gradient(90deg, #8FD8E8 0%, #3FA8BF 100%)' }} /&gt;&#10;                &lt;Box style={{ flex: 1, flexDirection: 'column', padding: '24px 24px 20px' }}&gt;&#10;                    &lt;Box style={{ flexDirection: 'row', alignItems: 'baseline', gap: 12 }}&gt;&#10;                        &lt;Text style={{ fontSize: 30, fontWeight: 'bold', color: '#5BC8C8', fontFamily: '&quot;Inter&quot;,&quot;Helvetica Neue&quot;,Arial,sans-serif', letterSpacing: -1 }}&gt;{c.no}&lt;/Text&gt;&#10;                        &lt;Text style={{ fontSize: 24, fontWeight: 'bold', color: '#EAF2F8', letterSpacing: -0.3 }}&gt;{c.title}&lt;/Text&gt;&#10;                    &lt;/Box&gt;&#10;                    &lt;Text style={{ fontSize: 11, color: '#5E7590', letterSpacing: 2.5, marginTop: 8, fontFamily: '&quot;Inter&quot;,&quot;Helvetica Neue&quot;,Arial,sans-serif' }}&gt;{c.en}&lt;/Text&gt;&#10;                    &lt;Box style={{ width: 32, height: 2, background: 'rgba(143,216,232,0.35)', marginTop: 14 }} /&gt;&#10;                    &lt;Text style={{ fontSize: 16, color: '#9FB4C6', lineHeight: 1.9, marginTop: 14 }}&gt;&#10;                        {c.desc}&#10;                    &lt;/Text&gt;&#10;                    &lt;Box style={{ flexDirection: 'column', gap: 13, marginTop: 20, paddingTop: 18, borderTop: '1px dashed rgba(143,216,232,0.18)' }}&gt;&#10;                        {c.pts.map((p, i) =&gt; (&#10;                            &lt;Box key={i} style={{ flexDirection: 'row', alignItems: 'center', gap: 10 }}&gt;&#10;                                &lt;Box style={{ width: 6, height: 6, borderRadius: 3, background: '#5BC8C8' }} /&gt;&#10;                                &lt;Text style={{ fontSize: 15, color: '#B9CBDA' }}&gt;{p}&lt;/Text&gt;&#10;                            &lt;/Box&gt;&#10;                        ))}&#10;                    &lt;/Box&gt;&#10;                    &lt;Box style={{ marginTop: 'auto', flexDirection: 'row', flexWrap: 'wrap', gap: 8, paddingTop: 16 }}&gt;&#10;                        {c.tags.map((t, i) =&gt; (&#10;                            &lt;Box key={i} style={{ padding: '5px 11px', borderRadius: 999, background: 'rgba(91,200,200,0.09)', border: '1px solid rgba(143,216,232,0.24)' }}&gt;&#10;                                &lt;Text style={{ fontSize: 12, color: '#8FD8E8' }}&gt;{t}&lt;/Text&gt;&#10;                            &lt;/Box&gt;&#10;                        ))}&#10;                    &lt;/Box&gt;&#10;                &lt;/Box&gt;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9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矩形 5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533" name="任意多边形 532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534" name="圆角矩形 533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35" name="文本框 534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准入证据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36" name="矩形 535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537" name="文本框 536" descr="{&quot;isTemplate&quot;:true,&quot;type&quot;:&quot;text&quot;}"/>
          <p:cNvSpPr txBox="1"/>
          <p:nvPr/>
        </p:nvSpPr>
        <p:spPr>
          <a:xfrm>
            <a:off x="2381250" y="590550"/>
            <a:ext cx="1466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ENTRY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538" name="文本框 537" descr="{&quot;isTemplate&quot;:true,&quot;type&quot;:&quot;text&quot;}"/>
          <p:cNvSpPr txBox="1"/>
          <p:nvPr/>
        </p:nvSpPr>
        <p:spPr>
          <a:xfrm>
            <a:off x="9639300" y="58102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采购与质量作准入结论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539" name="圆角矩形 538"/>
          <p:cNvSpPr/>
          <p:nvPr/>
        </p:nvSpPr>
        <p:spPr>
          <a:xfrm>
            <a:off x="685800" y="1466850"/>
            <a:ext cx="3457575" cy="4343400"/>
          </a:xfrm>
          <a:prstGeom prst="roundRect">
            <a:avLst>
              <a:gd name="adj" fmla="val 385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40" name="任意多边形 539"/>
          <p:cNvSpPr/>
          <p:nvPr/>
        </p:nvSpPr>
        <p:spPr>
          <a:xfrm>
            <a:off x="685800" y="1466850"/>
            <a:ext cx="3457575" cy="28575"/>
          </a:xfrm>
          <a:custGeom>
            <a:avLst/>
            <a:gdLst/>
            <a:ahLst/>
            <a:cxnLst/>
            <a:pathLst>
              <a:path w="363" h="3">
                <a:moveTo>
                  <a:pt x="349" y="0"/>
                </a:moveTo>
                <a:cubicBezTo>
                  <a:pt x="352" y="0"/>
                  <a:pt x="355" y="1"/>
                  <a:pt x="358" y="3"/>
                </a:cubicBezTo>
                <a:lnTo>
                  <a:pt x="5" y="3"/>
                </a:lnTo>
                <a:cubicBezTo>
                  <a:pt x="8" y="1"/>
                  <a:pt x="11" y="0"/>
                  <a:pt x="14" y="0"/>
                </a:cubicBezTo>
                <a:lnTo>
                  <a:pt x="349" y="0"/>
                </a:lnTo>
                <a:close/>
              </a:path>
            </a:pathLst>
          </a:cu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0" scaled="1"/>
          </a:gradFill>
        </p:spPr>
        <p:txBody>
          <a:bodyPr/>
          <a:p/>
        </p:txBody>
      </p:sp>
      <p:sp>
        <p:nvSpPr>
          <p:cNvPr id="541" name="文本框 540" descr="{&quot;isTemplate&quot;:true,&quot;type&quot;:&quot;text&quot;}"/>
          <p:cNvSpPr txBox="1"/>
          <p:nvPr/>
        </p:nvSpPr>
        <p:spPr>
          <a:xfrm>
            <a:off x="914400" y="1724025"/>
            <a:ext cx="3048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5BC8C8"/>
                </a:solidFill>
                <a:latin typeface="Inter"/>
                <a:ea typeface="Inter"/>
              </a:rPr>
              <a:t>01</a:t>
            </a:r>
            <a:endParaRPr lang="en-US" sz="22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542" name="文本框 541" descr="{&quot;isTemplate&quot;:true,&quot;type&quot;:&quot;text&quot;}"/>
          <p:cNvSpPr txBox="1"/>
          <p:nvPr/>
        </p:nvSpPr>
        <p:spPr>
          <a:xfrm>
            <a:off x="1333500" y="1724025"/>
            <a:ext cx="9048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系统产出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43" name="文本框 542" descr="{&quot;isTemplate&quot;:true,&quot;type&quot;:&quot;text&quot;}"/>
          <p:cNvSpPr txBox="1"/>
          <p:nvPr/>
        </p:nvSpPr>
        <p:spPr>
          <a:xfrm>
            <a:off x="914400" y="2143125"/>
            <a:ext cx="30003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OUTPUT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544" name="矩形 543"/>
          <p:cNvSpPr/>
          <p:nvPr/>
        </p:nvSpPr>
        <p:spPr>
          <a:xfrm>
            <a:off x="914400" y="2409825"/>
            <a:ext cx="30480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45" name="文本框 544" descr="{&quot;isTemplate&quot;:true,&quot;type&quot;:&quot;text&quot;}"/>
          <p:cNvSpPr txBox="1"/>
          <p:nvPr/>
        </p:nvSpPr>
        <p:spPr>
          <a:xfrm>
            <a:off x="914400" y="2562225"/>
            <a:ext cx="3000375" cy="1047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核验证书有效期、适用范围与条款命中。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46" name="任意多边形 545"/>
          <p:cNvSpPr/>
          <p:nvPr/>
        </p:nvSpPr>
        <p:spPr>
          <a:xfrm>
            <a:off x="914400" y="3800475"/>
            <a:ext cx="3000375" cy="952500"/>
          </a:xfrm>
          <a:custGeom>
            <a:avLst/>
            <a:gdLst/>
            <a:ahLst/>
            <a:cxnLst/>
            <a:pathLst>
              <a:path w="315" h="100">
                <a:moveTo>
                  <a:pt x="0" y="0"/>
                </a:moveTo>
                <a:lnTo>
                  <a:pt x="315" y="0"/>
                </a:lnTo>
                <a:lnTo>
                  <a:pt x="315" y="1"/>
                </a:lnTo>
                <a:lnTo>
                  <a:pt x="0" y="1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sp>
        <p:nvSpPr>
          <p:cNvPr id="547" name="圆角矩形 546"/>
          <p:cNvSpPr/>
          <p:nvPr/>
        </p:nvSpPr>
        <p:spPr>
          <a:xfrm>
            <a:off x="914400" y="4038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48" name="文本框 547" descr="{&quot;isTemplate&quot;:true,&quot;type&quot;:&quot;text&quot;}"/>
          <p:cNvSpPr txBox="1"/>
          <p:nvPr/>
        </p:nvSpPr>
        <p:spPr>
          <a:xfrm>
            <a:off x="1066800" y="3981450"/>
            <a:ext cx="1762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有效期</a:t>
            </a:r>
            <a:r>
              <a:rPr lang="en-US" sz="1125">
                <a:solidFill>
                  <a:srgbClr val="B9CBDA"/>
                </a:solidFill>
                <a:latin typeface="PingFang SC"/>
                <a:ea typeface="PingFang SC"/>
              </a:rPr>
              <a:t> · </a:t>
            </a: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适用范围</a:t>
            </a:r>
            <a:r>
              <a:rPr lang="en-US" sz="1125">
                <a:solidFill>
                  <a:srgbClr val="B9CBDA"/>
                </a:solidFill>
                <a:latin typeface="PingFang SC"/>
                <a:ea typeface="PingFang SC"/>
              </a:rPr>
              <a:t> · </a:t>
            </a: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条款命中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49" name="圆角矩形 548"/>
          <p:cNvSpPr/>
          <p:nvPr/>
        </p:nvSpPr>
        <p:spPr>
          <a:xfrm>
            <a:off x="914400" y="43338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50" name="文本框 549" descr="{&quot;isTemplate&quot;:true,&quot;type&quot;:&quot;text&quot;}"/>
          <p:cNvSpPr txBox="1"/>
          <p:nvPr/>
        </p:nvSpPr>
        <p:spPr>
          <a:xfrm>
            <a:off x="1066800" y="4276725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缺证标出待补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51" name="圆角矩形 550"/>
          <p:cNvSpPr/>
          <p:nvPr/>
        </p:nvSpPr>
        <p:spPr>
          <a:xfrm>
            <a:off x="914400" y="46291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52" name="文本框 551" descr="{&quot;isTemplate&quot;:true,&quot;type&quot;:&quot;text&quot;}"/>
          <p:cNvSpPr txBox="1"/>
          <p:nvPr/>
        </p:nvSpPr>
        <p:spPr>
          <a:xfrm>
            <a:off x="1066800" y="4572000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结论由人作出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53" name="圆角矩形 552"/>
          <p:cNvSpPr/>
          <p:nvPr/>
        </p:nvSpPr>
        <p:spPr>
          <a:xfrm>
            <a:off x="914400" y="5381625"/>
            <a:ext cx="8953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4" name="文本框 553" descr="{&quot;isTemplate&quot;:true,&quot;type&quot;:&quot;text&quot;}"/>
          <p:cNvSpPr txBox="1"/>
          <p:nvPr/>
        </p:nvSpPr>
        <p:spPr>
          <a:xfrm>
            <a:off x="1019175" y="5429250"/>
            <a:ext cx="6858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不自动过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55" name="圆角矩形 554"/>
          <p:cNvSpPr/>
          <p:nvPr/>
        </p:nvSpPr>
        <p:spPr>
          <a:xfrm>
            <a:off x="1885950" y="5381625"/>
            <a:ext cx="753110" cy="24574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6" name="文本框 555" descr="{&quot;isTemplate&quot;:true,&quot;type&quot;:&quot;text&quot;}"/>
          <p:cNvSpPr txBox="1"/>
          <p:nvPr/>
        </p:nvSpPr>
        <p:spPr>
          <a:xfrm>
            <a:off x="1990725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不改合同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57" name="圆角矩形 556"/>
          <p:cNvSpPr/>
          <p:nvPr/>
        </p:nvSpPr>
        <p:spPr>
          <a:xfrm>
            <a:off x="266382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8" name="文本框 557" descr="{&quot;isTemplate&quot;:true,&quot;type&quot;:&quot;text&quot;}"/>
          <p:cNvSpPr txBox="1"/>
          <p:nvPr/>
        </p:nvSpPr>
        <p:spPr>
          <a:xfrm>
            <a:off x="276860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人来判定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59" name="圆角矩形 558"/>
          <p:cNvSpPr/>
          <p:nvPr/>
        </p:nvSpPr>
        <p:spPr>
          <a:xfrm>
            <a:off x="4371975" y="1466850"/>
            <a:ext cx="3448050" cy="4343400"/>
          </a:xfrm>
          <a:prstGeom prst="roundRect">
            <a:avLst>
              <a:gd name="adj" fmla="val 386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60" name="任意多边形 559"/>
          <p:cNvSpPr/>
          <p:nvPr/>
        </p:nvSpPr>
        <p:spPr>
          <a:xfrm>
            <a:off x="4371975" y="1466850"/>
            <a:ext cx="3448050" cy="28575"/>
          </a:xfrm>
          <a:custGeom>
            <a:avLst/>
            <a:gdLst/>
            <a:ahLst/>
            <a:cxnLst/>
            <a:pathLst>
              <a:path w="362" h="3">
                <a:moveTo>
                  <a:pt x="348" y="0"/>
                </a:moveTo>
                <a:cubicBezTo>
                  <a:pt x="351" y="0"/>
                  <a:pt x="354" y="1"/>
                  <a:pt x="357" y="3"/>
                </a:cubicBezTo>
                <a:lnTo>
                  <a:pt x="5" y="3"/>
                </a:lnTo>
                <a:cubicBezTo>
                  <a:pt x="8" y="1"/>
                  <a:pt x="11" y="0"/>
                  <a:pt x="14" y="0"/>
                </a:cubicBezTo>
                <a:lnTo>
                  <a:pt x="348" y="0"/>
                </a:lnTo>
                <a:close/>
              </a:path>
            </a:pathLst>
          </a:cu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0" scaled="1"/>
          </a:gradFill>
        </p:spPr>
        <p:txBody>
          <a:bodyPr/>
          <a:p/>
        </p:txBody>
      </p:sp>
      <p:sp>
        <p:nvSpPr>
          <p:cNvPr id="561" name="文本框 560" descr="{&quot;isTemplate&quot;:true,&quot;type&quot;:&quot;text&quot;}"/>
          <p:cNvSpPr txBox="1"/>
          <p:nvPr/>
        </p:nvSpPr>
        <p:spPr>
          <a:xfrm>
            <a:off x="4600575" y="1724025"/>
            <a:ext cx="3048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5BC8C8"/>
                </a:solidFill>
                <a:latin typeface="Inter"/>
                <a:ea typeface="Inter"/>
              </a:rPr>
              <a:t>02</a:t>
            </a:r>
            <a:endParaRPr lang="en-US" sz="22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562" name="文本框 561" descr="{&quot;isTemplate&quot;:true,&quot;type&quot;:&quot;text&quot;}"/>
          <p:cNvSpPr txBox="1"/>
          <p:nvPr/>
        </p:nvSpPr>
        <p:spPr>
          <a:xfrm>
            <a:off x="5019675" y="1724025"/>
            <a:ext cx="11334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人来确认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63" name="文本框 562" descr="{&quot;isTemplate&quot;:true,&quot;type&quot;:&quot;text&quot;}"/>
          <p:cNvSpPr txBox="1"/>
          <p:nvPr/>
        </p:nvSpPr>
        <p:spPr>
          <a:xfrm>
            <a:off x="4600575" y="2143125"/>
            <a:ext cx="29908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DECIDE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564" name="矩形 563"/>
          <p:cNvSpPr/>
          <p:nvPr/>
        </p:nvSpPr>
        <p:spPr>
          <a:xfrm>
            <a:off x="4600575" y="2409825"/>
            <a:ext cx="30480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65" name="文本框 564" descr="{&quot;isTemplate&quot;:true,&quot;type&quot;:&quot;text&quot;}"/>
          <p:cNvSpPr txBox="1"/>
          <p:nvPr/>
        </p:nvSpPr>
        <p:spPr>
          <a:xfrm>
            <a:off x="4600575" y="2562225"/>
            <a:ext cx="2990850" cy="1047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采购与质量确认证据是否支持准入。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66" name="任意多边形 565"/>
          <p:cNvSpPr/>
          <p:nvPr/>
        </p:nvSpPr>
        <p:spPr>
          <a:xfrm>
            <a:off x="4600575" y="3800475"/>
            <a:ext cx="2990850" cy="952500"/>
          </a:xfrm>
          <a:custGeom>
            <a:avLst/>
            <a:gdLst/>
            <a:ahLst/>
            <a:cxnLst/>
            <a:pathLst>
              <a:path w="314" h="100">
                <a:moveTo>
                  <a:pt x="0" y="0"/>
                </a:moveTo>
                <a:lnTo>
                  <a:pt x="314" y="0"/>
                </a:lnTo>
                <a:lnTo>
                  <a:pt x="314" y="1"/>
                </a:lnTo>
                <a:lnTo>
                  <a:pt x="0" y="1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sp>
        <p:nvSpPr>
          <p:cNvPr id="567" name="圆角矩形 566"/>
          <p:cNvSpPr/>
          <p:nvPr/>
        </p:nvSpPr>
        <p:spPr>
          <a:xfrm>
            <a:off x="4600575" y="4038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68" name="文本框 567" descr="{&quot;isTemplate&quot;:true,&quot;type&quot;:&quot;text&quot;}"/>
          <p:cNvSpPr txBox="1"/>
          <p:nvPr/>
        </p:nvSpPr>
        <p:spPr>
          <a:xfrm>
            <a:off x="4752975" y="3981450"/>
            <a:ext cx="1571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采购确认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69" name="圆角矩形 568"/>
          <p:cNvSpPr/>
          <p:nvPr/>
        </p:nvSpPr>
        <p:spPr>
          <a:xfrm>
            <a:off x="4600575" y="43338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70" name="文本框 569" descr="{&quot;isTemplate&quot;:true,&quot;type&quot;:&quot;text&quot;}"/>
          <p:cNvSpPr txBox="1"/>
          <p:nvPr/>
        </p:nvSpPr>
        <p:spPr>
          <a:xfrm>
            <a:off x="4752975" y="4276725"/>
            <a:ext cx="14382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质量确认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71" name="圆角矩形 570"/>
          <p:cNvSpPr/>
          <p:nvPr/>
        </p:nvSpPr>
        <p:spPr>
          <a:xfrm>
            <a:off x="4600575" y="46291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72" name="文本框 571" descr="{&quot;isTemplate&quot;:true,&quot;type&quot;:&quot;text&quot;}"/>
          <p:cNvSpPr txBox="1"/>
          <p:nvPr/>
        </p:nvSpPr>
        <p:spPr>
          <a:xfrm>
            <a:off x="4752975" y="4572000"/>
            <a:ext cx="1143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证据是否够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73" name="圆角矩形 572"/>
          <p:cNvSpPr/>
          <p:nvPr/>
        </p:nvSpPr>
        <p:spPr>
          <a:xfrm>
            <a:off x="460057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4" name="文本框 573" descr="{&quot;isTemplate&quot;:true,&quot;type&quot;:&quot;text&quot;}"/>
          <p:cNvSpPr txBox="1"/>
          <p:nvPr/>
        </p:nvSpPr>
        <p:spPr>
          <a:xfrm>
            <a:off x="470535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准入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75" name="圆角矩形 574"/>
          <p:cNvSpPr/>
          <p:nvPr/>
        </p:nvSpPr>
        <p:spPr>
          <a:xfrm>
            <a:off x="534352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6" name="文本框 575" descr="{&quot;isTemplate&quot;:true,&quot;type&quot;:&quot;text&quot;}"/>
          <p:cNvSpPr txBox="1"/>
          <p:nvPr/>
        </p:nvSpPr>
        <p:spPr>
          <a:xfrm>
            <a:off x="544830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观察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77" name="圆角矩形 576"/>
          <p:cNvSpPr/>
          <p:nvPr/>
        </p:nvSpPr>
        <p:spPr>
          <a:xfrm>
            <a:off x="6086475" y="5381625"/>
            <a:ext cx="768985" cy="24574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8" name="文本框 577" descr="{&quot;isTemplate&quot;:true,&quot;type&quot;:&quot;text&quot;}"/>
          <p:cNvSpPr txBox="1"/>
          <p:nvPr/>
        </p:nvSpPr>
        <p:spPr>
          <a:xfrm>
            <a:off x="619125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人作结论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79" name="圆角矩形 578"/>
          <p:cNvSpPr/>
          <p:nvPr/>
        </p:nvSpPr>
        <p:spPr>
          <a:xfrm>
            <a:off x="8048625" y="1466850"/>
            <a:ext cx="3457575" cy="4343400"/>
          </a:xfrm>
          <a:prstGeom prst="roundRect">
            <a:avLst>
              <a:gd name="adj" fmla="val 385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80" name="任意多边形 579"/>
          <p:cNvSpPr/>
          <p:nvPr/>
        </p:nvSpPr>
        <p:spPr>
          <a:xfrm>
            <a:off x="8048625" y="1466850"/>
            <a:ext cx="3457575" cy="28575"/>
          </a:xfrm>
          <a:custGeom>
            <a:avLst/>
            <a:gdLst/>
            <a:ahLst/>
            <a:cxnLst/>
            <a:pathLst>
              <a:path w="363" h="3">
                <a:moveTo>
                  <a:pt x="349" y="0"/>
                </a:moveTo>
                <a:cubicBezTo>
                  <a:pt x="352" y="0"/>
                  <a:pt x="355" y="1"/>
                  <a:pt x="358" y="3"/>
                </a:cubicBezTo>
                <a:lnTo>
                  <a:pt x="5" y="3"/>
                </a:lnTo>
                <a:cubicBezTo>
                  <a:pt x="8" y="1"/>
                  <a:pt x="11" y="0"/>
                  <a:pt x="14" y="0"/>
                </a:cubicBezTo>
                <a:lnTo>
                  <a:pt x="349" y="0"/>
                </a:lnTo>
                <a:close/>
              </a:path>
            </a:pathLst>
          </a:cu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0" scaled="1"/>
          </a:gradFill>
        </p:spPr>
        <p:txBody>
          <a:bodyPr/>
          <a:p/>
        </p:txBody>
      </p:sp>
      <p:sp>
        <p:nvSpPr>
          <p:cNvPr id="581" name="文本框 580" descr="{&quot;isTemplate&quot;:true,&quot;type&quot;:&quot;text&quot;}"/>
          <p:cNvSpPr txBox="1"/>
          <p:nvPr/>
        </p:nvSpPr>
        <p:spPr>
          <a:xfrm>
            <a:off x="8277225" y="1724025"/>
            <a:ext cx="3048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5BC8C8"/>
                </a:solidFill>
                <a:latin typeface="Inter"/>
                <a:ea typeface="Inter"/>
              </a:rPr>
              <a:t>03</a:t>
            </a:r>
            <a:endParaRPr lang="en-US" sz="22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582" name="文本框 581" descr="{&quot;isTemplate&quot;:true,&quot;type&quot;:&quot;text&quot;}"/>
          <p:cNvSpPr txBox="1"/>
          <p:nvPr/>
        </p:nvSpPr>
        <p:spPr>
          <a:xfrm>
            <a:off x="8696325" y="1724025"/>
            <a:ext cx="11334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留在人工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83" name="文本框 582" descr="{&quot;isTemplate&quot;:true,&quot;type&quot;:&quot;text&quot;}"/>
          <p:cNvSpPr txBox="1"/>
          <p:nvPr/>
        </p:nvSpPr>
        <p:spPr>
          <a:xfrm>
            <a:off x="8277225" y="2143125"/>
            <a:ext cx="30003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STOP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584" name="矩形 583"/>
          <p:cNvSpPr/>
          <p:nvPr/>
        </p:nvSpPr>
        <p:spPr>
          <a:xfrm>
            <a:off x="8277225" y="2409825"/>
            <a:ext cx="30480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85" name="文本框 584" descr="{&quot;isTemplate&quot;:true,&quot;type&quot;:&quot;text&quot;}"/>
          <p:cNvSpPr txBox="1"/>
          <p:nvPr/>
        </p:nvSpPr>
        <p:spPr>
          <a:xfrm>
            <a:off x="8277225" y="2562225"/>
            <a:ext cx="3000375" cy="1047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准入结论、合同条款与评分由人确定。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86" name="任意多边形 585"/>
          <p:cNvSpPr/>
          <p:nvPr/>
        </p:nvSpPr>
        <p:spPr>
          <a:xfrm>
            <a:off x="8277225" y="3800475"/>
            <a:ext cx="3000375" cy="952500"/>
          </a:xfrm>
          <a:custGeom>
            <a:avLst/>
            <a:gdLst/>
            <a:ahLst/>
            <a:cxnLst/>
            <a:pathLst>
              <a:path w="315" h="100">
                <a:moveTo>
                  <a:pt x="0" y="0"/>
                </a:moveTo>
                <a:lnTo>
                  <a:pt x="315" y="0"/>
                </a:lnTo>
                <a:lnTo>
                  <a:pt x="315" y="1"/>
                </a:lnTo>
                <a:lnTo>
                  <a:pt x="0" y="1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sp>
        <p:nvSpPr>
          <p:cNvPr id="587" name="圆角矩形 586"/>
          <p:cNvSpPr/>
          <p:nvPr/>
        </p:nvSpPr>
        <p:spPr>
          <a:xfrm>
            <a:off x="8277225" y="4038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88" name="文本框 587" descr="{&quot;isTemplate&quot;:true,&quot;type&quot;:&quot;text&quot;}"/>
          <p:cNvSpPr txBox="1"/>
          <p:nvPr/>
        </p:nvSpPr>
        <p:spPr>
          <a:xfrm>
            <a:off x="8429625" y="3981450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不替代准入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89" name="圆角矩形 588"/>
          <p:cNvSpPr/>
          <p:nvPr/>
        </p:nvSpPr>
        <p:spPr>
          <a:xfrm>
            <a:off x="8277225" y="43338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90" name="文本框 589" descr="{&quot;isTemplate&quot;:true,&quot;type&quot;:&quot;text&quot;}"/>
          <p:cNvSpPr txBox="1"/>
          <p:nvPr/>
        </p:nvSpPr>
        <p:spPr>
          <a:xfrm>
            <a:off x="8429625" y="4276725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不改合同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91" name="圆角矩形 590"/>
          <p:cNvSpPr/>
          <p:nvPr/>
        </p:nvSpPr>
        <p:spPr>
          <a:xfrm>
            <a:off x="8277225" y="46291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92" name="文本框 591" descr="{&quot;isTemplate&quot;:true,&quot;type&quot;:&quot;text&quot;}"/>
          <p:cNvSpPr txBox="1"/>
          <p:nvPr/>
        </p:nvSpPr>
        <p:spPr>
          <a:xfrm>
            <a:off x="8429625" y="4572000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不自动评分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93" name="圆角矩形 592"/>
          <p:cNvSpPr/>
          <p:nvPr/>
        </p:nvSpPr>
        <p:spPr>
          <a:xfrm>
            <a:off x="827722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4" name="文本框 593" descr="{&quot;isTemplate&quot;:true,&quot;type&quot;:&quot;text&quot;}"/>
          <p:cNvSpPr txBox="1"/>
          <p:nvPr/>
        </p:nvSpPr>
        <p:spPr>
          <a:xfrm>
            <a:off x="838200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品类规则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95" name="圆角矩形 594"/>
          <p:cNvSpPr/>
          <p:nvPr/>
        </p:nvSpPr>
        <p:spPr>
          <a:xfrm>
            <a:off x="902017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6" name="文本框 595" descr="{&quot;isTemplate&quot;:true,&quot;type&quot;:&quot;text&quot;}"/>
          <p:cNvSpPr txBox="1"/>
          <p:nvPr/>
        </p:nvSpPr>
        <p:spPr>
          <a:xfrm>
            <a:off x="912495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审核记录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97" name="圆角矩形 596"/>
          <p:cNvSpPr/>
          <p:nvPr/>
        </p:nvSpPr>
        <p:spPr>
          <a:xfrm>
            <a:off x="976312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8" name="文本框 597" descr="{&quot;isTemplate&quot;:true,&quot;type&quot;:&quot;text&quot;}"/>
          <p:cNvSpPr txBox="1"/>
          <p:nvPr/>
        </p:nvSpPr>
        <p:spPr>
          <a:xfrm>
            <a:off x="986790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评价规范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99" name="任意多边形 598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600" name="文本框 599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601" name="文本框 600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12 / 16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1" name="" descr="// B · 09 内容页 · 三卡片 — 业务范围（玻璃卡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420, top: 120, width: 520, height: 380, borderRadius: 260, background: 'radial-gradient(circle, rgba(91,200,200,0.10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业务范围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BUSINESS SCOPE&lt;/Text&gt;&#10;        &lt;Box style={{ flex: 1 }} /&gt;&#10;        &lt;Text style={{ fontSize: 14, color: '#8FA6BC' }}&gt;三大板块，覆盖销售管理全链路&lt;/Text&gt;&#10;    &lt;/Box&gt;&#10;&#10;    {/* B · 内容区 */}&#10;    &lt;Box style={{ flex: 1, flexDirection: 'row', gap: 24, paddingTop: 34, paddingBottom: 30 }}&gt;&#10;        {[&#10;            { no: '01', title: '管理咨询', en: 'CONSULTING', desc: '以 PPABC 销售管理体系为主线，完成从市场规划、客户规划到商机规划与达标策略的全链路设计，让目标有清晰的组织承接。', pts: ['市场 · 客户 · 商机三层规划', '销售流程与制度重构', '目标分解与达标策略'], tags: ['销售体系设计', '流程重构', '组织赋能'] },&#10;            { no: '02', title: '销售智能化', en: 'AI ENABLEMENT', desc: '把 LTC 流程、知识与 AI 能力打通，让销售动作可沉淀、可复制、可度量，最终形成企业自己的销售资产。', pts: ['结构化语料库与知识萃取', '智能中台与 Skills 编排', '业务数据双向闭环'], tags: ['智能中台', '知识萃取', '数据闭环'] },&#10;            { no: '03', title: '培训与陪跑', en: 'TRAINING', desc: '从方法论讲授到一线陪跑，用真实商机做复盘与教练式辅导，把方法论变成团队肌肉记忆。', pts: ['方法论分层课程体系', '真实商机复盘与教练', '行为改变跟踪与反馈'], tags: ['实战训练', '商机复盘', '教练辅导'] }&#10;        ].map((c, idx) =&gt; (&#10;            &lt;Box key={idx} style={{ flex: 1, flexDirection: 'column', background: 'rgba(255,255,255,0.045)', border: '1px solid rgba(143,216,232,0.18)', borderRadius: 14, overflow: 'hidden', boxShadow: '0 10px 34px rgba(0,0,0,0.36)' }}&gt;&#10;                &lt;Box style={{ height: 3, width: '100%', background: 'linear-gradient(90deg, #8FD8E8 0%, #3FA8BF 100%)' }} /&gt;&#10;                &lt;Box style={{ flex: 1, flexDirection: 'column', padding: '24px 24px 20px' }}&gt;&#10;                    &lt;Box style={{ flexDirection: 'row', alignItems: 'baseline', gap: 12 }}&gt;&#10;                        &lt;Text style={{ fontSize: 30, fontWeight: 'bold', color: '#5BC8C8', fontFamily: '&quot;Inter&quot;,&quot;Helvetica Neue&quot;,Arial,sans-serif', letterSpacing: -1 }}&gt;{c.no}&lt;/Text&gt;&#10;                        &lt;Text style={{ fontSize: 24, fontWeight: 'bold', color: '#EAF2F8', letterSpacing: -0.3 }}&gt;{c.title}&lt;/Text&gt;&#10;                    &lt;/Box&gt;&#10;                    &lt;Text style={{ fontSize: 11, color: '#5E7590', letterSpacing: 2.5, marginTop: 8, fontFamily: '&quot;Inter&quot;,&quot;Helvetica Neue&quot;,Arial,sans-serif' }}&gt;{c.en}&lt;/Text&gt;&#10;                    &lt;Box style={{ width: 32, height: 2, background: 'rgba(143,216,232,0.35)', marginTop: 14 }} /&gt;&#10;                    &lt;Text style={{ fontSize: 16, color: '#9FB4C6', lineHeight: 1.9, marginTop: 14 }}&gt;&#10;                        {c.desc}&#10;                    &lt;/Text&gt;&#10;                    &lt;Box style={{ flexDirection: 'column', gap: 13, marginTop: 20, paddingTop: 18, borderTop: '1px dashed rgba(143,216,232,0.18)' }}&gt;&#10;                        {c.pts.map((p, i) =&gt; (&#10;                            &lt;Box key={i} style={{ flexDirection: 'row', alignItems: 'center', gap: 10 }}&gt;&#10;                                &lt;Box style={{ width: 6, height: 6, borderRadius: 3, background: '#5BC8C8' }} /&gt;&#10;                                &lt;Text style={{ fontSize: 15, color: '#B9CBDA' }}&gt;{p}&lt;/Text&gt;&#10;                            &lt;/Box&gt;&#10;                        ))}&#10;                    &lt;/Box&gt;&#10;                    &lt;Box style={{ marginTop: 'auto', flexDirection: 'row', flexWrap: 'wrap', gap: 8, paddingTop: 16 }}&gt;&#10;                        {c.tags.map((t, i) =&gt; (&#10;                            &lt;Box key={i} style={{ padding: '5px 11px', borderRadius: 999, background: 'rgba(91,200,200,0.09)', border: '1px solid rgba(143,216,232,0.24)' }}&gt;&#10;                                &lt;Text style={{ fontSize: 12, color: '#8FD8E8' }}&gt;{t}&lt;/Text&gt;&#10;                            &lt;/Box&gt;&#10;                        ))}&#10;                    &lt;/Box&gt;&#10;                &lt;/Box&gt;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9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矩形 5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533" name="任意多边形 532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534" name="圆角矩形 533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35" name="文本框 534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作业同步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36" name="矩形 535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537" name="文本框 536" descr="{&quot;isTemplate&quot;:true,&quot;type&quot;:&quot;text&quot;}"/>
          <p:cNvSpPr txBox="1"/>
          <p:nvPr/>
        </p:nvSpPr>
        <p:spPr>
          <a:xfrm>
            <a:off x="2381250" y="590550"/>
            <a:ext cx="1466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SYNC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538" name="文本框 537" descr="{&quot;isTemplate&quot;:true,&quot;type&quot;:&quot;text&quot;}"/>
          <p:cNvSpPr txBox="1"/>
          <p:nvPr/>
        </p:nvSpPr>
        <p:spPr>
          <a:xfrm>
            <a:off x="9639300" y="58102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换版后出影响清单与草稿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539" name="圆角矩形 538"/>
          <p:cNvSpPr/>
          <p:nvPr/>
        </p:nvSpPr>
        <p:spPr>
          <a:xfrm>
            <a:off x="685800" y="1466850"/>
            <a:ext cx="3457575" cy="4343400"/>
          </a:xfrm>
          <a:prstGeom prst="roundRect">
            <a:avLst>
              <a:gd name="adj" fmla="val 385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40" name="任意多边形 539"/>
          <p:cNvSpPr/>
          <p:nvPr/>
        </p:nvSpPr>
        <p:spPr>
          <a:xfrm>
            <a:off x="685800" y="1466850"/>
            <a:ext cx="3457575" cy="28575"/>
          </a:xfrm>
          <a:custGeom>
            <a:avLst/>
            <a:gdLst/>
            <a:ahLst/>
            <a:cxnLst/>
            <a:pathLst>
              <a:path w="363" h="3">
                <a:moveTo>
                  <a:pt x="349" y="0"/>
                </a:moveTo>
                <a:cubicBezTo>
                  <a:pt x="352" y="0"/>
                  <a:pt x="355" y="1"/>
                  <a:pt x="358" y="3"/>
                </a:cubicBezTo>
                <a:lnTo>
                  <a:pt x="5" y="3"/>
                </a:lnTo>
                <a:cubicBezTo>
                  <a:pt x="8" y="1"/>
                  <a:pt x="11" y="0"/>
                  <a:pt x="14" y="0"/>
                </a:cubicBezTo>
                <a:lnTo>
                  <a:pt x="349" y="0"/>
                </a:lnTo>
                <a:close/>
              </a:path>
            </a:pathLst>
          </a:cu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0" scaled="1"/>
          </a:gradFill>
        </p:spPr>
        <p:txBody>
          <a:bodyPr/>
          <a:p/>
        </p:txBody>
      </p:sp>
      <p:sp>
        <p:nvSpPr>
          <p:cNvPr id="541" name="文本框 540" descr="{&quot;isTemplate&quot;:true,&quot;type&quot;:&quot;text&quot;}"/>
          <p:cNvSpPr txBox="1"/>
          <p:nvPr/>
        </p:nvSpPr>
        <p:spPr>
          <a:xfrm>
            <a:off x="914400" y="1724025"/>
            <a:ext cx="3048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5BC8C8"/>
                </a:solidFill>
                <a:latin typeface="Inter"/>
                <a:ea typeface="Inter"/>
              </a:rPr>
              <a:t>01</a:t>
            </a:r>
            <a:endParaRPr lang="en-US" sz="22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542" name="文本框 541" descr="{&quot;isTemplate&quot;:true,&quot;type&quot;:&quot;text&quot;}"/>
          <p:cNvSpPr txBox="1"/>
          <p:nvPr/>
        </p:nvSpPr>
        <p:spPr>
          <a:xfrm>
            <a:off x="1333500" y="1724025"/>
            <a:ext cx="9048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系统产出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43" name="文本框 542" descr="{&quot;isTemplate&quot;:true,&quot;type&quot;:&quot;text&quot;}"/>
          <p:cNvSpPr txBox="1"/>
          <p:nvPr/>
        </p:nvSpPr>
        <p:spPr>
          <a:xfrm>
            <a:off x="914400" y="2143125"/>
            <a:ext cx="30003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OUTPUT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544" name="矩形 543"/>
          <p:cNvSpPr/>
          <p:nvPr/>
        </p:nvSpPr>
        <p:spPr>
          <a:xfrm>
            <a:off x="914400" y="2409825"/>
            <a:ext cx="30480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45" name="文本框 544" descr="{&quot;isTemplate&quot;:true,&quot;type&quot;:&quot;text&quot;}"/>
          <p:cNvSpPr txBox="1"/>
          <p:nvPr/>
        </p:nvSpPr>
        <p:spPr>
          <a:xfrm>
            <a:off x="914400" y="2562225"/>
            <a:ext cx="3000375" cy="1047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换版后列出受影响的手册、巡检项与课程，并出修订草稿。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46" name="任意多边形 545"/>
          <p:cNvSpPr/>
          <p:nvPr/>
        </p:nvSpPr>
        <p:spPr>
          <a:xfrm>
            <a:off x="914400" y="3800475"/>
            <a:ext cx="3000375" cy="952500"/>
          </a:xfrm>
          <a:custGeom>
            <a:avLst/>
            <a:gdLst/>
            <a:ahLst/>
            <a:cxnLst/>
            <a:pathLst>
              <a:path w="315" h="100">
                <a:moveTo>
                  <a:pt x="0" y="0"/>
                </a:moveTo>
                <a:lnTo>
                  <a:pt x="315" y="0"/>
                </a:lnTo>
                <a:lnTo>
                  <a:pt x="315" y="1"/>
                </a:lnTo>
                <a:lnTo>
                  <a:pt x="0" y="1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sp>
        <p:nvSpPr>
          <p:cNvPr id="547" name="圆角矩形 546"/>
          <p:cNvSpPr/>
          <p:nvPr/>
        </p:nvSpPr>
        <p:spPr>
          <a:xfrm>
            <a:off x="914400" y="4038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48" name="文本框 547" descr="{&quot;isTemplate&quot;:true,&quot;type&quot;:&quot;text&quot;}"/>
          <p:cNvSpPr txBox="1"/>
          <p:nvPr/>
        </p:nvSpPr>
        <p:spPr>
          <a:xfrm>
            <a:off x="1066800" y="3981450"/>
            <a:ext cx="1762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影响清单</a:t>
            </a:r>
            <a:r>
              <a:rPr lang="en-US" sz="1125">
                <a:solidFill>
                  <a:srgbClr val="B9CBDA"/>
                </a:solidFill>
                <a:latin typeface="PingFang SC"/>
                <a:ea typeface="PingFang SC"/>
              </a:rPr>
              <a:t> · </a:t>
            </a: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修订草稿</a:t>
            </a:r>
            <a:r>
              <a:rPr lang="en-US" sz="1125">
                <a:solidFill>
                  <a:srgbClr val="B9CBDA"/>
                </a:solidFill>
                <a:latin typeface="PingFang SC"/>
                <a:ea typeface="PingFang SC"/>
              </a:rPr>
              <a:t> · </a:t>
            </a: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版本对应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49" name="圆角矩形 548"/>
          <p:cNvSpPr/>
          <p:nvPr/>
        </p:nvSpPr>
        <p:spPr>
          <a:xfrm>
            <a:off x="914400" y="43338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50" name="文本框 549" descr="{&quot;isTemplate&quot;:true,&quot;type&quot;:&quot;text&quot;}"/>
          <p:cNvSpPr txBox="1"/>
          <p:nvPr/>
        </p:nvSpPr>
        <p:spPr>
          <a:xfrm>
            <a:off x="1066800" y="4276725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对应关系待核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51" name="圆角矩形 550"/>
          <p:cNvSpPr/>
          <p:nvPr/>
        </p:nvSpPr>
        <p:spPr>
          <a:xfrm>
            <a:off x="914400" y="46291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52" name="文本框 551" descr="{&quot;isTemplate&quot;:true,&quot;type&quot;:&quot;text&quot;}"/>
          <p:cNvSpPr txBox="1"/>
          <p:nvPr/>
        </p:nvSpPr>
        <p:spPr>
          <a:xfrm>
            <a:off x="1066800" y="4572000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发布走原流程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53" name="圆角矩形 552"/>
          <p:cNvSpPr/>
          <p:nvPr/>
        </p:nvSpPr>
        <p:spPr>
          <a:xfrm>
            <a:off x="914400" y="5381625"/>
            <a:ext cx="8953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4" name="文本框 553" descr="{&quot;isTemplate&quot;:true,&quot;type&quot;:&quot;text&quot;}"/>
          <p:cNvSpPr txBox="1"/>
          <p:nvPr/>
        </p:nvSpPr>
        <p:spPr>
          <a:xfrm>
            <a:off x="1019175" y="5429250"/>
            <a:ext cx="6858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不改手册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55" name="圆角矩形 554"/>
          <p:cNvSpPr/>
          <p:nvPr/>
        </p:nvSpPr>
        <p:spPr>
          <a:xfrm>
            <a:off x="1885950" y="5381625"/>
            <a:ext cx="753110" cy="24574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6" name="文本框 555" descr="{&quot;isTemplate&quot;:true,&quot;type&quot;:&quot;text&quot;}"/>
          <p:cNvSpPr txBox="1"/>
          <p:nvPr/>
        </p:nvSpPr>
        <p:spPr>
          <a:xfrm>
            <a:off x="1990725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不改课程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57" name="圆角矩形 556"/>
          <p:cNvSpPr/>
          <p:nvPr/>
        </p:nvSpPr>
        <p:spPr>
          <a:xfrm>
            <a:off x="266382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8" name="文本框 557" descr="{&quot;isTemplate&quot;:true,&quot;type&quot;:&quot;text&quot;}"/>
          <p:cNvSpPr txBox="1"/>
          <p:nvPr/>
        </p:nvSpPr>
        <p:spPr>
          <a:xfrm>
            <a:off x="276860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不改巡检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59" name="圆角矩形 558"/>
          <p:cNvSpPr/>
          <p:nvPr/>
        </p:nvSpPr>
        <p:spPr>
          <a:xfrm>
            <a:off x="4371975" y="1466850"/>
            <a:ext cx="3448050" cy="4343400"/>
          </a:xfrm>
          <a:prstGeom prst="roundRect">
            <a:avLst>
              <a:gd name="adj" fmla="val 386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60" name="任意多边形 559"/>
          <p:cNvSpPr/>
          <p:nvPr/>
        </p:nvSpPr>
        <p:spPr>
          <a:xfrm>
            <a:off x="4371975" y="1466850"/>
            <a:ext cx="3448050" cy="28575"/>
          </a:xfrm>
          <a:custGeom>
            <a:avLst/>
            <a:gdLst/>
            <a:ahLst/>
            <a:cxnLst/>
            <a:pathLst>
              <a:path w="362" h="3">
                <a:moveTo>
                  <a:pt x="348" y="0"/>
                </a:moveTo>
                <a:cubicBezTo>
                  <a:pt x="351" y="0"/>
                  <a:pt x="354" y="1"/>
                  <a:pt x="357" y="3"/>
                </a:cubicBezTo>
                <a:lnTo>
                  <a:pt x="5" y="3"/>
                </a:lnTo>
                <a:cubicBezTo>
                  <a:pt x="8" y="1"/>
                  <a:pt x="11" y="0"/>
                  <a:pt x="14" y="0"/>
                </a:cubicBezTo>
                <a:lnTo>
                  <a:pt x="348" y="0"/>
                </a:lnTo>
                <a:close/>
              </a:path>
            </a:pathLst>
          </a:cu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0" scaled="1"/>
          </a:gradFill>
        </p:spPr>
        <p:txBody>
          <a:bodyPr/>
          <a:p/>
        </p:txBody>
      </p:sp>
      <p:sp>
        <p:nvSpPr>
          <p:cNvPr id="561" name="文本框 560" descr="{&quot;isTemplate&quot;:true,&quot;type&quot;:&quot;text&quot;}"/>
          <p:cNvSpPr txBox="1"/>
          <p:nvPr/>
        </p:nvSpPr>
        <p:spPr>
          <a:xfrm>
            <a:off x="4600575" y="1724025"/>
            <a:ext cx="3048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5BC8C8"/>
                </a:solidFill>
                <a:latin typeface="Inter"/>
                <a:ea typeface="Inter"/>
              </a:rPr>
              <a:t>02</a:t>
            </a:r>
            <a:endParaRPr lang="en-US" sz="22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562" name="文本框 561" descr="{&quot;isTemplate&quot;:true,&quot;type&quot;:&quot;text&quot;}"/>
          <p:cNvSpPr txBox="1"/>
          <p:nvPr/>
        </p:nvSpPr>
        <p:spPr>
          <a:xfrm>
            <a:off x="5019675" y="1724025"/>
            <a:ext cx="11334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人来确认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63" name="文本框 562" descr="{&quot;isTemplate&quot;:true,&quot;type&quot;:&quot;text&quot;}"/>
          <p:cNvSpPr txBox="1"/>
          <p:nvPr/>
        </p:nvSpPr>
        <p:spPr>
          <a:xfrm>
            <a:off x="4600575" y="2143125"/>
            <a:ext cx="29908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DECIDE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564" name="矩形 563"/>
          <p:cNvSpPr/>
          <p:nvPr/>
        </p:nvSpPr>
        <p:spPr>
          <a:xfrm>
            <a:off x="4600575" y="2409825"/>
            <a:ext cx="30480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65" name="文本框 564" descr="{&quot;isTemplate&quot;:true,&quot;type&quot;:&quot;text&quot;}"/>
          <p:cNvSpPr txBox="1"/>
          <p:nvPr/>
        </p:nvSpPr>
        <p:spPr>
          <a:xfrm>
            <a:off x="4600575" y="2562225"/>
            <a:ext cx="2990850" cy="1047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工程与运维负责人确认影响范围并签核。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66" name="任意多边形 565"/>
          <p:cNvSpPr/>
          <p:nvPr/>
        </p:nvSpPr>
        <p:spPr>
          <a:xfrm>
            <a:off x="4600575" y="3800475"/>
            <a:ext cx="2990850" cy="952500"/>
          </a:xfrm>
          <a:custGeom>
            <a:avLst/>
            <a:gdLst/>
            <a:ahLst/>
            <a:cxnLst/>
            <a:pathLst>
              <a:path w="314" h="100">
                <a:moveTo>
                  <a:pt x="0" y="0"/>
                </a:moveTo>
                <a:lnTo>
                  <a:pt x="314" y="0"/>
                </a:lnTo>
                <a:lnTo>
                  <a:pt x="314" y="1"/>
                </a:lnTo>
                <a:lnTo>
                  <a:pt x="0" y="1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sp>
        <p:nvSpPr>
          <p:cNvPr id="567" name="圆角矩形 566"/>
          <p:cNvSpPr/>
          <p:nvPr/>
        </p:nvSpPr>
        <p:spPr>
          <a:xfrm>
            <a:off x="4600575" y="4038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68" name="文本框 567" descr="{&quot;isTemplate&quot;:true,&quot;type&quot;:&quot;text&quot;}"/>
          <p:cNvSpPr txBox="1"/>
          <p:nvPr/>
        </p:nvSpPr>
        <p:spPr>
          <a:xfrm>
            <a:off x="4752975" y="3981450"/>
            <a:ext cx="1571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工程确认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69" name="圆角矩形 568"/>
          <p:cNvSpPr/>
          <p:nvPr/>
        </p:nvSpPr>
        <p:spPr>
          <a:xfrm>
            <a:off x="4600575" y="43338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70" name="文本框 569" descr="{&quot;isTemplate&quot;:true,&quot;type&quot;:&quot;text&quot;}"/>
          <p:cNvSpPr txBox="1"/>
          <p:nvPr/>
        </p:nvSpPr>
        <p:spPr>
          <a:xfrm>
            <a:off x="4752975" y="4276725"/>
            <a:ext cx="14382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运维确认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71" name="圆角矩形 570"/>
          <p:cNvSpPr/>
          <p:nvPr/>
        </p:nvSpPr>
        <p:spPr>
          <a:xfrm>
            <a:off x="4600575" y="46291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72" name="文本框 571" descr="{&quot;isTemplate&quot;:true,&quot;type&quot;:&quot;text&quot;}"/>
          <p:cNvSpPr txBox="1"/>
          <p:nvPr/>
        </p:nvSpPr>
        <p:spPr>
          <a:xfrm>
            <a:off x="4752975" y="4572000"/>
            <a:ext cx="1143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培训确认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73" name="圆角矩形 572"/>
          <p:cNvSpPr/>
          <p:nvPr/>
        </p:nvSpPr>
        <p:spPr>
          <a:xfrm>
            <a:off x="460057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4" name="文本框 573" descr="{&quot;isTemplate&quot;:true,&quot;type&quot;:&quot;text&quot;}"/>
          <p:cNvSpPr txBox="1"/>
          <p:nvPr/>
        </p:nvSpPr>
        <p:spPr>
          <a:xfrm>
            <a:off x="470535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影响范围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75" name="圆角矩形 574"/>
          <p:cNvSpPr/>
          <p:nvPr/>
        </p:nvSpPr>
        <p:spPr>
          <a:xfrm>
            <a:off x="534352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6" name="文本框 575" descr="{&quot;isTemplate&quot;:true,&quot;type&quot;:&quot;text&quot;}"/>
          <p:cNvSpPr txBox="1"/>
          <p:nvPr/>
        </p:nvSpPr>
        <p:spPr>
          <a:xfrm>
            <a:off x="544830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修订稿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77" name="圆角矩形 576"/>
          <p:cNvSpPr/>
          <p:nvPr/>
        </p:nvSpPr>
        <p:spPr>
          <a:xfrm>
            <a:off x="6086475" y="5381625"/>
            <a:ext cx="768985" cy="24574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8" name="文本框 577" descr="{&quot;isTemplate&quot;:true,&quot;type&quot;:&quot;text&quot;}"/>
          <p:cNvSpPr txBox="1"/>
          <p:nvPr/>
        </p:nvSpPr>
        <p:spPr>
          <a:xfrm>
            <a:off x="619125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签核后发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79" name="圆角矩形 578"/>
          <p:cNvSpPr/>
          <p:nvPr/>
        </p:nvSpPr>
        <p:spPr>
          <a:xfrm>
            <a:off x="8048625" y="1466850"/>
            <a:ext cx="3457575" cy="4343400"/>
          </a:xfrm>
          <a:prstGeom prst="roundRect">
            <a:avLst>
              <a:gd name="adj" fmla="val 385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80" name="任意多边形 579"/>
          <p:cNvSpPr/>
          <p:nvPr/>
        </p:nvSpPr>
        <p:spPr>
          <a:xfrm>
            <a:off x="8048625" y="1466850"/>
            <a:ext cx="3457575" cy="28575"/>
          </a:xfrm>
          <a:custGeom>
            <a:avLst/>
            <a:gdLst/>
            <a:ahLst/>
            <a:cxnLst/>
            <a:pathLst>
              <a:path w="363" h="3">
                <a:moveTo>
                  <a:pt x="349" y="0"/>
                </a:moveTo>
                <a:cubicBezTo>
                  <a:pt x="352" y="0"/>
                  <a:pt x="355" y="1"/>
                  <a:pt x="358" y="3"/>
                </a:cubicBezTo>
                <a:lnTo>
                  <a:pt x="5" y="3"/>
                </a:lnTo>
                <a:cubicBezTo>
                  <a:pt x="8" y="1"/>
                  <a:pt x="11" y="0"/>
                  <a:pt x="14" y="0"/>
                </a:cubicBezTo>
                <a:lnTo>
                  <a:pt x="349" y="0"/>
                </a:lnTo>
                <a:close/>
              </a:path>
            </a:pathLst>
          </a:cu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0" scaled="1"/>
          </a:gradFill>
        </p:spPr>
        <p:txBody>
          <a:bodyPr/>
          <a:p/>
        </p:txBody>
      </p:sp>
      <p:sp>
        <p:nvSpPr>
          <p:cNvPr id="581" name="文本框 580" descr="{&quot;isTemplate&quot;:true,&quot;type&quot;:&quot;text&quot;}"/>
          <p:cNvSpPr txBox="1"/>
          <p:nvPr/>
        </p:nvSpPr>
        <p:spPr>
          <a:xfrm>
            <a:off x="8277225" y="1724025"/>
            <a:ext cx="3048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5BC8C8"/>
                </a:solidFill>
                <a:latin typeface="Inter"/>
                <a:ea typeface="Inter"/>
              </a:rPr>
              <a:t>03</a:t>
            </a:r>
            <a:endParaRPr lang="en-US" sz="22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582" name="文本框 581" descr="{&quot;isTemplate&quot;:true,&quot;type&quot;:&quot;text&quot;}"/>
          <p:cNvSpPr txBox="1"/>
          <p:nvPr/>
        </p:nvSpPr>
        <p:spPr>
          <a:xfrm>
            <a:off x="8696325" y="1724025"/>
            <a:ext cx="11334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留在人工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83" name="文本框 582" descr="{&quot;isTemplate&quot;:true,&quot;type&quot;:&quot;text&quot;}"/>
          <p:cNvSpPr txBox="1"/>
          <p:nvPr/>
        </p:nvSpPr>
        <p:spPr>
          <a:xfrm>
            <a:off x="8277225" y="2143125"/>
            <a:ext cx="30003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STOP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584" name="矩形 583"/>
          <p:cNvSpPr/>
          <p:nvPr/>
        </p:nvSpPr>
        <p:spPr>
          <a:xfrm>
            <a:off x="8277225" y="2409825"/>
            <a:ext cx="30480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85" name="文本框 584" descr="{&quot;isTemplate&quot;:true,&quot;type&quot;:&quot;text&quot;}"/>
          <p:cNvSpPr txBox="1"/>
          <p:nvPr/>
        </p:nvSpPr>
        <p:spPr>
          <a:xfrm>
            <a:off x="8277225" y="2562225"/>
            <a:ext cx="3000375" cy="1047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手册、课程与巡检的发布仍走现有流程。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86" name="任意多边形 585"/>
          <p:cNvSpPr/>
          <p:nvPr/>
        </p:nvSpPr>
        <p:spPr>
          <a:xfrm>
            <a:off x="8277225" y="3800475"/>
            <a:ext cx="3000375" cy="952500"/>
          </a:xfrm>
          <a:custGeom>
            <a:avLst/>
            <a:gdLst/>
            <a:ahLst/>
            <a:cxnLst/>
            <a:pathLst>
              <a:path w="315" h="100">
                <a:moveTo>
                  <a:pt x="0" y="0"/>
                </a:moveTo>
                <a:lnTo>
                  <a:pt x="315" y="0"/>
                </a:lnTo>
                <a:lnTo>
                  <a:pt x="315" y="1"/>
                </a:lnTo>
                <a:lnTo>
                  <a:pt x="0" y="1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sp>
        <p:nvSpPr>
          <p:cNvPr id="587" name="圆角矩形 586"/>
          <p:cNvSpPr/>
          <p:nvPr/>
        </p:nvSpPr>
        <p:spPr>
          <a:xfrm>
            <a:off x="8277225" y="4038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88" name="文本框 587" descr="{&quot;isTemplate&quot;:true,&quot;type&quot;:&quot;text&quot;}"/>
          <p:cNvSpPr txBox="1"/>
          <p:nvPr/>
        </p:nvSpPr>
        <p:spPr>
          <a:xfrm>
            <a:off x="8429625" y="3981450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不改发布流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89" name="圆角矩形 588"/>
          <p:cNvSpPr/>
          <p:nvPr/>
        </p:nvSpPr>
        <p:spPr>
          <a:xfrm>
            <a:off x="8277225" y="43338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90" name="文本框 589" descr="{&quot;isTemplate&quot;:true,&quot;type&quot;:&quot;text&quot;}"/>
          <p:cNvSpPr txBox="1"/>
          <p:nvPr/>
        </p:nvSpPr>
        <p:spPr>
          <a:xfrm>
            <a:off x="8429625" y="4276725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不自动下发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91" name="圆角矩形 590"/>
          <p:cNvSpPr/>
          <p:nvPr/>
        </p:nvSpPr>
        <p:spPr>
          <a:xfrm>
            <a:off x="8277225" y="46291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92" name="文本框 591" descr="{&quot;isTemplate&quot;:true,&quot;type&quot;:&quot;text&quot;}"/>
          <p:cNvSpPr txBox="1"/>
          <p:nvPr/>
        </p:nvSpPr>
        <p:spPr>
          <a:xfrm>
            <a:off x="8429625" y="4572000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不替代签核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93" name="圆角矩形 592"/>
          <p:cNvSpPr/>
          <p:nvPr/>
        </p:nvSpPr>
        <p:spPr>
          <a:xfrm>
            <a:off x="827722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4" name="文本框 593" descr="{&quot;isTemplate&quot;:true,&quot;type&quot;:&quot;text&quot;}"/>
          <p:cNvSpPr txBox="1"/>
          <p:nvPr/>
        </p:nvSpPr>
        <p:spPr>
          <a:xfrm>
            <a:off x="838200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技术手册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95" name="圆角矩形 594"/>
          <p:cNvSpPr/>
          <p:nvPr/>
        </p:nvSpPr>
        <p:spPr>
          <a:xfrm>
            <a:off x="902017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6" name="文本框 595" descr="{&quot;isTemplate&quot;:true,&quot;type&quot;:&quot;text&quot;}"/>
          <p:cNvSpPr txBox="1"/>
          <p:nvPr/>
        </p:nvSpPr>
        <p:spPr>
          <a:xfrm>
            <a:off x="912495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巡检项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97" name="圆角矩形 596"/>
          <p:cNvSpPr/>
          <p:nvPr/>
        </p:nvSpPr>
        <p:spPr>
          <a:xfrm>
            <a:off x="976312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8" name="文本框 597" descr="{&quot;isTemplate&quot;:true,&quot;type&quot;:&quot;text&quot;}"/>
          <p:cNvSpPr txBox="1"/>
          <p:nvPr/>
        </p:nvSpPr>
        <p:spPr>
          <a:xfrm>
            <a:off x="986790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培训课程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99" name="任意多边形 598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600" name="文本框 599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601" name="文本框 600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13 / 16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1" name="" descr="// B · 05 内容页 · 核心理念 — 四宫格（玻璃卡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340, top: 140, width: 560, height: 400, borderRadius: 280, background: 'radial-gradient(circle, rgba(91,200,200,0.09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核心理念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CORE VALUES&lt;/Text&gt;&#10;        &lt;Box style={{ flex: 1 }} /&gt;&#10;        &lt;Text style={{ fontSize: 14, color: '#8FA6BC' }}&gt;四条原则，决定我们怎么做项目&lt;/Text&gt;&#10;    &lt;/Box&gt;&#10;&#10;    {/* B · 内容区 */}&#10;    &lt;Box style={{ flex: 1, flexDirection: 'row', flexWrap: 'wrap', gap: 24, paddingTop: 28, paddingBottom: 24 }}&gt;&#10;        {[&#10;            { icon: 'users', title: '以客户为中心', en: 'CLIENT FIRST', desc: '从客户的目标与约束出发设计方案，不以方法论套用代替业务判断。', act: '先问目标，再谈方案' },&#10;            { icon: 'chart-line', title: '以结果为导向', en: 'RESULT DRIVEN', desc: '每个阶段都定义可衡量的指标，用数据说明价值，而不是用篇幅说明努力。', act: '每阶段定义验收指标' },&#10;            { icon: 'file-text', title: '以方法为沉淀', en: 'METHOD BASED', desc: '把经验结构化为流程、模板与语料，让能力留存在组织而不是个人身上。', act: '项目结束即产出模板' },&#10;            { icon: 'clock', title: '以长期为承诺', en: 'LONG TERM', desc: '不交付一份报告就结束，陪跑到动作改变、指标改善并能够自我循环。', act: '季度复盘与持续迭代' }&#10;        ].map((c, idx) =&gt; (&#10;            &lt;Box key={idx} style={{ width: 556, height: 228, flexDirection: 'column', background: 'rgba(255,255,255,0.045)', border: '1px solid rgba(143,216,232,0.18)', borderRadius: 16, padding: '22px 28px 20px', boxShadow: '0 10px 34px rgba(0,0,0,0.36)' }}&gt;&#10;                &lt;Box style={{ flexDirection: 'row', alignItems: 'center', gap: 16 }}&gt;&#10;                    &lt;Box style={{ width: 54, height: 54, borderRadius: 16, background: 'linear-gradient(135deg, #8FD8E8 0%, #3FA8BF 100%)', justifyContent: 'center', alignItems: 'center', boxShadow: '0 6px 18px rgba(91,200,200,0.32)' }}&gt;&#10;                        &lt;FAIcon name={c.icon} style={{ fill: '#081322', width: 25, height: 25 }} /&gt;&#10;                    &lt;/Box&gt;&#10;                    &lt;Box style={{ flexDirection: 'column', gap: 6 }}&gt;&#10;                        &lt;Text style={{ fontSize: 24, fontWeight: 'bold', color: '#EAF2F8', letterSpacing: -0.3 }}&gt;{c.title}&lt;/Text&gt;&#10;                        &lt;Text style={{ fontSize: 12, color: '#5E7590', letterSpacing: 2.5, fontFamily: '&quot;Inter&quot;,&quot;Helvetica Neue&quot;,Arial,sans-serif' }}&gt;{c.en}&lt;/Text&gt;&#10;                    &lt;/Box&gt;&#10;                &lt;/Box&gt;&#10;                &lt;Text style={{ fontSize: 16, color: '#9FB4C6', lineHeight: 1.85, marginTop: 18 }}&gt;&#10;                    {c.desc}&#10;                &lt;/Text&gt;&#10;                &lt;Box style={{ marginTop: 'auto', flexDirection: 'row', alignItems: 'center', gap: 10, paddingTop: 12 }}&gt;&#10;                    &lt;Box style={{ width: 18, height: 2, background: 'linear-gradient(135deg, #8FD8E8 0%, #3FA8BF 100%)', borderRadius: 1 }} /&gt;&#10;                    &lt;Text style={{ fontSize: 14, color: '#8FD8E8' }}&gt;行动准则：{c.act}&lt;/Text&gt;&#10;                &lt;/Box&gt;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5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矩形 3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343" name="任意多边形 342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344" name="圆角矩形 343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共用底座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46" name="矩形 345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2381250" y="590550"/>
            <a:ext cx="11715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BASE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348" name="文本框 347" descr="{&quot;isTemplate&quot;:true,&quot;type&quot;:&quot;text&quot;}"/>
          <p:cNvSpPr txBox="1"/>
          <p:nvPr/>
        </p:nvSpPr>
        <p:spPr>
          <a:xfrm>
            <a:off x="9639300" y="58102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已有则接入，否则做最小集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349" name="圆角矩形 348"/>
          <p:cNvSpPr/>
          <p:nvPr/>
        </p:nvSpPr>
        <p:spPr>
          <a:xfrm>
            <a:off x="685800" y="14097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50" name="圆角矩形 349"/>
          <p:cNvSpPr/>
          <p:nvPr/>
        </p:nvSpPr>
        <p:spPr>
          <a:xfrm>
            <a:off x="952500" y="16192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51" name="图片 35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375" y="1762125"/>
            <a:ext cx="238125" cy="238125"/>
          </a:xfrm>
          <a:prstGeom prst="rect">
            <a:avLst/>
          </a:prstGeom>
        </p:spPr>
      </p:pic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1619250" y="16383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四项字段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1619250" y="19716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FIELD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54" name="文本框 353" descr="{&quot;isTemplate&quot;:true,&quot;type&quot;:&quot;text&quot;}"/>
          <p:cNvSpPr txBox="1"/>
          <p:nvPr/>
        </p:nvSpPr>
        <p:spPr>
          <a:xfrm>
            <a:off x="952500" y="2305050"/>
            <a:ext cx="4762500" cy="822960"/>
          </a:xfrm>
          <a:prstGeom prst="rect">
            <a:avLst/>
          </a:prstGeom>
        </p:spPr>
        <p:txBody>
          <a:bodyPr wrap="squar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每条可引用内容写明标准号、条款号、版本与适用范围。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55" name="圆角矩形 354"/>
          <p:cNvSpPr/>
          <p:nvPr/>
        </p:nvSpPr>
        <p:spPr>
          <a:xfrm>
            <a:off x="952500" y="33051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1219200" y="32289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边界：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四项必填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57" name="圆角矩形 356"/>
          <p:cNvSpPr/>
          <p:nvPr/>
        </p:nvSpPr>
        <p:spPr>
          <a:xfrm>
            <a:off x="6210300" y="14097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58" name="圆角矩形 357"/>
          <p:cNvSpPr/>
          <p:nvPr/>
        </p:nvSpPr>
        <p:spPr>
          <a:xfrm>
            <a:off x="6477000" y="16192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59" name="图片 3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9875" y="1762125"/>
            <a:ext cx="238125" cy="238125"/>
          </a:xfrm>
          <a:prstGeom prst="rect">
            <a:avLst/>
          </a:prstGeom>
        </p:spPr>
      </p:pic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7143750" y="16383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机型市场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61" name="文本框 360" descr="{&quot;isTemplate&quot;:true,&quot;type&quot;:&quot;text&quot;}"/>
          <p:cNvSpPr txBox="1"/>
          <p:nvPr/>
        </p:nvSpPr>
        <p:spPr>
          <a:xfrm>
            <a:off x="7143750" y="19716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MODEL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62" name="文本框 361" descr="{&quot;isTemplate&quot;:true,&quot;type&quot;:&quot;text&quot;}"/>
          <p:cNvSpPr txBox="1"/>
          <p:nvPr/>
        </p:nvSpPr>
        <p:spPr>
          <a:xfrm>
            <a:off x="6477000" y="2305050"/>
            <a:ext cx="4762500" cy="822960"/>
          </a:xfrm>
          <a:prstGeom prst="rect">
            <a:avLst/>
          </a:prstGeom>
        </p:spPr>
        <p:txBody>
          <a:bodyPr wrap="squar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标准、机型与市场的对应。没有这张表，认证应答无法定位条款。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63" name="圆角矩形 362"/>
          <p:cNvSpPr/>
          <p:nvPr/>
        </p:nvSpPr>
        <p:spPr>
          <a:xfrm>
            <a:off x="6477000" y="33051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6743700" y="32289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边界：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先核后接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65" name="圆角矩形 364"/>
          <p:cNvSpPr/>
          <p:nvPr/>
        </p:nvSpPr>
        <p:spPr>
          <a:xfrm>
            <a:off x="685800" y="38100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66" name="圆角矩形 365"/>
          <p:cNvSpPr/>
          <p:nvPr/>
        </p:nvSpPr>
        <p:spPr>
          <a:xfrm>
            <a:off x="952500" y="40195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67" name="图片 36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5375" y="4162425"/>
            <a:ext cx="238125" cy="238125"/>
          </a:xfrm>
          <a:prstGeom prst="rect">
            <a:avLst/>
          </a:prstGeom>
        </p:spPr>
      </p:pic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1619250" y="40386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作业载体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1619250" y="43719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CARRIER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952500" y="4705350"/>
            <a:ext cx="4762500" cy="822960"/>
          </a:xfrm>
          <a:prstGeom prst="rect">
            <a:avLst/>
          </a:prstGeom>
        </p:spPr>
        <p:txBody>
          <a:bodyPr wrap="squar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标准到手册、合同、巡检项、课程的对应。作业同步依赖这张表。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71" name="圆角矩形 370"/>
          <p:cNvSpPr/>
          <p:nvPr/>
        </p:nvSpPr>
        <p:spPr>
          <a:xfrm>
            <a:off x="952500" y="57054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1219200" y="56292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边界：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对应待核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73" name="圆角矩形 372"/>
          <p:cNvSpPr/>
          <p:nvPr/>
        </p:nvSpPr>
        <p:spPr>
          <a:xfrm>
            <a:off x="6210300" y="38100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74" name="圆角矩形 373"/>
          <p:cNvSpPr/>
          <p:nvPr/>
        </p:nvSpPr>
        <p:spPr>
          <a:xfrm>
            <a:off x="6477000" y="40195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75" name="图片 37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9875" y="4162425"/>
            <a:ext cx="238125" cy="238125"/>
          </a:xfrm>
          <a:prstGeom prst="rect">
            <a:avLst/>
          </a:prstGeom>
        </p:spPr>
      </p:pic>
      <p:sp>
        <p:nvSpPr>
          <p:cNvPr id="376" name="文本框 375" descr="{&quot;isTemplate&quot;:true,&quot;type&quot;:&quot;text&quot;}"/>
          <p:cNvSpPr txBox="1"/>
          <p:nvPr/>
        </p:nvSpPr>
        <p:spPr>
          <a:xfrm>
            <a:off x="7143750" y="40386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版本替代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77" name="文本框 376" descr="{&quot;isTemplate&quot;:true,&quot;type&quot;:&quot;text&quot;}"/>
          <p:cNvSpPr txBox="1"/>
          <p:nvPr/>
        </p:nvSpPr>
        <p:spPr>
          <a:xfrm>
            <a:off x="7143750" y="43719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ISSUE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78" name="文本框 377" descr="{&quot;isTemplate&quot;:true,&quot;type&quot;:&quot;text&quot;}"/>
          <p:cNvSpPr txBox="1"/>
          <p:nvPr/>
        </p:nvSpPr>
        <p:spPr>
          <a:xfrm>
            <a:off x="6477000" y="4705350"/>
            <a:ext cx="4762500" cy="822960"/>
          </a:xfrm>
          <a:prstGeom prst="rect">
            <a:avLst/>
          </a:prstGeom>
        </p:spPr>
        <p:txBody>
          <a:bodyPr wrap="squar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新版本发布并退役旧版本。旧版本留档，不再被新任务引用。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79" name="圆角矩形 378"/>
          <p:cNvSpPr/>
          <p:nvPr/>
        </p:nvSpPr>
        <p:spPr>
          <a:xfrm>
            <a:off x="6477000" y="57054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80" name="文本框 379" descr="{&quot;isTemplate&quot;:true,&quot;type&quot;:&quot;text&quot;}"/>
          <p:cNvSpPr txBox="1"/>
          <p:nvPr/>
        </p:nvSpPr>
        <p:spPr>
          <a:xfrm>
            <a:off x="6743700" y="56292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边界：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退役留档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81" name="任意多边形 380"/>
          <p:cNvSpPr/>
          <p:nvPr/>
        </p:nvSpPr>
        <p:spPr>
          <a:xfrm>
            <a:off x="685800" y="62103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382" name="文本框 381" descr="{&quot;isTemplate&quot;:true,&quot;type&quot;:&quot;text&quot;}"/>
          <p:cNvSpPr txBox="1"/>
          <p:nvPr/>
        </p:nvSpPr>
        <p:spPr>
          <a:xfrm>
            <a:off x="685800" y="64293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11087100" y="64198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14 / 16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84" name="圆角矩形 383"/>
          <p:cNvSpPr/>
          <p:nvPr/>
        </p:nvSpPr>
        <p:spPr>
          <a:xfrm>
            <a:off x="3238500" y="1333500"/>
            <a:ext cx="5334000" cy="3810000"/>
          </a:xfrm>
          <a:prstGeom prst="roundRect">
            <a:avLst>
              <a:gd name="adj" fmla="val 70000"/>
            </a:avLst>
          </a:prstGeom>
          <a:gradFill>
            <a:gsLst>
              <a:gs pos="0">
                <a:srgbClr val="5BC8C8">
                  <a:alpha val="9000"/>
                </a:srgbClr>
              </a:gs>
              <a:gs pos="70000">
                <a:srgbClr val="081322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5" name="" descr="// B · 08 内容页 · 服务流程 — 五步（玻璃卡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380, top: 160, width: 560, height: 380, borderRadius: 280, background: 'radial-gradient(circle, rgba(91,200,200,0.10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服务流程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HOW WE WORK&lt;/Text&gt;&#10;        &lt;Box style={{ flex: 1 }} /&gt;&#10;        &lt;Text style={{ fontSize: 14, color: '#8FA6BC' }}&gt;五步走完一个完整项目周期&lt;/Text&gt;&#10;    &lt;/Box&gt;&#10;&#10;    {/* B · 内容区 */}&#10;    &lt;Box style={{ flex: 1, flexDirection: 'row', alignItems: 'stretch', paddingTop: 30, paddingBottom: 24 }}&gt;&#10;        {[&#10;            { no: '01', t: '业务诊断', d: '访谈与数据盘点，定位销售体系的真实瓶颈。', pts: ['高层访谈', '数据盘点', '瓶颈清单'], cycle: '2 周' },&#10;            { no: '02', t: '蓝图设计', d: '输出智能化蓝图与分阶段落地路线图。', pts: ['目标定义', '里程碑拆解', '资源规划'], cycle: '3 周' },&#10;            { no: '03', t: '知识萃取', d: '沉淀结构化语料库与场景化训练素材。', pts: ['场景梳理', '语料打标', '案例沉淀'], cycle: '3 周' },&#10;            { no: '04', t: '系统落地', d: '智能中台搭建与关键销售流程线上化。', pts: ['流程上线', '数据打通', '角色培训'], cycle: '4 – 8 周' },&#10;            { no: '05', t: '陪跑运营', d: '复盘教练与持续迭代，形成组织能力。', pts: ['商机复盘', '指标跟踪', '迭代机制'], cycle: '持续' }&#10;        ].map((s, idx) =&gt; (&#10;            &lt;Box key={idx} style={{ flex: 1, flexDirection: 'row', alignItems: 'stretch' }}&gt;&#10;                &lt;Box style={{ flex: 1, flexDirection: 'column', background: 'rgba(255,255,255,0.045)', border: '1px solid rgba(143,216,232,0.18)', borderRadius: 14, padding: '24px 20px 22px', boxShadow: '0 10px 34px rgba(0,0,0,0.36)' }}&gt;&#10;                    &lt;Box style={{ width: 44, height: 44, borderRadius: 22, background: 'linear-gradient(135deg, #8FD8E8 0%, #3FA8BF 100%)', justifyContent: 'center', alignItems: 'center', boxShadow: '0 6px 18px rgba(91,200,200,0.32)' }}&gt;&#10;                        &lt;Text style={{ fontSize: 18, fontWeight: 'bold', color: '#081322', fontFamily: '&quot;Inter&quot;,&quot;Helvetica Neue&quot;,Arial,sans-serif' }}&gt;{s.no}&lt;/Text&gt;&#10;                    &lt;/Box&gt;&#10;                    &lt;Text style={{ fontSize: 20, fontWeight: 'bold', color: '#EAF2F8', marginTop: 18, letterSpacing: -0.3 }}&gt;{s.t}&lt;/Text&gt;&#10;                    &lt;Box style={{ width: 26, height: 2, background: 'rgba(143,216,232,0.35)', marginTop: 12 }} /&gt;&#10;                    &lt;Text style={{ fontSize: 15, color: '#9FB4C6', lineHeight: 1.85, marginTop: 12 }}&gt;{s.d}&lt;/Text&gt;&#10;                    &lt;Box style={{ flexDirection: 'column', gap: 12, marginTop: 18 }}&gt;&#10;                        {s.pts.map((p, i) =&gt; (&#10;                            &lt;Box key={i} style={{ flexDirection: 'row', alignItems: 'center', gap: 9 }}&gt;&#10;                                &lt;Box style={{ width: 5, height: 5, borderRadius: 2.5, background: '#5BC8C8' }} /&gt;&#10;                                &lt;Text style={{ fontSize: 14, color: '#B9CBDA' }}&gt;{p}&lt;/Text&gt;&#10;                            &lt;/Box&gt;&#10;                        ))}&#10;                    &lt;/Box&gt;&#10;                    &lt;Box style={{ marginTop: 'auto', flexDirection: 'row', paddingTop: 18 }}&gt;&#10;                        &lt;Box style={{ padding: '5px 12px', borderRadius: 999, background: 'rgba(91,200,200,0.09)', border: '1px solid rgba(143,216,232,0.24)' }}&gt;&#10;                            &lt;Text style={{ fontSize: 12, color: '#8FD8E8' }}&gt;周期 · {s.cycle}&lt;/Text&gt;&#10;                        &lt;/Box&gt;&#10;                    &lt;/Box&gt;&#10;                &lt;/Box&gt;&#10;                {idx &lt; 4 &amp;&amp; (&#10;                    &lt;Box style={{ width: 30, justifyContent: 'center', alignItems: 'center' }}&gt;&#10;                        &lt;FAIcon name='chevron-right' style={{ fill: 'rgba(143,216,232,0.45)', width: 18, height: 18 }} /&gt;&#10;                    &lt;/Box&gt;&#10;                )}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8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矩形 4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447" name="任意多边形 446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448" name="圆角矩形 447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49" name="文本框 448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落地顺序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50" name="矩形 449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451" name="文本框 450" descr="{&quot;isTemplate&quot;:true,&quot;type&quot;:&quot;text&quot;}"/>
          <p:cNvSpPr txBox="1"/>
          <p:nvPr/>
        </p:nvSpPr>
        <p:spPr>
          <a:xfrm>
            <a:off x="2381250" y="590550"/>
            <a:ext cx="125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PATH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452" name="文本框 451" descr="{&quot;isTemplate&quot;:true,&quot;type&quot;:&quot;text&quot;}"/>
          <p:cNvSpPr txBox="1"/>
          <p:nvPr/>
        </p:nvSpPr>
        <p:spPr>
          <a:xfrm>
            <a:off x="9906000" y="581025"/>
            <a:ext cx="1600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先核实现状，再做对照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453" name="圆角矩形 452"/>
          <p:cNvSpPr/>
          <p:nvPr/>
        </p:nvSpPr>
        <p:spPr>
          <a:xfrm>
            <a:off x="685800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54" name="圆角矩形 453"/>
          <p:cNvSpPr/>
          <p:nvPr/>
        </p:nvSpPr>
        <p:spPr>
          <a:xfrm>
            <a:off x="87630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55" name="文本框 454" descr="{&quot;isTemplate&quot;:true,&quot;type&quot;:&quot;text&quot;}"/>
          <p:cNvSpPr txBox="1"/>
          <p:nvPr/>
        </p:nvSpPr>
        <p:spPr>
          <a:xfrm>
            <a:off x="99060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01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56" name="文本框 455" descr="{&quot;isTemplate&quot;:true,&quot;type&quot;:&quot;text&quot;}"/>
          <p:cNvSpPr txBox="1"/>
          <p:nvPr/>
        </p:nvSpPr>
        <p:spPr>
          <a:xfrm>
            <a:off x="876300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先核系统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57" name="矩形 456"/>
          <p:cNvSpPr/>
          <p:nvPr/>
        </p:nvSpPr>
        <p:spPr>
          <a:xfrm>
            <a:off x="87630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58" name="文本框 457" descr="{&quot;isTemplate&quot;:true,&quot;type&quot;:&quot;text&quot;}"/>
          <p:cNvSpPr txBox="1"/>
          <p:nvPr/>
        </p:nvSpPr>
        <p:spPr>
          <a:xfrm>
            <a:off x="876300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已有则接入，没有则做最小集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59" name="圆角矩形 458"/>
          <p:cNvSpPr/>
          <p:nvPr/>
        </p:nvSpPr>
        <p:spPr>
          <a:xfrm>
            <a:off x="876300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0" name="文本框 459" descr="{&quot;isTemplate&quot;:true,&quot;type&quot;:&quot;text&quot;}"/>
          <p:cNvSpPr txBox="1"/>
          <p:nvPr/>
        </p:nvSpPr>
        <p:spPr>
          <a:xfrm>
            <a:off x="1009650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问现有库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1" name="圆角矩形 460"/>
          <p:cNvSpPr/>
          <p:nvPr/>
        </p:nvSpPr>
        <p:spPr>
          <a:xfrm>
            <a:off x="876300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2" name="文本框 461" descr="{&quot;isTemplate&quot;:true,&quot;type&quot;:&quot;text&quot;}"/>
          <p:cNvSpPr txBox="1"/>
          <p:nvPr/>
        </p:nvSpPr>
        <p:spPr>
          <a:xfrm>
            <a:off x="1009650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问发布流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3" name="圆角矩形 462"/>
          <p:cNvSpPr/>
          <p:nvPr/>
        </p:nvSpPr>
        <p:spPr>
          <a:xfrm>
            <a:off x="876300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4" name="文本框 463" descr="{&quot;isTemplate&quot;:true,&quot;type&quot;:&quot;text&quot;}"/>
          <p:cNvSpPr txBox="1"/>
          <p:nvPr/>
        </p:nvSpPr>
        <p:spPr>
          <a:xfrm>
            <a:off x="1009650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问检索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5" name="圆角矩形 464"/>
          <p:cNvSpPr/>
          <p:nvPr/>
        </p:nvSpPr>
        <p:spPr>
          <a:xfrm>
            <a:off x="876300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6" name="文本框 465" descr="{&quot;isTemplate&quot;:true,&quot;type&quot;:&quot;text&quot;}"/>
          <p:cNvSpPr txBox="1"/>
          <p:nvPr/>
        </p:nvSpPr>
        <p:spPr>
          <a:xfrm>
            <a:off x="990600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接入优先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67" name="图片 46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9375" y="3562350"/>
            <a:ext cx="171450" cy="171450"/>
          </a:xfrm>
          <a:prstGeom prst="rect">
            <a:avLst/>
          </a:prstGeom>
        </p:spPr>
      </p:pic>
      <p:sp>
        <p:nvSpPr>
          <p:cNvPr id="468" name="圆角矩形 467"/>
          <p:cNvSpPr/>
          <p:nvPr/>
        </p:nvSpPr>
        <p:spPr>
          <a:xfrm>
            <a:off x="2847975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69" name="圆角矩形 468"/>
          <p:cNvSpPr/>
          <p:nvPr/>
        </p:nvSpPr>
        <p:spPr>
          <a:xfrm>
            <a:off x="3038475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3152775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02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71" name="文本框 470" descr="{&quot;isTemplate&quot;:true,&quot;type&quot;:&quot;text&quot;}"/>
          <p:cNvSpPr txBox="1"/>
          <p:nvPr/>
        </p:nvSpPr>
        <p:spPr>
          <a:xfrm>
            <a:off x="3038475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核三张表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72" name="矩形 471"/>
          <p:cNvSpPr/>
          <p:nvPr/>
        </p:nvSpPr>
        <p:spPr>
          <a:xfrm>
            <a:off x="3038475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73" name="文本框 472" descr="{&quot;isTemplate&quot;:true,&quot;type&quot;:&quot;text&quot;}"/>
          <p:cNvSpPr txBox="1"/>
          <p:nvPr/>
        </p:nvSpPr>
        <p:spPr>
          <a:xfrm>
            <a:off x="3038475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机型、载体与版本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74" name="圆角矩形 473"/>
          <p:cNvSpPr/>
          <p:nvPr/>
        </p:nvSpPr>
        <p:spPr>
          <a:xfrm>
            <a:off x="3038475" y="39052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5" name="文本框 474" descr="{&quot;isTemplate&quot;:true,&quot;type&quot;:&quot;text&quot;}"/>
          <p:cNvSpPr txBox="1"/>
          <p:nvPr/>
        </p:nvSpPr>
        <p:spPr>
          <a:xfrm>
            <a:off x="3171825" y="38481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机型市场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76" name="圆角矩形 475"/>
          <p:cNvSpPr/>
          <p:nvPr/>
        </p:nvSpPr>
        <p:spPr>
          <a:xfrm>
            <a:off x="3038475" y="41814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7" name="文本框 476" descr="{&quot;isTemplate&quot;:true,&quot;type&quot;:&quot;text&quot;}"/>
          <p:cNvSpPr txBox="1"/>
          <p:nvPr/>
        </p:nvSpPr>
        <p:spPr>
          <a:xfrm>
            <a:off x="3171825" y="4124325"/>
            <a:ext cx="666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载体对应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78" name="圆角矩形 477"/>
          <p:cNvSpPr/>
          <p:nvPr/>
        </p:nvSpPr>
        <p:spPr>
          <a:xfrm>
            <a:off x="3038475" y="445770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9" name="文本框 478" descr="{&quot;isTemplate&quot;:true,&quot;type&quot;:&quot;text&quot;}"/>
          <p:cNvSpPr txBox="1"/>
          <p:nvPr/>
        </p:nvSpPr>
        <p:spPr>
          <a:xfrm>
            <a:off x="3171825" y="440055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版本替代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80" name="圆角矩形 479"/>
          <p:cNvSpPr/>
          <p:nvPr/>
        </p:nvSpPr>
        <p:spPr>
          <a:xfrm>
            <a:off x="3038475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1" name="文本框 480" descr="{&quot;isTemplate&quot;:true,&quot;type&quot;:&quot;text&quot;}"/>
          <p:cNvSpPr txBox="1"/>
          <p:nvPr/>
        </p:nvSpPr>
        <p:spPr>
          <a:xfrm>
            <a:off x="3152775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缺表先补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82" name="图片 48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1550" y="3562350"/>
            <a:ext cx="171450" cy="171450"/>
          </a:xfrm>
          <a:prstGeom prst="rect">
            <a:avLst/>
          </a:prstGeom>
        </p:spPr>
      </p:pic>
      <p:sp>
        <p:nvSpPr>
          <p:cNvPr id="483" name="圆角矩形 482"/>
          <p:cNvSpPr/>
          <p:nvPr/>
        </p:nvSpPr>
        <p:spPr>
          <a:xfrm>
            <a:off x="5010150" y="1428750"/>
            <a:ext cx="1885950" cy="4438650"/>
          </a:xfrm>
          <a:prstGeom prst="roundRect">
            <a:avLst>
              <a:gd name="adj" fmla="val 7071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84" name="圆角矩形 483"/>
          <p:cNvSpPr/>
          <p:nvPr/>
        </p:nvSpPr>
        <p:spPr>
          <a:xfrm>
            <a:off x="520065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85" name="文本框 484" descr="{&quot;isTemplate&quot;:true,&quot;type&quot;:&quot;text&quot;}"/>
          <p:cNvSpPr txBox="1"/>
          <p:nvPr/>
        </p:nvSpPr>
        <p:spPr>
          <a:xfrm>
            <a:off x="531495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03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86" name="文本框 485" descr="{&quot;isTemplate&quot;:true,&quot;type&quot;:&quot;text&quot;}"/>
          <p:cNvSpPr txBox="1"/>
          <p:nvPr/>
        </p:nvSpPr>
        <p:spPr>
          <a:xfrm>
            <a:off x="5200650" y="2247900"/>
            <a:ext cx="15049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核两条线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87" name="矩形 486"/>
          <p:cNvSpPr/>
          <p:nvPr/>
        </p:nvSpPr>
        <p:spPr>
          <a:xfrm>
            <a:off x="520065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88" name="文本框 487" descr="{&quot;isTemplate&quot;:true,&quot;type&quot;:&quot;text&quot;}"/>
          <p:cNvSpPr txBox="1"/>
          <p:nvPr/>
        </p:nvSpPr>
        <p:spPr>
          <a:xfrm>
            <a:off x="5200650" y="2724150"/>
            <a:ext cx="150495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投标编制与准入基线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89" name="圆角矩形 488"/>
          <p:cNvSpPr/>
          <p:nvPr/>
        </p:nvSpPr>
        <p:spPr>
          <a:xfrm>
            <a:off x="5200650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0" name="文本框 489" descr="{&quot;isTemplate&quot;:true,&quot;type&quot;:&quot;text&quot;}"/>
          <p:cNvSpPr txBox="1"/>
          <p:nvPr/>
        </p:nvSpPr>
        <p:spPr>
          <a:xfrm>
            <a:off x="5334000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投标编制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1" name="圆角矩形 490"/>
          <p:cNvSpPr/>
          <p:nvPr/>
        </p:nvSpPr>
        <p:spPr>
          <a:xfrm>
            <a:off x="5200650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2" name="文本框 491" descr="{&quot;isTemplate&quot;:true,&quot;type&quot;:&quot;text&quot;}"/>
          <p:cNvSpPr txBox="1"/>
          <p:nvPr/>
        </p:nvSpPr>
        <p:spPr>
          <a:xfrm>
            <a:off x="5334000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准入基线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3" name="圆角矩形 492"/>
          <p:cNvSpPr/>
          <p:nvPr/>
        </p:nvSpPr>
        <p:spPr>
          <a:xfrm>
            <a:off x="5200650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4" name="文本框 493" descr="{&quot;isTemplate&quot;:true,&quot;type&quot;:&quot;text&quot;}"/>
          <p:cNvSpPr txBox="1"/>
          <p:nvPr/>
        </p:nvSpPr>
        <p:spPr>
          <a:xfrm>
            <a:off x="5334000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确认角色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5" name="圆角矩形 494"/>
          <p:cNvSpPr/>
          <p:nvPr/>
        </p:nvSpPr>
        <p:spPr>
          <a:xfrm>
            <a:off x="5200650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6" name="文本框 495" descr="{&quot;isTemplate&quot;:true,&quot;type&quot;:&quot;text&quot;}"/>
          <p:cNvSpPr txBox="1"/>
          <p:nvPr/>
        </p:nvSpPr>
        <p:spPr>
          <a:xfrm>
            <a:off x="5314950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访谈核验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97" name="图片 49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53250" y="3562350"/>
            <a:ext cx="171450" cy="171450"/>
          </a:xfrm>
          <a:prstGeom prst="rect">
            <a:avLst/>
          </a:prstGeom>
        </p:spPr>
      </p:pic>
      <p:sp>
        <p:nvSpPr>
          <p:cNvPr id="498" name="圆角矩形 497"/>
          <p:cNvSpPr/>
          <p:nvPr/>
        </p:nvSpPr>
        <p:spPr>
          <a:xfrm>
            <a:off x="7181850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99" name="圆角矩形 498"/>
          <p:cNvSpPr/>
          <p:nvPr/>
        </p:nvSpPr>
        <p:spPr>
          <a:xfrm>
            <a:off x="737235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500" name="文本框 499" descr="{&quot;isTemplate&quot;:true,&quot;type&quot;:&quot;text&quot;}"/>
          <p:cNvSpPr txBox="1"/>
          <p:nvPr/>
        </p:nvSpPr>
        <p:spPr>
          <a:xfrm>
            <a:off x="748665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04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501" name="文本框 500" descr="{&quot;isTemplate&quot;:true,&quot;type&quot;:&quot;text&quot;}"/>
          <p:cNvSpPr txBox="1"/>
          <p:nvPr/>
        </p:nvSpPr>
        <p:spPr>
          <a:xfrm>
            <a:off x="7372350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对照运行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02" name="矩形 501"/>
          <p:cNvSpPr/>
          <p:nvPr/>
        </p:nvSpPr>
        <p:spPr>
          <a:xfrm>
            <a:off x="737235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03" name="文本框 502" descr="{&quot;isTemplate&quot;:true,&quot;type&quot;:&quot;text&quot;}"/>
          <p:cNvSpPr txBox="1"/>
          <p:nvPr/>
        </p:nvSpPr>
        <p:spPr>
          <a:xfrm>
            <a:off x="7372350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先对照，提交由人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04" name="圆角矩形 503"/>
          <p:cNvSpPr/>
          <p:nvPr/>
        </p:nvSpPr>
        <p:spPr>
          <a:xfrm>
            <a:off x="7372350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5" name="文本框 504" descr="{&quot;isTemplate&quot;:true,&quot;type&quot;:&quot;text&quot;}"/>
          <p:cNvSpPr txBox="1"/>
          <p:nvPr/>
        </p:nvSpPr>
        <p:spPr>
          <a:xfrm>
            <a:off x="7505700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条款清单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06" name="圆角矩形 505"/>
          <p:cNvSpPr/>
          <p:nvPr/>
        </p:nvSpPr>
        <p:spPr>
          <a:xfrm>
            <a:off x="7372350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7" name="文本框 506" descr="{&quot;isTemplate&quot;:true,&quot;type&quot;:&quot;text&quot;}"/>
          <p:cNvSpPr txBox="1"/>
          <p:nvPr/>
        </p:nvSpPr>
        <p:spPr>
          <a:xfrm>
            <a:off x="7505700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证据索引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08" name="圆角矩形 507"/>
          <p:cNvSpPr/>
          <p:nvPr/>
        </p:nvSpPr>
        <p:spPr>
          <a:xfrm>
            <a:off x="7372350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9" name="文本框 508" descr="{&quot;isTemplate&quot;:true,&quot;type&quot;:&quot;text&quot;}"/>
          <p:cNvSpPr txBox="1"/>
          <p:nvPr/>
        </p:nvSpPr>
        <p:spPr>
          <a:xfrm>
            <a:off x="7505700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偏离草稿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10" name="圆角矩形 509"/>
          <p:cNvSpPr/>
          <p:nvPr/>
        </p:nvSpPr>
        <p:spPr>
          <a:xfrm>
            <a:off x="7372350" y="5419725"/>
            <a:ext cx="1057275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1" name="文本框 510" descr="{&quot;isTemplate&quot;:true,&quot;type&quot;:&quot;text&quot;}"/>
          <p:cNvSpPr txBox="1"/>
          <p:nvPr/>
        </p:nvSpPr>
        <p:spPr>
          <a:xfrm>
            <a:off x="7486650" y="5467350"/>
            <a:ext cx="8286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人来提交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512" name="图片 51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15425" y="3562350"/>
            <a:ext cx="171450" cy="171450"/>
          </a:xfrm>
          <a:prstGeom prst="rect">
            <a:avLst/>
          </a:prstGeom>
        </p:spPr>
      </p:pic>
      <p:sp>
        <p:nvSpPr>
          <p:cNvPr id="513" name="圆角矩形 512"/>
          <p:cNvSpPr/>
          <p:nvPr/>
        </p:nvSpPr>
        <p:spPr>
          <a:xfrm>
            <a:off x="9344025" y="1428750"/>
            <a:ext cx="2162175" cy="4438650"/>
          </a:xfrm>
          <a:prstGeom prst="roundRect">
            <a:avLst>
              <a:gd name="adj" fmla="val 616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14" name="圆角矩形 513"/>
          <p:cNvSpPr/>
          <p:nvPr/>
        </p:nvSpPr>
        <p:spPr>
          <a:xfrm>
            <a:off x="9534525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515" name="文本框 514" descr="{&quot;isTemplate&quot;:true,&quot;type&quot;:&quot;text&quot;}"/>
          <p:cNvSpPr txBox="1"/>
          <p:nvPr/>
        </p:nvSpPr>
        <p:spPr>
          <a:xfrm>
            <a:off x="9648825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05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516" name="文本框 515" descr="{&quot;isTemplate&quot;:true,&quot;type&quot;:&quot;text&quot;}"/>
          <p:cNvSpPr txBox="1"/>
          <p:nvPr/>
        </p:nvSpPr>
        <p:spPr>
          <a:xfrm>
            <a:off x="9534525" y="2247900"/>
            <a:ext cx="17811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先后次序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17" name="矩形 516"/>
          <p:cNvSpPr/>
          <p:nvPr/>
        </p:nvSpPr>
        <p:spPr>
          <a:xfrm>
            <a:off x="9534525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18" name="文本框 517" descr="{&quot;isTemplate&quot;:true,&quot;type&quot;:&quot;text&quot;}"/>
          <p:cNvSpPr txBox="1"/>
          <p:nvPr/>
        </p:nvSpPr>
        <p:spPr>
          <a:xfrm>
            <a:off x="9534525" y="2724150"/>
            <a:ext cx="178117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准入其次，同步置后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19" name="圆角矩形 518"/>
          <p:cNvSpPr/>
          <p:nvPr/>
        </p:nvSpPr>
        <p:spPr>
          <a:xfrm>
            <a:off x="9534525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0" name="文本框 519" descr="{&quot;isTemplate&quot;:true,&quot;type&quot;:&quot;text&quot;}"/>
          <p:cNvSpPr txBox="1"/>
          <p:nvPr/>
        </p:nvSpPr>
        <p:spPr>
          <a:xfrm>
            <a:off x="9667875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认证先行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1" name="圆角矩形 520"/>
          <p:cNvSpPr/>
          <p:nvPr/>
        </p:nvSpPr>
        <p:spPr>
          <a:xfrm>
            <a:off x="9534525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2" name="文本框 521" descr="{&quot;isTemplate&quot;:true,&quot;type&quot;:&quot;text&quot;}"/>
          <p:cNvSpPr txBox="1"/>
          <p:nvPr/>
        </p:nvSpPr>
        <p:spPr>
          <a:xfrm>
            <a:off x="9667875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准入其次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3" name="圆角矩形 522"/>
          <p:cNvSpPr/>
          <p:nvPr/>
        </p:nvSpPr>
        <p:spPr>
          <a:xfrm>
            <a:off x="9534525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4" name="文本框 523" descr="{&quot;isTemplate&quot;:true,&quot;type&quot;:&quot;text&quot;}"/>
          <p:cNvSpPr txBox="1"/>
          <p:nvPr/>
        </p:nvSpPr>
        <p:spPr>
          <a:xfrm>
            <a:off x="9667875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作业靠后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5" name="圆角矩形 524"/>
          <p:cNvSpPr/>
          <p:nvPr/>
        </p:nvSpPr>
        <p:spPr>
          <a:xfrm>
            <a:off x="9534525" y="5419725"/>
            <a:ext cx="995045" cy="238760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6" name="文本框 525" descr="{&quot;isTemplate&quot;:true,&quot;type&quot;:&quot;text&quot;}"/>
          <p:cNvSpPr txBox="1"/>
          <p:nvPr/>
        </p:nvSpPr>
        <p:spPr>
          <a:xfrm>
            <a:off x="9648825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分步试点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27" name="任意多边形 526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528" name="文本框 527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529" name="文本框 528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15 / 16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" name="" descr="// B · 13 内容页 · 服务档位 — 三档卡（中间推荐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400, top: 130, width: 520, height: 380, borderRadius: 260, background: 'radial-gradient(circle, rgba(91,200,200,0.11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服务档位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ENGAGEMENT MODELS&lt;/Text&gt;&#10;        &lt;Box style={{ flex: 1 }} /&gt;&#10;        &lt;Text style={{ fontSize: 14, color: '#8FA6BC' }}&gt;按问题复杂度选择合作方式&lt;/Text&gt;&#10;    &lt;/Box&gt;&#10;&#10;    {/* B · 内容区 */}&#10;    &lt;Box style={{ flex: 1, flexDirection: 'row', gap: 24, paddingTop: 30, paddingBottom: 26 }}&gt;&#10;        {[&#10;            { name: '轻咨询', sub: '诊断工作坊', en: 'WORKSHOP', fit: '单点问题快速诊断', items: ['2 天诊断工作坊', '体系体检报告', '改进建议清单'], cycle: '2 – 3 周', hot: false },&#10;            { name: '标准咨询', sub: '体系重建', en: 'CONSULTING', fit: '销售体系整体升级', items: ['三层规划与流程设计', '制度与 SOP 落地', '关键岗位赋能'], cycle: '8 – 12 周', hot: true },&#10;            { name: '深度陪跑', sub: '智能化落地', en: 'PARTNERSHIP', fit: '长期共建与落地', items: ['智能化蓝图与中台', '知识萃取与语料库', '季度陪跑与复盘'], cycle: '6 – 12 个月', hot: false }&#10;        ].map((c, idx) =&gt; (&#10;            &lt;Box key={idx} style={{ flex: 1, flexDirection: 'column', borderRadius: 16, overflow: 'hidden', background: c.hot ? 'rgba(91,200,200,0.10)' : 'rgba(255,255,255,0.045)', border: c.hot ? '1.5px solid #5BC8C8' : '1px solid rgba(143,216,232,0.18)', boxShadow: c.hot ? '0 16px 40px rgba(0,0,0,0.46)' : '0 10px 34px rgba(0,0,0,0.34)' }}&gt;&#10;                &lt;Box style={{ height: 4, width: '100%', background: c.hot ? 'linear-gradient(90deg, #8FD8E8 0%, #3FA8BF 100%)' : 'rgba(143,216,232,0.22)' }} /&gt;&#10;                &lt;Box style={{ flex: 1, flexDirection: 'column', padding: '26px 26px 24px' }}&gt;&#10;                    &lt;Box style={{ flexDirection: 'row', alignItems: 'center' }}&gt;&#10;                        &lt;Text style={{ fontSize: 26, fontWeight: 'bold', color: '#EAF2F8', letterSpacing: -0.5 }}&gt;{c.name}&lt;/Text&gt;&#10;                        &lt;Box style={{ flex: 1 }} /&gt;&#10;                        {c.hot &amp;&amp; (&#10;                            &lt;Box style={{ padding: '4px 12px', borderRadius: 999, background: 'linear-gradient(135deg, #8FD8E8 0%, #3FA8BF 100%)' }}&gt;&#10;                                &lt;Text style={{ fontSize: 12, fontWeight: 'bold', color: '#081322' }}&gt;推荐&lt;/Text&gt;&#10;                            &lt;/Box&gt;&#10;                        )}&#10;                    &lt;/Box&gt;&#10;                    &lt;Text style={{ fontSize: 16, color: '#9FB4C6', marginTop: 8 }}&gt;{c.sub}&lt;/Text&gt;&#10;                    &lt;Text style={{ fontSize: 11, color: '#5E7590', letterSpacing: 2.5, marginTop: 10, fontFamily: '&quot;Inter&quot;,&quot;Helvetica Neue&quot;,Arial,sans-serif' }}&gt;{c.en}&lt;/Text&gt;&#10;&#10;                    &lt;Box style={{ flexDirection: 'row', alignItems: 'center', gap: 10, marginTop: 20 }}&gt;&#10;                        &lt;FAIcon name='users' style={{ fill: '#5BC8C8', width: 15, height: 15 }} /&gt;&#10;                        &lt;Text style={{ fontSize: 14, color: '#8FA6BC' }}&gt;适用：{c.fit}&lt;/Text&gt;&#10;                    &lt;/Box&gt;&#10;&#10;                    &lt;Box style={{ flexDirection: 'column', gap: 14, marginTop: 20, paddingTop: 20, borderTop: '1px dashed rgba(143,216,232,0.18)' }}&gt;&#10;                        {c.items.map((it, i) =&gt; (&#10;                            &lt;Box key={i} style={{ flexDirection: 'row', alignItems: 'center', gap: 11 }}&gt;&#10;                                &lt;FAIcon name='check-circle' style={{ fill: '#5BC8C8', width: 16, height: 16 }} /&gt;&#10;                                &lt;Text style={{ fontSize: 16, color: '#B9CBDA' }}&gt;{it}&lt;/Text&gt;&#10;                            &lt;/Box&gt;&#10;                        ))}&#10;                    &lt;/Box&gt;&#10;&#10;                    &lt;Box style={{ marginTop: 'auto', flexDirection: 'row', alignItems: 'center', paddingTop: 20 }}&gt;&#10;                        &lt;Text style={{ fontSize: 13, color: '#5E7590', letterSpacing: 1.5, fontFamily: '&quot;Inter&quot;,&quot;PingFang SC&quot;,sans-serif' }}&gt;交付周期&lt;/Text&gt;&#10;                        &lt;Box style={{ flex: 1 }} /&gt;&#10;                        &lt;Text style={{ fontSize: 17, fontWeight: 'bold', color: c.hot ? '#8FD8E8' : '#EAF2F8', fontFamily: '&quot;Inter&quot;,&quot;PingFang SC&quot;,sans-serif' }}&gt;{c.cycle}&lt;/Text&gt;&#10;                    &lt;/Box&gt;&#10;                &lt;/Box&gt;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13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矩形 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94" name="任意多边形 93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95" name="圆角矩形 94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96" name="文本框 95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实施边界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2381250" y="590550"/>
            <a:ext cx="18954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SCOPE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9906000" y="581025"/>
            <a:ext cx="1600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可做、保留与不作承诺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100" name="圆角矩形 99"/>
          <p:cNvSpPr/>
          <p:nvPr/>
        </p:nvSpPr>
        <p:spPr>
          <a:xfrm>
            <a:off x="685800" y="1428750"/>
            <a:ext cx="3457575" cy="4419600"/>
          </a:xfrm>
          <a:prstGeom prst="roundRect">
            <a:avLst>
              <a:gd name="adj" fmla="val 440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4000"/>
              </a:srgbClr>
            </a:outerShdw>
          </a:effectLst>
        </p:spPr>
        <p:txBody>
          <a:bodyPr/>
          <a:p/>
        </p:txBody>
      </p:sp>
      <p:sp>
        <p:nvSpPr>
          <p:cNvPr id="101" name="任意多边形 100"/>
          <p:cNvSpPr/>
          <p:nvPr/>
        </p:nvSpPr>
        <p:spPr>
          <a:xfrm>
            <a:off x="685800" y="1428750"/>
            <a:ext cx="3457575" cy="38100"/>
          </a:xfrm>
          <a:custGeom>
            <a:avLst/>
            <a:gdLst/>
            <a:ahLst/>
            <a:cxnLst/>
            <a:pathLst>
              <a:path w="363" h="4">
                <a:moveTo>
                  <a:pt x="347" y="0"/>
                </a:moveTo>
                <a:cubicBezTo>
                  <a:pt x="351" y="0"/>
                  <a:pt x="355" y="2"/>
                  <a:pt x="358" y="4"/>
                </a:cubicBezTo>
                <a:lnTo>
                  <a:pt x="5" y="4"/>
                </a:lnTo>
                <a:cubicBezTo>
                  <a:pt x="8" y="1"/>
                  <a:pt x="12" y="0"/>
                  <a:pt x="16" y="0"/>
                </a:cubicBezTo>
                <a:lnTo>
                  <a:pt x="347" y="0"/>
                </a:lnTo>
                <a:close/>
              </a:path>
            </a:pathLst>
          </a:custGeom>
          <a:solidFill>
            <a:srgbClr val="8FD8E8">
              <a:alpha val="22000"/>
            </a:srgbClr>
          </a:solidFill>
        </p:spPr>
        <p:txBody>
          <a:bodyPr/>
          <a:p/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933450" y="1714500"/>
            <a:ext cx="73342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 spc="-37">
                <a:solidFill>
                  <a:srgbClr val="EAF2F8"/>
                </a:solidFill>
                <a:latin typeface="PingFang SC"/>
                <a:ea typeface="PingFang SC"/>
              </a:rPr>
              <a:t>本期可做</a:t>
            </a:r>
            <a:endParaRPr lang="zh-CN" sz="195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933450" y="2095500"/>
            <a:ext cx="29622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找依据、比对与草稿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933450" y="2381250"/>
            <a:ext cx="29622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DRAFT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3450" y="2714625"/>
            <a:ext cx="142875" cy="142875"/>
          </a:xfrm>
          <a:prstGeom prst="rect">
            <a:avLst/>
          </a:prstGeom>
        </p:spPr>
      </p:pic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1171575" y="2705100"/>
            <a:ext cx="14668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范围：</a:t>
            </a: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按条款检索当前有效依据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107" name="任意多边形 106"/>
          <p:cNvSpPr/>
          <p:nvPr/>
        </p:nvSpPr>
        <p:spPr>
          <a:xfrm>
            <a:off x="933450" y="3057525"/>
            <a:ext cx="2962275" cy="1047750"/>
          </a:xfrm>
          <a:custGeom>
            <a:avLst/>
            <a:gdLst/>
            <a:ahLst/>
            <a:cxnLst/>
            <a:pathLst>
              <a:path w="311" h="110">
                <a:moveTo>
                  <a:pt x="0" y="0"/>
                </a:moveTo>
                <a:lnTo>
                  <a:pt x="311" y="0"/>
                </a:lnTo>
                <a:lnTo>
                  <a:pt x="311" y="1"/>
                </a:lnTo>
                <a:lnTo>
                  <a:pt x="0" y="1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pic>
        <p:nvPicPr>
          <p:cNvPr id="108" name="图片 10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450" y="3276600"/>
            <a:ext cx="152400" cy="152400"/>
          </a:xfrm>
          <a:prstGeom prst="rect">
            <a:avLst/>
          </a:prstGeom>
        </p:spPr>
      </p:pic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1190625" y="3257550"/>
            <a:ext cx="10572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9CBDA"/>
                </a:solidFill>
                <a:latin typeface="PingFang SC"/>
                <a:ea typeface="PingFang SC"/>
              </a:rPr>
              <a:t>比对后标出偏离</a:t>
            </a:r>
            <a:endParaRPr lang="zh-CN" sz="120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pic>
        <p:nvPicPr>
          <p:cNvPr id="110" name="图片 10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450" y="3600450"/>
            <a:ext cx="152400" cy="152400"/>
          </a:xfrm>
          <a:prstGeom prst="rect">
            <a:avLst/>
          </a:prstGeom>
        </p:spPr>
      </p:pic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1190625" y="3581400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DA"/>
                </a:solidFill>
                <a:latin typeface="PingFang SC"/>
                <a:ea typeface="PingFang SC"/>
              </a:rPr>
              <a:t>输出修订草稿</a:t>
            </a:r>
            <a:endParaRPr lang="zh-CN" sz="120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pic>
        <p:nvPicPr>
          <p:cNvPr id="112" name="图片 1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450" y="3924300"/>
            <a:ext cx="152400" cy="152400"/>
          </a:xfrm>
          <a:prstGeom prst="rect">
            <a:avLst/>
          </a:prstGeom>
        </p:spPr>
      </p:pic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1190625" y="3905250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DA"/>
                </a:solidFill>
                <a:latin typeface="PingFang SC"/>
                <a:ea typeface="PingFang SC"/>
              </a:rPr>
              <a:t>未命中即未覆盖</a:t>
            </a:r>
            <a:endParaRPr lang="zh-CN" sz="120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933450" y="5448300"/>
            <a:ext cx="552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13">
                <a:solidFill>
                  <a:srgbClr val="5E7590"/>
                </a:solidFill>
                <a:latin typeface="Inter"/>
                <a:ea typeface="Inter"/>
              </a:rPr>
              <a:t>能力边界</a:t>
            </a:r>
            <a:endParaRPr lang="zh-CN" sz="975" spc="113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3238500" y="5419725"/>
            <a:ext cx="6572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AF2F8"/>
                </a:solidFill>
                <a:latin typeface="Inter"/>
                <a:ea typeface="Inter"/>
              </a:rPr>
              <a:t>检索</a:t>
            </a:r>
            <a:r>
              <a:rPr lang="zh-CN" sz="1275" b="1">
                <a:solidFill>
                  <a:srgbClr val="EAF2F8"/>
                </a:solidFill>
                <a:latin typeface="Inter"/>
                <a:ea typeface="Inter"/>
              </a:rPr>
              <a:t>草稿</a:t>
            </a:r>
            <a:endParaRPr lang="zh-CN" sz="1275" b="1">
              <a:solidFill>
                <a:srgbClr val="EAF2F8"/>
              </a:solidFill>
              <a:latin typeface="Inter"/>
              <a:ea typeface="Inter"/>
            </a:endParaRPr>
          </a:p>
        </p:txBody>
      </p:sp>
      <p:sp>
        <p:nvSpPr>
          <p:cNvPr id="116" name="圆角矩形 115"/>
          <p:cNvSpPr/>
          <p:nvPr/>
        </p:nvSpPr>
        <p:spPr>
          <a:xfrm>
            <a:off x="4371975" y="1428750"/>
            <a:ext cx="3448050" cy="4419600"/>
          </a:xfrm>
          <a:prstGeom prst="roundRect">
            <a:avLst>
              <a:gd name="adj" fmla="val 4420"/>
            </a:avLst>
          </a:prstGeom>
          <a:solidFill>
            <a:srgbClr val="5BC8C8">
              <a:alpha val="10000"/>
            </a:srgbClr>
          </a:solidFill>
          <a:ln w="19050">
            <a:solidFill>
              <a:srgbClr val="5BC8C8"/>
            </a:solidFill>
            <a:prstDash val="solid"/>
          </a:ln>
          <a:effectLst>
            <a:outerShdw blurRad="381000" dist="152400" dir="5400000">
              <a:srgbClr val="000000">
                <a:alpha val="46000"/>
              </a:srgbClr>
            </a:outerShdw>
          </a:effectLst>
        </p:spPr>
        <p:txBody>
          <a:bodyPr/>
          <a:p/>
        </p:txBody>
      </p:sp>
      <p:sp>
        <p:nvSpPr>
          <p:cNvPr id="117" name="任意多边形 116"/>
          <p:cNvSpPr/>
          <p:nvPr/>
        </p:nvSpPr>
        <p:spPr>
          <a:xfrm>
            <a:off x="4371975" y="1428750"/>
            <a:ext cx="3448050" cy="38100"/>
          </a:xfrm>
          <a:custGeom>
            <a:avLst/>
            <a:gdLst/>
            <a:ahLst/>
            <a:cxnLst/>
            <a:pathLst>
              <a:path w="362" h="4">
                <a:moveTo>
                  <a:pt x="346" y="0"/>
                </a:moveTo>
                <a:cubicBezTo>
                  <a:pt x="350" y="0"/>
                  <a:pt x="354" y="2"/>
                  <a:pt x="357" y="4"/>
                </a:cubicBezTo>
                <a:lnTo>
                  <a:pt x="5" y="4"/>
                </a:lnTo>
                <a:cubicBezTo>
                  <a:pt x="8" y="1"/>
                  <a:pt x="12" y="0"/>
                  <a:pt x="16" y="0"/>
                </a:cubicBezTo>
                <a:lnTo>
                  <a:pt x="346" y="0"/>
                </a:lnTo>
                <a:close/>
              </a:path>
            </a:pathLst>
          </a:cu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0" scaled="1"/>
          </a:gradFill>
        </p:spPr>
        <p:txBody>
          <a:bodyPr/>
          <a:p/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4619625" y="1714500"/>
            <a:ext cx="9715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 spc="-37">
                <a:solidFill>
                  <a:srgbClr val="EAF2F8"/>
                </a:solidFill>
                <a:latin typeface="PingFang SC"/>
                <a:ea typeface="PingFang SC"/>
              </a:rPr>
              <a:t>人工保留</a:t>
            </a:r>
            <a:endParaRPr lang="zh-CN" sz="195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119" name="圆角矩形 118"/>
          <p:cNvSpPr/>
          <p:nvPr/>
        </p:nvSpPr>
        <p:spPr>
          <a:xfrm>
            <a:off x="7038340" y="1762125"/>
            <a:ext cx="690880" cy="257175"/>
          </a:xfrm>
          <a:prstGeom prst="roundRect">
            <a:avLst>
              <a:gd name="adj" fmla="val 4343478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7159625" y="1800225"/>
            <a:ext cx="2286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81322"/>
                </a:solidFill>
                <a:latin typeface="PingFang SC"/>
                <a:ea typeface="PingFang SC"/>
              </a:rPr>
              <a:t>决定在人</a:t>
            </a:r>
            <a:endParaRPr lang="zh-CN" sz="900" b="1">
              <a:solidFill>
                <a:srgbClr val="081322"/>
              </a:solidFill>
              <a:latin typeface="PingFang SC"/>
              <a:ea typeface="PingFang SC"/>
            </a:endParaRPr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4619625" y="2095500"/>
            <a:ext cx="29527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定结论、签字与放行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4619625" y="2381250"/>
            <a:ext cx="29527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PEOPLE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pic>
        <p:nvPicPr>
          <p:cNvPr id="123" name="图片 12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19625" y="2714625"/>
            <a:ext cx="142875" cy="142875"/>
          </a:xfrm>
          <a:prstGeom prst="rect">
            <a:avLst/>
          </a:prstGeom>
        </p:spPr>
      </p:pic>
      <p:sp>
        <p:nvSpPr>
          <p:cNvPr id="124" name="文本框 123" descr="{&quot;isTemplate&quot;:true,&quot;type&quot;:&quot;text&quot;}"/>
          <p:cNvSpPr txBox="1"/>
          <p:nvPr/>
        </p:nvSpPr>
        <p:spPr>
          <a:xfrm>
            <a:off x="4857750" y="2705100"/>
            <a:ext cx="14668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范围：</a:t>
            </a: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定结论、签字与放行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125" name="任意多边形 124"/>
          <p:cNvSpPr/>
          <p:nvPr/>
        </p:nvSpPr>
        <p:spPr>
          <a:xfrm>
            <a:off x="4619625" y="3057525"/>
            <a:ext cx="2952750" cy="1047750"/>
          </a:xfrm>
          <a:custGeom>
            <a:avLst/>
            <a:gdLst/>
            <a:ahLst/>
            <a:cxnLst/>
            <a:pathLst>
              <a:path w="310" h="110">
                <a:moveTo>
                  <a:pt x="0" y="0"/>
                </a:moveTo>
                <a:lnTo>
                  <a:pt x="310" y="0"/>
                </a:lnTo>
                <a:lnTo>
                  <a:pt x="310" y="1"/>
                </a:lnTo>
                <a:lnTo>
                  <a:pt x="0" y="1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pic>
        <p:nvPicPr>
          <p:cNvPr id="126" name="图片 12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9625" y="3276600"/>
            <a:ext cx="152400" cy="152400"/>
          </a:xfrm>
          <a:prstGeom prst="rect">
            <a:avLst/>
          </a:prstGeom>
        </p:spPr>
      </p:pic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4876800" y="3257550"/>
            <a:ext cx="1371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DA"/>
                </a:solidFill>
                <a:latin typeface="PingFang SC"/>
                <a:ea typeface="PingFang SC"/>
              </a:rPr>
              <a:t>认证签署与准入结论</a:t>
            </a:r>
            <a:endParaRPr lang="zh-CN" sz="120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pic>
        <p:nvPicPr>
          <p:cNvPr id="128" name="图片 12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9625" y="3600450"/>
            <a:ext cx="152400" cy="152400"/>
          </a:xfrm>
          <a:prstGeom prst="rect">
            <a:avLst/>
          </a:prstGeom>
        </p:spPr>
      </p:pic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4876800" y="3581400"/>
            <a:ext cx="11811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DA"/>
                </a:solidFill>
                <a:latin typeface="PingFang SC"/>
                <a:ea typeface="PingFang SC"/>
              </a:rPr>
              <a:t>红线与安全许可</a:t>
            </a:r>
            <a:endParaRPr lang="zh-CN" sz="120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pic>
        <p:nvPicPr>
          <p:cNvPr id="130" name="图片 12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9625" y="3924300"/>
            <a:ext cx="152400" cy="152400"/>
          </a:xfrm>
          <a:prstGeom prst="rect">
            <a:avLst/>
          </a:prstGeom>
        </p:spPr>
      </p:pic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4876800" y="3905250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DA"/>
                </a:solidFill>
                <a:latin typeface="PingFang SC"/>
                <a:ea typeface="PingFang SC"/>
              </a:rPr>
              <a:t>报价、法律与对外口径</a:t>
            </a:r>
            <a:endParaRPr lang="zh-CN" sz="120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4619625" y="5448300"/>
            <a:ext cx="552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13">
                <a:solidFill>
                  <a:srgbClr val="5E7590"/>
                </a:solidFill>
                <a:latin typeface="Inter"/>
                <a:ea typeface="Inter"/>
              </a:rPr>
              <a:t>责任归属</a:t>
            </a:r>
            <a:endParaRPr lang="zh-CN" sz="975" spc="113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6848475" y="5419725"/>
            <a:ext cx="7239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8FD8E8"/>
                </a:solidFill>
                <a:latin typeface="Inter"/>
                <a:ea typeface="Inter"/>
              </a:rPr>
              <a:t>人工</a:t>
            </a:r>
            <a:r>
              <a:rPr lang="zh-CN" sz="1275" b="1">
                <a:solidFill>
                  <a:srgbClr val="8FD8E8"/>
                </a:solidFill>
                <a:latin typeface="Inter"/>
                <a:ea typeface="Inter"/>
              </a:rPr>
              <a:t>决定</a:t>
            </a:r>
            <a:endParaRPr lang="zh-CN" sz="1275" b="1">
              <a:solidFill>
                <a:srgbClr val="8FD8E8"/>
              </a:solidFill>
              <a:latin typeface="Inter"/>
              <a:ea typeface="Inter"/>
            </a:endParaRPr>
          </a:p>
        </p:txBody>
      </p:sp>
      <p:sp>
        <p:nvSpPr>
          <p:cNvPr id="134" name="圆角矩形 133"/>
          <p:cNvSpPr/>
          <p:nvPr/>
        </p:nvSpPr>
        <p:spPr>
          <a:xfrm>
            <a:off x="8048625" y="1428750"/>
            <a:ext cx="3457575" cy="4419600"/>
          </a:xfrm>
          <a:prstGeom prst="roundRect">
            <a:avLst>
              <a:gd name="adj" fmla="val 440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4000"/>
              </a:srgbClr>
            </a:outerShdw>
          </a:effectLst>
        </p:spPr>
        <p:txBody>
          <a:bodyPr/>
          <a:p/>
        </p:txBody>
      </p:sp>
      <p:sp>
        <p:nvSpPr>
          <p:cNvPr id="135" name="任意多边形 134"/>
          <p:cNvSpPr/>
          <p:nvPr/>
        </p:nvSpPr>
        <p:spPr>
          <a:xfrm>
            <a:off x="8048625" y="1428750"/>
            <a:ext cx="3457575" cy="38100"/>
          </a:xfrm>
          <a:custGeom>
            <a:avLst/>
            <a:gdLst/>
            <a:ahLst/>
            <a:cxnLst/>
            <a:pathLst>
              <a:path w="363" h="4">
                <a:moveTo>
                  <a:pt x="347" y="0"/>
                </a:moveTo>
                <a:cubicBezTo>
                  <a:pt x="351" y="0"/>
                  <a:pt x="355" y="2"/>
                  <a:pt x="358" y="4"/>
                </a:cubicBezTo>
                <a:lnTo>
                  <a:pt x="5" y="4"/>
                </a:lnTo>
                <a:cubicBezTo>
                  <a:pt x="8" y="1"/>
                  <a:pt x="12" y="0"/>
                  <a:pt x="16" y="0"/>
                </a:cubicBezTo>
                <a:lnTo>
                  <a:pt x="347" y="0"/>
                </a:lnTo>
                <a:close/>
              </a:path>
            </a:pathLst>
          </a:custGeom>
          <a:solidFill>
            <a:srgbClr val="8FD8E8">
              <a:alpha val="22000"/>
            </a:srgbClr>
          </a:solidFill>
        </p:spPr>
        <p:txBody>
          <a:bodyPr/>
          <a:p/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8296275" y="1714500"/>
            <a:ext cx="9715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 spc="-37">
                <a:solidFill>
                  <a:srgbClr val="EAF2F8"/>
                </a:solidFill>
                <a:latin typeface="PingFang SC"/>
                <a:ea typeface="PingFang SC"/>
              </a:rPr>
              <a:t>不作承诺</a:t>
            </a:r>
            <a:endParaRPr lang="zh-CN" sz="195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8296275" y="2095500"/>
            <a:ext cx="29622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本次交流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8296275" y="2381250"/>
            <a:ext cx="29622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NOTE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pic>
        <p:nvPicPr>
          <p:cNvPr id="139" name="图片 13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96275" y="2714625"/>
            <a:ext cx="142875" cy="142875"/>
          </a:xfrm>
          <a:prstGeom prst="rect">
            <a:avLst/>
          </a:prstGeom>
        </p:spPr>
      </p:pic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8534400" y="2705100"/>
            <a:ext cx="1333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范围：</a:t>
            </a: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不构成签约或效果承诺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141" name="任意多边形 140"/>
          <p:cNvSpPr/>
          <p:nvPr/>
        </p:nvSpPr>
        <p:spPr>
          <a:xfrm>
            <a:off x="8296275" y="3057525"/>
            <a:ext cx="2962275" cy="1047750"/>
          </a:xfrm>
          <a:custGeom>
            <a:avLst/>
            <a:gdLst/>
            <a:ahLst/>
            <a:cxnLst/>
            <a:pathLst>
              <a:path w="311" h="110">
                <a:moveTo>
                  <a:pt x="0" y="0"/>
                </a:moveTo>
                <a:lnTo>
                  <a:pt x="311" y="0"/>
                </a:lnTo>
                <a:lnTo>
                  <a:pt x="311" y="1"/>
                </a:lnTo>
                <a:lnTo>
                  <a:pt x="0" y="1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pic>
        <p:nvPicPr>
          <p:cNvPr id="142" name="图片 14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6275" y="3276600"/>
            <a:ext cx="152400" cy="152400"/>
          </a:xfrm>
          <a:prstGeom prst="rect">
            <a:avLst/>
          </a:prstGeom>
        </p:spPr>
      </p:pic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8553450" y="3257550"/>
            <a:ext cx="1219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DA"/>
                </a:solidFill>
                <a:latin typeface="PingFang SC"/>
                <a:ea typeface="PingFang SC"/>
              </a:rPr>
              <a:t>不引用效率数字</a:t>
            </a:r>
            <a:endParaRPr lang="zh-CN" sz="120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pic>
        <p:nvPicPr>
          <p:cNvPr id="144" name="图片 14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6275" y="3600450"/>
            <a:ext cx="152400" cy="152400"/>
          </a:xfrm>
          <a:prstGeom prst="rect">
            <a:avLst/>
          </a:prstGeom>
        </p:spPr>
      </p:pic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8553450" y="3581400"/>
            <a:ext cx="1219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DA"/>
                </a:solidFill>
                <a:latin typeface="PingFang SC"/>
                <a:ea typeface="PingFang SC"/>
              </a:rPr>
              <a:t>待核项访谈核验</a:t>
            </a:r>
            <a:endParaRPr lang="zh-CN" sz="120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pic>
        <p:nvPicPr>
          <p:cNvPr id="146" name="图片 14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6275" y="3924300"/>
            <a:ext cx="152400" cy="152400"/>
          </a:xfrm>
          <a:prstGeom prst="rect">
            <a:avLst/>
          </a:prstGeom>
        </p:spPr>
      </p:pic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8553450" y="3905250"/>
            <a:ext cx="1066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DA"/>
                </a:solidFill>
                <a:latin typeface="PingFang SC"/>
                <a:ea typeface="PingFang SC"/>
              </a:rPr>
              <a:t>已有则接入</a:t>
            </a:r>
            <a:endParaRPr lang="zh-CN" sz="120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8296275" y="5448300"/>
            <a:ext cx="552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13">
                <a:solidFill>
                  <a:srgbClr val="5E7590"/>
                </a:solidFill>
                <a:latin typeface="Inter"/>
                <a:ea typeface="Inter"/>
              </a:rPr>
              <a:t>交流性质</a:t>
            </a:r>
            <a:endParaRPr lang="zh-CN" sz="975" spc="113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10372725" y="5419725"/>
            <a:ext cx="8858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AF2F8"/>
                </a:solidFill>
                <a:latin typeface="Inter"/>
                <a:ea typeface="Inter"/>
              </a:rPr>
              <a:t>不作</a:t>
            </a:r>
            <a:r>
              <a:rPr lang="zh-CN" sz="1275" b="1">
                <a:solidFill>
                  <a:srgbClr val="EAF2F8"/>
                </a:solidFill>
                <a:latin typeface="Inter"/>
                <a:ea typeface="Inter"/>
              </a:rPr>
              <a:t>承诺</a:t>
            </a:r>
            <a:endParaRPr lang="zh-CN" sz="1275" b="1">
              <a:solidFill>
                <a:srgbClr val="EAF2F8"/>
              </a:solidFill>
              <a:latin typeface="Inter"/>
              <a:ea typeface="Inter"/>
            </a:endParaRPr>
          </a:p>
        </p:txBody>
      </p:sp>
      <p:sp>
        <p:nvSpPr>
          <p:cNvPr id="150" name="任意多边形 149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16 / 16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2995</Words>
  <Application>WPS 演示</Application>
  <PresentationFormat/>
  <Paragraphs>840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宋体</vt:lpstr>
      <vt:lpstr>Wingdings</vt:lpstr>
      <vt:lpstr>DejaVu Sans</vt:lpstr>
      <vt:lpstr>PingFang SC</vt:lpstr>
      <vt:lpstr>Gubbi</vt:lpstr>
      <vt:lpstr>Inter</vt:lpstr>
      <vt:lpstr>Calibri</vt:lpstr>
      <vt:lpstr>宋体</vt:lpstr>
      <vt:lpstr>Noto Serif CJK SC</vt:lpstr>
      <vt:lpstr>微软雅黑</vt:lpstr>
      <vt:lpstr>Droid Sans Fallback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金风科技 · 标准知识进入工作场景</dc:title>
  <dc:creator/>
  <cp:lastModifiedBy>pan</cp:lastModifiedBy>
  <cp:revision>34</cp:revision>
  <dcterms:created xsi:type="dcterms:W3CDTF">2026-10-29T02:12:27Z</dcterms:created>
  <dcterms:modified xsi:type="dcterms:W3CDTF">2026-10-29T02:12:27Z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{"AIGC":{"Label":"1","ContentProducer":"00119111010856365494821B355","ProduceID":"01a132f2348c7471af3fbadbfc8c6e7e","ReservedCode1":"","ContentPropagator":"00119111010856365494821B355","PropagateID":"01a132f2348c7471af3fbadbfc8c6e7e","ReservedCode2":""}}</vt:lpwstr>
  </property>
  <property fmtid="{D5CDD505-2E9C-101B-9397-08002B2CF9AE}" pid="3" name="ICV">
    <vt:lpwstr>A8C90D1AB6642C59BA53E06A66E1D7EF_42</vt:lpwstr>
  </property>
  <property fmtid="{D5CDD505-2E9C-101B-9397-08002B2CF9AE}" pid="4" name="KSOProductBuildVer">
    <vt:lpwstr>2052-12.1.2.25838</vt:lpwstr>
  </property>
</Properties>
</file>