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开场只讲顺序。报价单或扫描件进来以后，先抽出字段，做成一张预填单。预填单在销售点头之前就有了，点头不是把单造出来，是逐项看这张单算不算。没确认的字段不算，也不替销售补。
评审接的是销售点过头的这张单。先对产品、价格、交期和签收，再按技术、商务、法务的依据标注。评审人确认后才出卡。签不签不在这张卡上。
不要讲产品口号，不要报分钟数和每天能处理多少单。写回销售系统、盖章、签署留到后面说，都还在经办人手里。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三张卡对的是客户现在的三件事，不是系统功能清单。
第一张：销售填单时，报价叫法和合同叫法、内部物料名称经常对不上。录入要做的是预填，并把对不上的列出来问，不猜。
第二张：区域初审还在逐项对产品、价格、交期。付款比例要加总到 100，收货地址要和签收单一致。对不上的单独标，不混在通过项里。
第三张：技术、商务、法务各看各的，意见散着，也经常说不出依据是哪一条。评审要收成一张卡，每条意见带着依据。
底下两句是边界。预填单、评审卡可以先做。写进销售系统、盖章、签署仍由经办人办。不要把预填说成已经在销售系统里建好单。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左边是客户要办的事，右边是协作里实际发生的事。箭头只表示交给谁，不是再生成一份新单。
第一行：叫法对不上，进合同录入。先做成预填单，物料只给候选，不自动写成内部编码。
第二行：销售确认的是这张已经填好的单。点头之前单就在。没确认的字段不算，空着的问销售，不替他们补。
第三行：单据核对和条款依据进合同评审。先对产品、价格、交期、签收，再按技术、商务、法务标注。
第四行：评审人看的是这张卡。没确认的卡不算。签不签仍由人决定。
第五行：发货、补充协议、退换货只留提醒，不在这张卡上往下办。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这一页回答两条协作各查哪份依据，以及查到以后用在哪一步。横线和竖线就是这个对应，不是另一条流程。
录入两份。物料别名有三列：销售口头叫法、规格描述、内部编码。物料候选来查。对不上只给候选，不把第一条写成已匹配，不自动落内部编码。栏目有没有写到，看质保年限、验收、签收。缺项追问来查。没写的问销售，不替合同补年限。
评审五份。结算看付款比例是否加到 100，行金额是否等于数量乘单价。签收看合同地址和签收单是不是同一处。这两份都给基础核对用。技术看施工条件、配比、厚度、基层，不判断方案是否合格。商务看付款、赔偿、违约、宽限期，不判断有没有超权限。法务看质保年限、验收标准、有没有标准号，不下责任结论。依据要求写、合同没写的，标待补。依据里没有的题不上卡。合同没写标准号时，说明里可以写具体标准号无法判断，不编编号。
这些依据是这次把口径整理出来给协作查的。现场不要说成客户现行制度，也不要说成国家标准或法条全文。卡片上的修改建议要能指回某一条依据。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排是合同录入，从左到右。收件看清报价或扫描件。抽出要素，每一项带来源，金额和比例只摘原文，不心算。物料候选只给人挑，别名对不上不自动写内部编码。缺项追问把没写的问出来，例如质保年限。销售确认是点头：预填单在这一步之前已经填好，点头之后这张单才算，没点头的不算。
中间这条折线是交接。评审看的就是销售点过头的同一张预填单，不是另做一份。
下排是合同评审。基础核对看产品、价格、交期，付款加总和地址用白话写结果。技术、商务、法务只写有依据的行，没写到的标待补，依据里没有的题不上卡。然后收成一张卡。评审人点头后这张卡才算。执行提醒只有发货排产、补充协议、退换货三行，不往下办，也不给签署结论。
黄框两处是人。其余步骤按这个顺序走，现场不要跳着讲。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人留在两处，加上经办人本来就做的事。
销售确认的是预填单，不是在确认这一步才把单填出来。没写清的继续问。质保年限这类空项问销售，不替他们补一个年限。
评审人确认的是一张卡。技术只标注施工条件这些有没有写，不判断方案合不合格。商务只按付款、赔偿、违约、宽限期给修改建议，不判断有没有超权限。法务只提示质保、验收、标准号，不下责任结论，也不说可签或不可签。
签署、盖章、建单，授权是否超限，技术方案是否合格，都留在经办人。协作不办。
讲这一单时只抓三处事实。付款节点加起来不是 100，标不通过。合同收货地址和签收单不是同一处，标不通过。质保年限没写，录入时问销售；评审卡上如果写到，标待补。施工条件没写也是待补。具体标准号无法判断只出现在法务说明里，不要铺成一串。依据里没有的题，例如方案是否合格、是否超权限，不上卡。不要把这张卡说成建议签，或建议不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合同录入与评审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合同怎么进、怎么审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报价单或扫描件先进来，先做成预填单。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销售逐项确认这张单。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评审对完单据，再按技术、商务、法务标注，评审人确认后出卡。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35240" y="15544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1F1F2B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1554480"/>
            <a:ext cx="73152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18105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  合同录入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2176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销售确认预填单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09560" y="2724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字段要有出处。缺的问销售。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352044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1F1F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352044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776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  合同评审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41422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评审人确认卡片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09560" y="4690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先对单据，再按条款出处标注。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录入和初审各卡在哪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销售填单时对不齐字段。区域初审再逐项对单据。条款意见还散在三个部门。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280160"/>
            <a:ext cx="3637178" cy="3383280"/>
          </a:xfrm>
          <a:prstGeom prst="roundRect">
            <a:avLst>
              <a:gd name="adj" fmla="val 2703"/>
            </a:avLst>
          </a:prstGeom>
          <a:solidFill>
            <a:srgbClr val="1F1F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44752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字段对不齐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30519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合同字段多。报价单和合同经常不是同一套叫法，物料名称也对不上内部名称。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136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缺的问销售，不猜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7258" y="1280160"/>
            <a:ext cx="3637178" cy="3383280"/>
          </a:xfrm>
          <a:prstGeom prst="roundRect">
            <a:avLst>
              <a:gd name="adj" fmla="val 2703"/>
            </a:avLst>
          </a:prstGeom>
          <a:solidFill>
            <a:srgbClr val="1F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69866" y="1444752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69866" y="1901952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单据逐项对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69866" y="2487168"/>
            <a:ext cx="30519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产品、价格、交期要一条条看。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付款比例要加总到 100。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收货地址要和签收单一致。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9866" y="39136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对不上的单独标出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15605" y="1280160"/>
            <a:ext cx="3637178" cy="3383280"/>
          </a:xfrm>
          <a:prstGeom prst="roundRect">
            <a:avLst>
              <a:gd name="adj" fmla="val 2703"/>
            </a:avLst>
          </a:prstGeom>
          <a:solidFill>
            <a:srgbClr val="1F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8408213" y="1444752"/>
            <a:ext cx="3088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08213" y="1901952"/>
            <a:ext cx="3051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条款意见散着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08213" y="2487168"/>
            <a:ext cx="30519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技术、商务、法务分别看条款。意见不在同一张卡上，也经常说不出依据是哪一条。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08213" y="39136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收进同一张评审卡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912" y="4937760"/>
            <a:ext cx="11313871" cy="1280160"/>
          </a:xfrm>
          <a:prstGeom prst="roundRect">
            <a:avLst>
              <a:gd name="adj" fmla="val 5714"/>
            </a:avLst>
          </a:prstGeom>
          <a:solidFill>
            <a:srgbClr val="16161F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10235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写回销售系统、盖章、签署，仍由经办人办。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" y="555955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预填单和评审卡可以先做出来。写进销售系统、盖章、签署，这三件不在这次协作里办。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这些事分别交给谁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填单进录入。核对和条款进评审。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207008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1207008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9" name="Shape 7"/>
          <p:cNvSpPr/>
          <p:nvPr/>
        </p:nvSpPr>
        <p:spPr>
          <a:xfrm>
            <a:off x="5468112" y="1572768"/>
            <a:ext cx="1097280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533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报价和合同对不上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1700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物料叫法和内部名称经常不是一套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35331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合同录入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31152" y="17007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先做成预填单，物料只给候选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219456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194560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68112" y="2560320"/>
            <a:ext cx="1097280" cy="16459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408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销售逐项确认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" y="2688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确认的是已经填好的字段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31152" y="234086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没确认的不算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31152" y="26883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不替销售补没写的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" y="3182112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3182112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8112" y="3547872"/>
            <a:ext cx="1097280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3284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单据要对，条款要有依据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" y="3675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产品、价格、交期、签收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31152" y="332841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合同评审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31152" y="36758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先核对单据，再按技术、商务、法务标注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8912" y="4169664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0840" y="4169664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30" name="Shape 28"/>
          <p:cNvSpPr/>
          <p:nvPr/>
        </p:nvSpPr>
        <p:spPr>
          <a:xfrm>
            <a:off x="5468112" y="4535424"/>
            <a:ext cx="1097280" cy="164592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3159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评审人看过这张卡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" y="4663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签不签，由人决定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431596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没确认的卡不算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31152" y="46634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依据留在卡上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" y="5157216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36" name="Shape 34"/>
          <p:cNvSpPr/>
          <p:nvPr/>
        </p:nvSpPr>
        <p:spPr>
          <a:xfrm>
            <a:off x="6720840" y="5157216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1F1F2B"/>
          </a:solidFill>
          <a:ln/>
        </p:spPr>
      </p:sp>
      <p:sp>
        <p:nvSpPr>
          <p:cNvPr id="37" name="Shape 35"/>
          <p:cNvSpPr/>
          <p:nvPr/>
        </p:nvSpPr>
        <p:spPr>
          <a:xfrm>
            <a:off x="5468112" y="5522976"/>
            <a:ext cx="1097280" cy="164592"/>
          </a:xfrm>
          <a:prstGeom prst="rightArrow">
            <a:avLst/>
          </a:prstGeom>
          <a:solidFill>
            <a:srgbClr val="9A9AAE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5303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发货、补充协议、退换货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58368" y="5650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还在这张卡之后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31152" y="530352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只作提醒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31152" y="5650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不在这张卡上往下办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两条协作各查什么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录入查两份。评审查五份。没写到的标待补。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合同录入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525219"/>
            <a:ext cx="11313871" cy="2194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3215259" y="1536192"/>
            <a:ext cx="21946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627632"/>
            <a:ext cx="5574640" cy="1572768"/>
          </a:xfrm>
          <a:prstGeom prst="roundRect">
            <a:avLst>
              <a:gd name="adj" fmla="val 4651"/>
            </a:avLst>
          </a:prstGeom>
          <a:solidFill>
            <a:srgbClr val="1F1F2B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792224"/>
            <a:ext cx="511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物料别名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" y="2157984"/>
            <a:ext cx="506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销售口头叫法、规格描述、内部编码。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对不上只给候选，不自动写编码。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2761488"/>
            <a:ext cx="511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给物料候选用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54491" y="1536192"/>
            <a:ext cx="21946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8144" y="1627632"/>
            <a:ext cx="5574640" cy="1572768"/>
          </a:xfrm>
          <a:prstGeom prst="roundRect">
            <a:avLst>
              <a:gd name="adj" fmla="val 4651"/>
            </a:avLst>
          </a:prstGeom>
          <a:solidFill>
            <a:srgbClr val="1F1F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34176" y="1792224"/>
            <a:ext cx="511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栏目有没有写到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4176" y="2157984"/>
            <a:ext cx="506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质保年限、验收、签收写没写。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没写的问销售，不替他们补年限。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34176" y="2761488"/>
            <a:ext cx="511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给缺项追问用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合同评审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912" y="3738067"/>
            <a:ext cx="11313871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1515435" y="3749040"/>
            <a:ext cx="219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3858768"/>
            <a:ext cx="2174992" cy="2331720"/>
          </a:xfrm>
          <a:prstGeom prst="roundRect">
            <a:avLst>
              <a:gd name="adj" fmla="val 3363"/>
            </a:avLst>
          </a:prstGeom>
          <a:solidFill>
            <a:srgbClr val="1F1F2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005072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4389120"/>
            <a:ext cx="191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付款比例要加到 100。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行金额等于数量×单价。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641848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给基础核对用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00155" y="3749040"/>
            <a:ext cx="219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23632" y="3858768"/>
            <a:ext cx="2174992" cy="2331720"/>
          </a:xfrm>
          <a:prstGeom prst="roundRect">
            <a:avLst>
              <a:gd name="adj" fmla="val 3363"/>
            </a:avLst>
          </a:prstGeom>
          <a:solidFill>
            <a:srgbClr val="1F1F2B"/>
          </a:solidFill>
          <a:ln/>
        </p:spPr>
      </p:sp>
      <p:sp>
        <p:nvSpPr>
          <p:cNvPr id="28" name="Text 26"/>
          <p:cNvSpPr/>
          <p:nvPr/>
        </p:nvSpPr>
        <p:spPr>
          <a:xfrm>
            <a:off x="2851648" y="4005072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51648" y="4389120"/>
            <a:ext cx="191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合同收货地址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和签收单要比对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是不是同一处。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51648" y="5641848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给基础核对用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4875" y="3749040"/>
            <a:ext cx="219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08352" y="3858768"/>
            <a:ext cx="2174992" cy="2331720"/>
          </a:xfrm>
          <a:prstGeom prst="roundRect">
            <a:avLst>
              <a:gd name="adj" fmla="val 3363"/>
            </a:avLst>
          </a:prstGeom>
          <a:solidFill>
            <a:srgbClr val="1F1F2B"/>
          </a:solidFill>
          <a:ln/>
        </p:spPr>
      </p:sp>
      <p:sp>
        <p:nvSpPr>
          <p:cNvPr id="33" name="Text 31"/>
          <p:cNvSpPr/>
          <p:nvPr/>
        </p:nvSpPr>
        <p:spPr>
          <a:xfrm>
            <a:off x="5136368" y="4005072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36368" y="4389120"/>
            <a:ext cx="191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施工条件、配比、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厚度和基层。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不判断方案是否合格。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6368" y="5641848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给技术标注用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69595" y="3749040"/>
            <a:ext cx="219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7293072" y="3858768"/>
            <a:ext cx="2174992" cy="2331720"/>
          </a:xfrm>
          <a:prstGeom prst="roundRect">
            <a:avLst>
              <a:gd name="adj" fmla="val 3363"/>
            </a:avLst>
          </a:prstGeom>
          <a:solidFill>
            <a:srgbClr val="1F1F2B"/>
          </a:solidFill>
          <a:ln/>
        </p:spPr>
      </p:sp>
      <p:sp>
        <p:nvSpPr>
          <p:cNvPr id="38" name="Text 36"/>
          <p:cNvSpPr/>
          <p:nvPr/>
        </p:nvSpPr>
        <p:spPr>
          <a:xfrm>
            <a:off x="7421088" y="4005072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21088" y="4389120"/>
            <a:ext cx="191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付款、赔偿、违约、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宽限期。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不判断是否超权限。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21088" y="5641848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给商务标注用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54314" y="3749040"/>
            <a:ext cx="219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9577791" y="3858768"/>
            <a:ext cx="2174992" cy="2331720"/>
          </a:xfrm>
          <a:prstGeom prst="roundRect">
            <a:avLst>
              <a:gd name="adj" fmla="val 3363"/>
            </a:avLst>
          </a:prstGeom>
          <a:solidFill>
            <a:srgbClr val="1F1F2B"/>
          </a:solidFill>
          <a:ln/>
        </p:spPr>
      </p:sp>
      <p:sp>
        <p:nvSpPr>
          <p:cNvPr id="43" name="Text 41"/>
          <p:cNvSpPr/>
          <p:nvPr/>
        </p:nvSpPr>
        <p:spPr>
          <a:xfrm>
            <a:off x="9705807" y="4005072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05807" y="4389120"/>
            <a:ext cx="191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质保年限、验收、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有没有标准号。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不下责任结论。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705807" y="5641848"/>
            <a:ext cx="191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给法务提示用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两条协作前后相接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销售点过头的预填单，交给评审接着看。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1460175" cy="1874520"/>
          </a:xfrm>
          <a:prstGeom prst="roundRect">
            <a:avLst>
              <a:gd name="adj" fmla="val 4878"/>
            </a:avLst>
          </a:prstGeom>
          <a:solidFill>
            <a:srgbClr val="16161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合同录入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1572768"/>
            <a:ext cx="2065264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719072"/>
            <a:ext cx="191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" y="2176272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看清附件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96784" y="1572768"/>
            <a:ext cx="2065264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9936" y="1719072"/>
            <a:ext cx="191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抽出要素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69936" y="2176272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每项带来源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63216" y="1572768"/>
            <a:ext cx="2065264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6368" y="1719072"/>
            <a:ext cx="191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物料候选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36368" y="2176272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先给人挑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29648" y="1572768"/>
            <a:ext cx="2065264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2800" y="1719072"/>
            <a:ext cx="191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缺项追问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2800" y="2176272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没写的问出来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96079" y="1572768"/>
            <a:ext cx="2065264" cy="1078992"/>
          </a:xfrm>
          <a:prstGeom prst="roundRect">
            <a:avLst>
              <a:gd name="adj" fmla="val 6780"/>
            </a:avLst>
          </a:prstGeom>
          <a:solidFill>
            <a:srgbClr val="2A24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9231" y="1719072"/>
            <a:ext cx="191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销售确认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69231" y="2176272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点头后这张单才算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13904" y="2048256"/>
            <a:ext cx="164592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80336" y="2048256"/>
            <a:ext cx="164592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46768" y="2048256"/>
            <a:ext cx="164592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9413199" y="2048256"/>
            <a:ext cx="164592" cy="128016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858768"/>
            <a:ext cx="11460175" cy="1965960"/>
          </a:xfrm>
          <a:prstGeom prst="roundRect">
            <a:avLst>
              <a:gd name="adj" fmla="val 4651"/>
            </a:avLst>
          </a:prstGeom>
          <a:solidFill>
            <a:srgbClr val="16161F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合同评审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基础核对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产品价格交期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49232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22384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技术标注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22384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按条目标注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68112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1264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商务标注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1264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付款与违约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86992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0144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法务提示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60144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只提示修改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05872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9024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收成卡片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79024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合成一张卡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624751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2A24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97903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评审确认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97903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点头后这张卡才算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243631" y="4279392"/>
            <a:ext cx="1417712" cy="1078992"/>
          </a:xfrm>
          <a:prstGeom prst="roundRect">
            <a:avLst>
              <a:gd name="adj" fmla="val 6780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16783" y="4425696"/>
            <a:ext cx="127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执行提醒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316783" y="4882896"/>
            <a:ext cx="127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只提醒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66352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3585232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3" name="Shape 51"/>
          <p:cNvSpPr/>
          <p:nvPr/>
        </p:nvSpPr>
        <p:spPr>
          <a:xfrm>
            <a:off x="5204112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4" name="Shape 52"/>
          <p:cNvSpPr/>
          <p:nvPr/>
        </p:nvSpPr>
        <p:spPr>
          <a:xfrm>
            <a:off x="6822992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5" name="Shape 53"/>
          <p:cNvSpPr/>
          <p:nvPr/>
        </p:nvSpPr>
        <p:spPr>
          <a:xfrm>
            <a:off x="8441871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10060751" y="4754880"/>
            <a:ext cx="164592" cy="128016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17738" y="2651760"/>
            <a:ext cx="21946" cy="8138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8" name="Shape 56"/>
          <p:cNvSpPr/>
          <p:nvPr/>
        </p:nvSpPr>
        <p:spPr>
          <a:xfrm>
            <a:off x="1239208" y="3454603"/>
            <a:ext cx="9389503" cy="2194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9" name="Shape 57"/>
          <p:cNvSpPr/>
          <p:nvPr/>
        </p:nvSpPr>
        <p:spPr>
          <a:xfrm>
            <a:off x="1228235" y="3465576"/>
            <a:ext cx="21946" cy="685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56912" y="4133088"/>
            <a:ext cx="164592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61" name="Shape 59"/>
          <p:cNvSpPr/>
          <p:nvPr/>
        </p:nvSpPr>
        <p:spPr>
          <a:xfrm>
            <a:off x="4160520" y="32826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12343C"/>
          </a:solidFill>
          <a:ln/>
        </p:spPr>
      </p:sp>
      <p:sp>
        <p:nvSpPr>
          <p:cNvPr id="62" name="Text 60"/>
          <p:cNvSpPr/>
          <p:nvPr/>
        </p:nvSpPr>
        <p:spPr>
          <a:xfrm>
            <a:off x="4160520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已确认的预填单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Forge   ·   合同协作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 / 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两处要人点头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8912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卡上放依据。签不签，人来定。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234440"/>
            <a:ext cx="3649370" cy="2468880"/>
          </a:xfrm>
          <a:prstGeom prst="roundRect">
            <a:avLst>
              <a:gd name="adj" fmla="val 3704"/>
            </a:avLst>
          </a:prstGeom>
          <a:solidFill>
            <a:srgbClr val="1F1F2B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389888"/>
            <a:ext cx="3192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719072"/>
            <a:ext cx="3137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逐项确认预填单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2331720"/>
            <a:ext cx="31373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单是先填好的。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没写清的问销售。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不替他们补。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71162" y="1234440"/>
            <a:ext cx="3649370" cy="2468880"/>
          </a:xfrm>
          <a:prstGeom prst="roundRect">
            <a:avLst>
              <a:gd name="adj" fmla="val 3704"/>
            </a:avLst>
          </a:prstGeom>
          <a:solidFill>
            <a:srgbClr val="1F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7194" y="1389888"/>
            <a:ext cx="3192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7194" y="1719072"/>
            <a:ext cx="3137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确认这张卡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7194" y="2331720"/>
            <a:ext cx="31373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技术不判断方案是否合格。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商务不判断是否超权限。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法务不下责任结论。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03413" y="1234440"/>
            <a:ext cx="3649370" cy="2468880"/>
          </a:xfrm>
          <a:prstGeom prst="roundRect">
            <a:avLst>
              <a:gd name="adj" fmla="val 3704"/>
            </a:avLst>
          </a:prstGeom>
          <a:solidFill>
            <a:srgbClr val="1F1F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59445" y="1389888"/>
            <a:ext cx="3192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经办人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9445" y="1719072"/>
            <a:ext cx="3137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这几件事不自动做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59445" y="2331720"/>
            <a:ext cx="31373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签署、盖章、建单。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授权是否超限。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技术方案是否合格。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86200"/>
            <a:ext cx="11313871" cy="2331720"/>
          </a:xfrm>
          <a:prstGeom prst="roundRect">
            <a:avLst>
              <a:gd name="adj" fmla="val 3922"/>
            </a:avLst>
          </a:prstGeom>
          <a:solidFill>
            <a:srgbClr val="16161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付款加总不是 100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收货地址和签收单不一致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5486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质保年限没写，录入时问销售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4617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卡片上标出前两处。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没写到的标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待补</a:t>
            </a:r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C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具体标准号才写无法判断。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合同怎么进、怎么审</dc:title>
  <dc:subject>合同录入与合同评审</dc:subject>
  <dc:creator>Agent Forge</dc:creator>
  <cp:lastModifiedBy>Agent Forge</cp:lastModifiedBy>
  <cp:revision>1</cp:revision>
  <dcterms:created xsi:type="dcterms:W3CDTF">2026-10-27T06:16:41Z</dcterms:created>
  <dcterms:modified xsi:type="dcterms:W3CDTF">2026-10-27T06:16:41Z</dcterms:modified>
</cp:coreProperties>
</file>