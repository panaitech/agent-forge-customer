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22.svg" ContentType="image/svg+xml"/>
  <Override PartName="/ppt/media/image2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01" r:id="rId3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22" r:id="rId16"/>
    <p:sldId id="314" r:id="rId17"/>
    <p:sldId id="315" r:id="rId18"/>
    <p:sldId id="316" r:id="rId19"/>
    <p:sldId id="317" r:id="rId20"/>
    <p:sldId id="318" r:id="rId21"/>
    <p:sldId id="319" r:id="rId22"/>
    <p:sldId id="323" r:id="rId23"/>
    <p:sldId id="321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两项目标：合同环节做辅助提效与风险提示，知识库把依据做成当前有效、可引用的业务规则。不替代人工终审。不展开定价与竞品。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上半场讲合同，下半场讲知识库。企业级能力在两条线里各出现一次：一次对应合同写回，一次对应知识发布与检索。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合同部分依据《雨中情AI合同需求》。定位是辅助提效与风险提示。客户原文中的「5 层递进式审查」是举例，评审卡按基础核对、技术、商务、法务汇编，不写成固定五层。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流程以客户确认稿为准：创建登记、初审、技术评审、商务评审、法务评审，其后客户盖章与归档。报价是合同的充分非必要条件：权限内可直接创建合同，特价超授权走报价审批。另有提前发货、合同变更、补充协议、退换货，本页不展开。合同模块在销售易上做了结构化表单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30 分钟以上、审核数天至一周，是客户交流中的现状，不是本期承诺。客户曾预期初审量由每天 50 单提升到 200 单，该数字不作为方案目标，被问及时说明待现场核对。客户资信评审目前集中在签署前，本期不纳入授信决策。部分风险点需销售补充管控方案，例如账期与历史合作方式，本页不展开个案。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本期从创建录入与评审辅助切入。预填单与评审卡的写回都要人工确认。发货排产、补充协议、退换货只作提醒。物料名称与编码规则由双方共同厘定，不承诺全量自动匹配。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客户材料记载扫描件识别率，不作为本期承诺，不写上页面。低置信度字段提交人工确认，不使用「标黄」等实现用语。缺失信息不自行补录。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结论分三类。依据要求记载而合同未记载，为待补。合同已经写明具体标准号且无法对应，为无法判断。这是对客户原文「未覆盖即写无法判断」的收窄，避免把没有依据的题目写成结论。技术标注不判定方案是否合格。商务标注不判断授权是否超限。法务提示不下达责任结论，也不给出可签或不可签。演示时卡片可以一次点确认。正式流程是三位评审人在同一张卡上同时确认各自段落。技术、商务、法务的标注在基础核对之后同时进行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合同评审要用的技术、商务、法务依据，就是知识库要发布的当前有效规则。无对应条目的事项不列入评审卡。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企业级来自《Agent Forge 企业产品介绍》：审批、审计可验真、熔断、隔离，另加稳定可靠。稳定可靠在合同侧是指每个环节有可复核的交付物，中断后记录仍在，不依赖单次对话生成结论。角色分为管理员、运维、审批人、只读。被问及定价、部署形态、竞品或第三方效益时，说明见企业产品介绍，本页不承诺金额、可用性百分比，也不引用其他企业的效率数字。部署可按数据边界选择单机、内网或全离线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四个环节在同一底座：构建把岗位配成可交付的角色，运行在单据进入后启动，治理把人工确认设为写回前置，观测可以回看一次处理的输入、依据与确认。不以整份合同的单次阅读代替分段校验与人工签署。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知识库现状与痛点依据需求整理中的知识库章节。建设路径依据 agent-forge-knowledge 的方法论：检索对象是一条当前有效的业务规则，原件、规则与索引分开，草稿不可检索，修订采用发布新条与退役旧条。不把内部层级编号印在页面上。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销售易知识库偏文件目录，OA 另有一套。企业微信问答将文档直接导入，回答质量不足。人资、行政知识库调用率低。优秀经验尚未成为组织知识资产。密级分为全员、区域、机密，放在下一页的共享机制里讲。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权威版本由业务责任人裁定，不由系统自行确定。平台按团队、知识库、文件夹划分权限，页面用全员、区域、机密表达密级，不展开平台菜单名称。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五步是方法论，不是把整篇文档上传后再分类。首期验证销售高频问题，以及合同评审所需的技术、商务、法务依据，确认引用的是当前有效条目。客户判断「几百条覆盖约 80% 常见问题」，该比例不作为承诺。企业微信入口、分诊、贡献激励不纳入这五步。知识运营与审核责任人需要客户指定。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稳定可靠在知识库侧是：原件与已发布条目保持不变，检索索引可重建；更换模型只重算索引，不改写已发布正文；服务重启不丢失原件与已发布条目。数据留存客户环境，材料不进入服务方电脑。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两条线同步推进。本期优先交付合同创建录入与评审辅助，并同步发布合同评审所需依据。签署、盖章、建单、定责与知识发布仍由人工完成。客户资信前移、销售教练、商机复盘、拜访记录结构化列为后续，不纳入本期。灰度方式是人工与系统双线并行，达标后再扩大范围。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4.svg"/><Relationship Id="rId7" Type="http://schemas.openxmlformats.org/officeDocument/2006/relationships/image" Target="../media/image13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0" Type="http://schemas.openxmlformats.org/officeDocument/2006/relationships/notesSlide" Target="../notesSlides/notesSlide10.xml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4.svg"/><Relationship Id="rId7" Type="http://schemas.openxmlformats.org/officeDocument/2006/relationships/image" Target="../media/image13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0" Type="http://schemas.openxmlformats.org/officeDocument/2006/relationships/notesSlide" Target="../notesSlides/notesSlide15.xml"/><Relationship Id="rId1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4.svg"/><Relationship Id="rId7" Type="http://schemas.openxmlformats.org/officeDocument/2006/relationships/image" Target="../media/image13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0" Type="http://schemas.openxmlformats.org/officeDocument/2006/relationships/notesSlide" Target="../notesSlides/notesSlide17.xml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svg"/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// B · 01 封面 — 左文右图，辉光右侧出血&#10;&lt;Slide style={{ width: 1280, height: 720, background: '#081322', position: 'relative', overflow: 'hidden', fontFamily: '&quot;PingFang SC&quot;,&quot;Source Han Sans SC&quot;,&quot;Microsoft YaHei&quot;,sans-serif' }}&gt;&#10;&#10;    {/* 右侧主视觉 */}&#10;    &lt;Box style={{ position: 'absolute', right: 0, top: 0, width: 700, height: 720 }}&gt;&#10;        &lt;Image src=&quot;assets/cover_visual.png&quot; style={{ width: 700, height: 720, objectFit: 'cover' }} /&gt;&#10;        &lt;Box style={{ position: 'absolute', left: 0, top: 0, width: 700, height: 720, background: 'rgba(8,19,34,0.16)' }} /&gt;&#10;        &lt;Box style={{ position: 'absolute', left: 0, top: 0, width: 300, height: 720, background: 'linear-gradient(90deg, #081322 0%, rgba(8,19,34,0) 100%)' }} /&gt;&#10;        &lt;Box style={{ position: 'absolute', right: 0, top: 0, width: 700, height: 160, background: 'linear-gradient(180deg, #081322 0%, rgba(8,19,34,0) 100%)' }} /&gt;&#10;        &lt;Box style={{ position: 'absolute', right: 0, bottom: 0, width: 700, height: 180, background: 'linear-gradient(0deg, #081322 0%, rgba(8,19,34,0) 100%)' }} /&gt;&#10;    &lt;/Box&gt;&#10;&#10;    {/* 左侧文字 */}&#10;    &lt;Box style={{ position: 'absolute', left: 72, top: 20, width: 600, height: 680, flexDirection: 'column' }}&gt;&#10;&#10;        {/* 品牌锁标 */}&#10;        &lt;Box style={{ flexDirection: 'row', alignItems: 'center', gap: 14, height: 52 }}&gt;&#10;            &lt;Image src=&quot;assets/badge.png&quot; style={{ width: 47, height: 52 }} /&gt;&#10;            &lt;Box style={{ flexDirection: 'column', gap: 2 }}&gt;&#10;                &lt;Image src=&quot;assets/logo_zh_light.png&quot; style={{ width: 152, height: 35 }} /&gt;&#10;                &lt;Image src=&quot;assets/logo_en_light.png&quot; style={{ width: 152, height: 15 }} /&gt;&#10;            &lt;/Box&gt;&#10;        &lt;/Box&gt;&#10;&#10;        &lt;Box style={{ flex: 1 }} /&gt;&#10;&#10;        {/* 主标题 */}&#10;        &lt;Box style={{ flexDirection: 'column' }}&gt;&#10;            &lt;Text style={{ fontSize: 76, fontWeight: 'bold', color: '#EAF2F8', lineHeight: 1.16, letterSpacing: -1.5 }}&gt;&#10;                销售智能化升级&#10;            &lt;/Text&gt;&#10;            &lt;Text style={{ fontSize: 76, fontWeight: 'bold', lineHeight: 1.16, letterSpacing: -1.5, backgroundImage: 'linear-gradient(135deg, #8FD8E8 0%, #3FA8BF 100%)', backgroundClip: 'text', color: 'transparent' }}&gt;&#10;                解决方案&#10;            &lt;/Text&gt;&#10;            &lt;Box style={{ width: 68, height: 4, background: 'linear-gradient(135deg, #8FD8E8 0%, #3FA8BF 100%)', borderRadius: 2, marginTop: 22 }} /&gt;&#10;            &lt;Text style={{ fontSize: 20, color: '#8FA6BC', lineHeight: 1.7, marginTop: 18, letterSpacing: 0.5 }}&gt;&#10;                助力中国企业销售管理领先世界&#10;            &lt;/Text&gt;&#10;        &lt;/Box&gt;&#10;&#10;        &lt;Box style={{ flex: 1 }} /&gt;&#10;&#10;        {/* 落款 */}&#10;        &lt;Box style={{ flexDirection: 'row', alignItems: 'center', gap: 14 }}&gt;&#10;            &lt;Box style={{ width: 22, height: 1, background: 'rgba(199,169,107,0.85)' }} /&gt;&#10;            &lt;Text style={{ fontSize: 14, color: '#8FA6BC' }}&gt;北京企盛求索信息科技有限公司&lt;/Text&gt;&#10;            &lt;Box style={{ width: 1, height: 12, background: 'rgba(143,166,188,0.35)' }} /&gt;&#10;            &lt;Text style={{ fontSize: 14, color: '#8FA6BC', letterSpacing: 1 }}&gt;2026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rcRect l="18513" r="18513"/>
          <a:stretch>
            <a:fillRect/>
          </a:stretch>
        </p:blipFill>
        <p:spPr>
          <a:xfrm>
            <a:off x="5524500" y="0"/>
            <a:ext cx="6667500" cy="6858000"/>
          </a:xfrm>
          <a:prstGeom prst="rect">
            <a:avLst/>
          </a:prstGeom>
        </p:spPr>
      </p:pic>
      <p:sp>
        <p:nvSpPr>
          <p:cNvPr id="4" name="矩形 3"/>
          <p:cNvSpPr/>
          <p:nvPr/>
        </p:nvSpPr>
        <p:spPr>
          <a:xfrm>
            <a:off x="5524500" y="0"/>
            <a:ext cx="6667500" cy="6858000"/>
          </a:xfrm>
          <a:prstGeom prst="rect">
            <a:avLst/>
          </a:prstGeom>
          <a:solidFill>
            <a:srgbClr val="081322">
              <a:alpha val="16000"/>
            </a:srgbClr>
          </a:solidFill>
        </p:spPr>
        <p:txBody>
          <a:bodyPr/>
          <a:p/>
        </p:txBody>
      </p:sp>
      <p:sp>
        <p:nvSpPr>
          <p:cNvPr id="5" name="矩形 4"/>
          <p:cNvSpPr/>
          <p:nvPr/>
        </p:nvSpPr>
        <p:spPr>
          <a:xfrm>
            <a:off x="5524500" y="0"/>
            <a:ext cx="2857500" cy="68580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0" scaled="1"/>
          </a:gradFill>
        </p:spPr>
        <p:txBody>
          <a:bodyPr/>
          <a:p/>
        </p:txBody>
      </p:sp>
      <p:sp>
        <p:nvSpPr>
          <p:cNvPr id="6" name="矩形 5"/>
          <p:cNvSpPr/>
          <p:nvPr/>
        </p:nvSpPr>
        <p:spPr>
          <a:xfrm>
            <a:off x="5524500" y="0"/>
            <a:ext cx="6667500" cy="15240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5400000" scaled="1"/>
          </a:gradFill>
        </p:spPr>
        <p:txBody>
          <a:bodyPr/>
          <a:p/>
        </p:txBody>
      </p:sp>
      <p:sp>
        <p:nvSpPr>
          <p:cNvPr id="7" name="矩形 6"/>
          <p:cNvSpPr/>
          <p:nvPr/>
        </p:nvSpPr>
        <p:spPr>
          <a:xfrm>
            <a:off x="5524500" y="5143500"/>
            <a:ext cx="6667500" cy="1714500"/>
          </a:xfrm>
          <a:prstGeom prst="rect">
            <a:avLst/>
          </a:prstGeom>
          <a:gradFill>
            <a:gsLst>
              <a:gs pos="0">
                <a:srgbClr val="081322"/>
              </a:gs>
              <a:gs pos="100000">
                <a:srgbClr val="081322">
                  <a:alpha val="0"/>
                </a:srgbClr>
              </a:gs>
            </a:gsLst>
            <a:lin ang="16200000" scaled="1"/>
          </a:gradFill>
        </p:spPr>
        <p:txBody>
          <a:bodyPr/>
          <a:p/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rcRect l="155" r="155"/>
          <a:stretch>
            <a:fillRect/>
          </a:stretch>
        </p:blipFill>
        <p:spPr>
          <a:xfrm>
            <a:off x="685800" y="190500"/>
            <a:ext cx="447675" cy="4953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t="331" b="331"/>
          <a:stretch>
            <a:fillRect/>
          </a:stretch>
        </p:blipFill>
        <p:spPr>
          <a:xfrm>
            <a:off x="1266825" y="190500"/>
            <a:ext cx="1447800" cy="333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rcRect l="211" r="211"/>
          <a:stretch>
            <a:fillRect/>
          </a:stretch>
        </p:blipFill>
        <p:spPr>
          <a:xfrm>
            <a:off x="1266825" y="542925"/>
            <a:ext cx="1447800" cy="142875"/>
          </a:xfrm>
          <a:prstGeom prst="rect">
            <a:avLst/>
          </a:prstGeom>
        </p:spPr>
      </p:pic>
      <p:sp>
        <p:nvSpPr>
          <p:cNvPr id="11" name="文本框 10" descr="{&quot;isTemplate&quot;:true,&quot;type&quot;:&quot;text&quot;}"/>
          <p:cNvSpPr txBox="1"/>
          <p:nvPr/>
        </p:nvSpPr>
        <p:spPr>
          <a:xfrm>
            <a:off x="685800" y="2181225"/>
            <a:ext cx="5715000" cy="1009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6000"/>
              </a:lnSpc>
            </a:pPr>
            <a:r>
              <a:rPr lang="zh-CN" sz="5700" b="1" spc="-112">
                <a:solidFill>
                  <a:srgbClr val="EAF2F8"/>
                </a:solidFill>
                <a:latin typeface="PingFang SC"/>
                <a:ea typeface="PingFang SC"/>
              </a:rPr>
              <a:t>雨中情 AI 合同</a:t>
            </a:r>
            <a:endParaRPr lang="zh-CN" sz="5700" b="1" spc="-11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2" name="文本框 11" descr="{&quot;isTemplate&quot;:true,&quot;type&quot;:&quot;text&quot;}"/>
          <p:cNvSpPr txBox="1"/>
          <p:nvPr/>
        </p:nvSpPr>
        <p:spPr>
          <a:xfrm>
            <a:off x="685800" y="3190875"/>
            <a:ext cx="5715000" cy="10096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6000"/>
              </a:lnSpc>
            </a:pPr>
            <a:r>
              <a:rPr lang="zh-CN" sz="5700" b="1" spc="-112">
                <a:gradFill>
                  <a:gsLst>
                    <a:gs pos="0">
                      <a:srgbClr val="8FD8E8"/>
                    </a:gs>
                    <a:gs pos="100000">
                      <a:srgbClr val="3FA8BF"/>
                    </a:gs>
                  </a:gsLst>
                  <a:lin ang="2700000" scaled="1"/>
                </a:gradFill>
                <a:latin typeface="PingFang SC"/>
                <a:ea typeface="PingFang SC"/>
              </a:rPr>
              <a:t>与知识库解决方案</a:t>
            </a:r>
            <a:endParaRPr lang="zh-CN" sz="5700" b="1" spc="-112">
              <a:gradFill>
                <a:gsLst>
                  <a:gs pos="0">
                    <a:srgbClr val="8FD8E8"/>
                  </a:gs>
                  <a:gs pos="100000">
                    <a:srgbClr val="3FA8BF"/>
                  </a:gs>
                </a:gsLst>
                <a:lin ang="2700000" scaled="1"/>
              </a:gradFill>
              <a:latin typeface="PingFang SC"/>
              <a:ea typeface="PingFang SC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685800" y="4410075"/>
            <a:ext cx="6477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4" name="文本框 13" descr="{&quot;isTemplate&quot;:true,&quot;type&quot;:&quot;text&quot;}"/>
          <p:cNvSpPr txBox="1"/>
          <p:nvPr/>
        </p:nvSpPr>
        <p:spPr>
          <a:xfrm>
            <a:off x="685800" y="4619625"/>
            <a:ext cx="5715000" cy="3905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500" spc="38">
                <a:solidFill>
                  <a:srgbClr val="8FA6BC"/>
                </a:solidFill>
                <a:latin typeface="PingFang SC"/>
                <a:ea typeface="PingFang SC"/>
              </a:rPr>
              <a:t>辅助提效与风险提示，人工终审予以保留</a:t>
            </a:r>
            <a:endParaRPr lang="zh-CN" sz="1500" spc="38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685800" y="6581775"/>
            <a:ext cx="209550" cy="9525"/>
          </a:xfrm>
          <a:prstGeom prst="rect">
            <a:avLst/>
          </a:prstGeom>
          <a:solidFill>
            <a:srgbClr val="C7A96B">
              <a:alpha val="85000"/>
            </a:srgbClr>
          </a:solidFill>
        </p:spPr>
        <p:txBody>
          <a:bodyPr/>
          <a:p/>
        </p:txBody>
      </p:sp>
      <p:sp>
        <p:nvSpPr>
          <p:cNvPr id="16" name="文本框 15" descr="{&quot;isTemplate&quot;:true,&quot;type&quot;:&quot;text&quot;}"/>
          <p:cNvSpPr txBox="1"/>
          <p:nvPr/>
        </p:nvSpPr>
        <p:spPr>
          <a:xfrm>
            <a:off x="1028700" y="65055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北京企盛求索信息科技有限公司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3028950" y="6534150"/>
            <a:ext cx="9525" cy="114300"/>
          </a:xfrm>
          <a:prstGeom prst="rect">
            <a:avLst/>
          </a:prstGeom>
          <a:solidFill>
            <a:srgbClr val="8FA6BC">
              <a:alpha val="35000"/>
            </a:srgbClr>
          </a:solidFill>
        </p:spPr>
        <p:txBody>
          <a:bodyPr/>
          <a:p/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3171825" y="6505575"/>
            <a:ext cx="3619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75">
                <a:solidFill>
                  <a:srgbClr val="8FA6BC"/>
                </a:solidFill>
                <a:latin typeface="PingFang SC"/>
                <a:ea typeface="PingFang SC"/>
              </a:rPr>
              <a:t>2026</a:t>
            </a:r>
            <a:endParaRPr lang="en-US" sz="1050" spc="75">
              <a:solidFill>
                <a:srgbClr val="8FA6BC"/>
              </a:solidFill>
              <a:latin typeface="PingFang SC"/>
              <a:ea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8" name="" descr="// B · 02 目录 — 金色编号条目&#10;&lt;Slide style={{ width: 1280, height: 720, background: '#081322', fontFamily: '&quot;PingFang SC&quot;,&quot;Source Han Sans SC&quot;,&quot;Microsoft YaHei&quot;,sans-serif', padding: '20px 72px', display: 'flex', flexDirection: 'column', overflow: 'hidden' }}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目录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NTENTS&lt;/Text&gt;&#10;        &lt;Box style={{ flex: 1 }} /&gt;&#10;        &lt;Text style={{ fontSize: 14, color: '#8FA6BC' }}&gt;全篇 16 页 · 四大板块&lt;/Text&gt;&#10;    &lt;/Box&gt;&#10;&#10;    {/* B · 内容区 */}&#10;    &lt;Box style={{ flex: 1, flexDirection: 'column', justifyContent: 'center' }}&gt;&#10;        {[&#10;            { no: '01', zh: '公司简介', desc: '定位 · 核心理念 · 发展历程', en: 'COMPANY PROFILE', pg: 'P.03 — 06' },&#10;            { no: '02', zh: '服务体系', desc: '服务流程 · 业务范围 · 交付成效 · 服务档位', en: 'SERVICE SYSTEM', pg: 'P.07 — 13' },&#10;            { no: '03', zh: '方法论体系', desc: '战略 · 流程 · 评估 · 赋能四层', en: 'METHODOLOGY', pg: 'P.14' },&#10;            { no: '04', zh: '结语与联系', desc: '核心主张与合作方式', en: 'CLOSING', pg: 'P.15 — 16' }&#10;        ].map((item, idx) =&gt; (&#10;            &lt;Box key={idx} style={{ height: 118, flexDirection: 'row', alignItems: 'center', borderBottom: idx &lt; 3 ? '1px solid rgba(143,216,232,0.09)' : 'none' }}&gt;&#10;                &lt;Text style={{ width: 78, fontSize: 30, fontWeight: 'bold', color: '#C7A96B', fontFamily: '&quot;Inter&quot;,&quot;Helvetica Neue&quot;,Arial,sans-serif', letterSpacing: -1 }}&gt;{item.no}&lt;/Text&gt;&#10;                &lt;Box style={{ width: 1, height: 48, background: 'rgba(143,216,232,0.25)', marginRight: 28 }} /&gt;&#10;                &lt;Box style={{ flexDirection: 'column', gap: 8 }}&gt;&#10;                    &lt;Text style={{ fontSize: 26, fontWeight: 'bold', color: '#EAF2F8', letterSpacing: -0.3 }}&gt;{item.zh}&lt;/Text&gt;&#10;                    &lt;Text style={{ fontSize: 16, color: '#8FA6BC' }}&gt;{item.desc}&lt;/Text&gt;&#10;                &lt;/Box&gt;&#10;                &lt;Box style={{ flex: 1 }} /&gt;&#10;                &lt;Box style={{ flexDirection: 'column', alignItems: 'flex-end', gap: 7 }}&gt;&#10;                    &lt;Text style={{ fontSize: 13, color: '#5E7590', letterSpacing: 2.5, fontFamily: '&quot;Inter&quot;,&quot;Helvetica Neue&quot;,Arial,sans-serif' }}&gt;{item.en}&lt;/Text&gt;&#10;                    &lt;Text style={{ fontSize: 12, color: '#8FA6BC', letterSpacing: 1.2, fontFamily: '&quot;Inter&quot;,&quot;Helvetica Neue&quot;,Arial,sans-serif' }}&gt;{item.pg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2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矩形 2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50" name="任意多边形 249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251" name="圆角矩形 250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252" name="文本框 251" descr="{&quot;isTemplate&quot;:true,&quot;type&quot;:&quot;text&quot;}"/>
          <p:cNvSpPr txBox="1"/>
          <p:nvPr/>
        </p:nvSpPr>
        <p:spPr>
          <a:xfrm>
            <a:off x="866775" y="476250"/>
            <a:ext cx="600075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目录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53" name="矩形 252"/>
          <p:cNvSpPr/>
          <p:nvPr/>
        </p:nvSpPr>
        <p:spPr>
          <a:xfrm>
            <a:off x="1619250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254" name="文本框 253" descr="{&quot;isTemplate&quot;:true,&quot;type&quot;:&quot;text&quot;}"/>
          <p:cNvSpPr txBox="1"/>
          <p:nvPr/>
        </p:nvSpPr>
        <p:spPr>
          <a:xfrm>
            <a:off x="1781175" y="590550"/>
            <a:ext cx="8953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CONTENTS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56" name="任意多边形 255"/>
          <p:cNvSpPr/>
          <p:nvPr/>
        </p:nvSpPr>
        <p:spPr>
          <a:xfrm>
            <a:off x="685800" y="137160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57" name="文本框 256" descr="{&quot;isTemplate&quot;:true,&quot;type&quot;:&quot;text&quot;}"/>
          <p:cNvSpPr txBox="1"/>
          <p:nvPr/>
        </p:nvSpPr>
        <p:spPr>
          <a:xfrm>
            <a:off x="685800" y="176212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58" name="矩形 257"/>
          <p:cNvSpPr/>
          <p:nvPr/>
        </p:nvSpPr>
        <p:spPr>
          <a:xfrm>
            <a:off x="1428750" y="170497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59" name="文本框 258" descr="{&quot;isTemplate&quot;:true,&quot;type&quot;:&quot;text&quot;}"/>
          <p:cNvSpPr txBox="1"/>
          <p:nvPr/>
        </p:nvSpPr>
        <p:spPr>
          <a:xfrm>
            <a:off x="1704975" y="1647825"/>
            <a:ext cx="18859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合同现状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60" name="文本框 259" descr="{&quot;isTemplate&quot;:true,&quot;type&quot;:&quot;text&quot;}"/>
          <p:cNvSpPr txBox="1"/>
          <p:nvPr/>
        </p:nvSpPr>
        <p:spPr>
          <a:xfrm>
            <a:off x="1704975" y="2028825"/>
            <a:ext cx="18859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业务流程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痛点分析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优化方向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61" name="文本框 260" descr="{&quot;isTemplate&quot;:true,&quot;type&quot;:&quot;text&quot;}"/>
          <p:cNvSpPr txBox="1"/>
          <p:nvPr/>
        </p:nvSpPr>
        <p:spPr>
          <a:xfrm>
            <a:off x="9982200" y="1752600"/>
            <a:ext cx="1524000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CONTRACT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62" name="文本框 261" descr="{&quot;isTemplate&quot;:true,&quot;type&quot;:&quot;text&quot;}"/>
          <p:cNvSpPr txBox="1"/>
          <p:nvPr/>
        </p:nvSpPr>
        <p:spPr>
          <a:xfrm>
            <a:off x="10858500" y="197167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P.04 — 05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63" name="任意多边形 262"/>
          <p:cNvSpPr/>
          <p:nvPr/>
        </p:nvSpPr>
        <p:spPr>
          <a:xfrm>
            <a:off x="685800" y="249555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64" name="文本框 263" descr="{&quot;isTemplate&quot;:true,&quot;type&quot;:&quot;text&quot;}"/>
          <p:cNvSpPr txBox="1"/>
          <p:nvPr/>
        </p:nvSpPr>
        <p:spPr>
          <a:xfrm>
            <a:off x="685800" y="288607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65" name="矩形 264"/>
          <p:cNvSpPr/>
          <p:nvPr/>
        </p:nvSpPr>
        <p:spPr>
          <a:xfrm>
            <a:off x="1428750" y="282892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66" name="文本框 265" descr="{&quot;isTemplate&quot;:true,&quot;type&quot;:&quot;text&quot;}"/>
          <p:cNvSpPr txBox="1"/>
          <p:nvPr/>
        </p:nvSpPr>
        <p:spPr>
          <a:xfrm>
            <a:off x="1704975" y="2771775"/>
            <a:ext cx="29718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合同落地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67" name="文本框 266" descr="{&quot;isTemplate&quot;:true,&quot;type&quot;:&quot;text&quot;}"/>
          <p:cNvSpPr txBox="1"/>
          <p:nvPr/>
        </p:nvSpPr>
        <p:spPr>
          <a:xfrm>
            <a:off x="1704975" y="3152775"/>
            <a:ext cx="2971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预填单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评审卡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依据条目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人工确认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68" name="文本框 267" descr="{&quot;isTemplate&quot;:true,&quot;type&quot;:&quot;text&quot;}"/>
          <p:cNvSpPr txBox="1"/>
          <p:nvPr/>
        </p:nvSpPr>
        <p:spPr>
          <a:xfrm>
            <a:off x="10125075" y="2876550"/>
            <a:ext cx="1381125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SOLUTION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69" name="文本框 268" descr="{&quot;isTemplate&quot;:true,&quot;type&quot;:&quot;text&quot;}"/>
          <p:cNvSpPr txBox="1"/>
          <p:nvPr/>
        </p:nvSpPr>
        <p:spPr>
          <a:xfrm>
            <a:off x="10858500" y="309562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P.06 — 09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70" name="任意多边形 269"/>
          <p:cNvSpPr/>
          <p:nvPr/>
        </p:nvSpPr>
        <p:spPr>
          <a:xfrm>
            <a:off x="685800" y="3619500"/>
            <a:ext cx="10820400" cy="1123950"/>
          </a:xfrm>
          <a:custGeom>
            <a:avLst/>
            <a:gdLst/>
            <a:ahLst/>
            <a:cxnLst/>
            <a:pathLst>
              <a:path w="1136" h="118">
                <a:moveTo>
                  <a:pt x="0" y="117"/>
                </a:moveTo>
                <a:lnTo>
                  <a:pt x="1136" y="117"/>
                </a:lnTo>
                <a:lnTo>
                  <a:pt x="1136" y="118"/>
                </a:lnTo>
                <a:lnTo>
                  <a:pt x="0" y="118"/>
                </a:lnTo>
                <a:close/>
              </a:path>
            </a:pathLst>
          </a:custGeom>
          <a:solidFill>
            <a:srgbClr val="8FD8E8">
              <a:alpha val="9000"/>
            </a:srgbClr>
          </a:solidFill>
        </p:spPr>
        <p:txBody>
          <a:bodyPr/>
          <a:p/>
        </p:txBody>
      </p:sp>
      <p:sp>
        <p:nvSpPr>
          <p:cNvPr id="271" name="文本框 270" descr="{&quot;isTemplate&quot;:true,&quot;type&quot;:&quot;text&quot;}"/>
          <p:cNvSpPr txBox="1"/>
          <p:nvPr/>
        </p:nvSpPr>
        <p:spPr>
          <a:xfrm>
            <a:off x="685800" y="401002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72" name="矩形 271"/>
          <p:cNvSpPr/>
          <p:nvPr/>
        </p:nvSpPr>
        <p:spPr>
          <a:xfrm>
            <a:off x="1428750" y="395287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73" name="文本框 272" descr="{&quot;isTemplate&quot;:true,&quot;type&quot;:&quot;text&quot;}"/>
          <p:cNvSpPr txBox="1"/>
          <p:nvPr/>
        </p:nvSpPr>
        <p:spPr>
          <a:xfrm>
            <a:off x="1704975" y="3895725"/>
            <a:ext cx="20574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Agent Forge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74" name="文本框 273" descr="{&quot;isTemplate&quot;:true,&quot;type&quot;:&quot;text&quot;}"/>
          <p:cNvSpPr txBox="1"/>
          <p:nvPr/>
        </p:nvSpPr>
        <p:spPr>
          <a:xfrm>
            <a:off x="1704975" y="4276725"/>
            <a:ext cx="2057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企业治理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运行底座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技术架构</a:t>
            </a:r>
            <a:r>
              <a:rPr lang="en-US" sz="1200">
                <a:solidFill>
                  <a:srgbClr val="8FA6BC"/>
                </a:solidFill>
                <a:latin typeface="PingFang SC"/>
                <a:ea typeface="PingFang SC"/>
              </a:rPr>
              <a:t> · </a:t>
            </a: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页面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75" name="文本框 274" descr="{&quot;isTemplate&quot;:true,&quot;type&quot;:&quot;text&quot;}"/>
          <p:cNvSpPr txBox="1"/>
          <p:nvPr/>
        </p:nvSpPr>
        <p:spPr>
          <a:xfrm>
            <a:off x="10287000" y="4000500"/>
            <a:ext cx="1219200" cy="152400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PLATFORM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77" name="文本框 276" descr="{&quot;isTemplate&quot;:true,&quot;type&quot;:&quot;text&quot;}"/>
          <p:cNvSpPr txBox="1"/>
          <p:nvPr/>
        </p:nvSpPr>
        <p:spPr>
          <a:xfrm>
            <a:off x="685800" y="5133975"/>
            <a:ext cx="7429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C7A96B"/>
                </a:solidFill>
                <a:latin typeface="Inter"/>
                <a:ea typeface="Inter"/>
              </a:rPr>
              <a:t>04</a:t>
            </a:r>
            <a:endParaRPr lang="en-US" sz="2250" b="1" spc="-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78" name="矩形 277"/>
          <p:cNvSpPr/>
          <p:nvPr/>
        </p:nvSpPr>
        <p:spPr>
          <a:xfrm>
            <a:off x="1428750" y="5076825"/>
            <a:ext cx="9525" cy="4572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279" name="文本框 278" descr="{&quot;isTemplate&quot;:true,&quot;type&quot;:&quot;text&quot;}"/>
          <p:cNvSpPr txBox="1"/>
          <p:nvPr/>
        </p:nvSpPr>
        <p:spPr>
          <a:xfrm>
            <a:off x="1704975" y="5019675"/>
            <a:ext cx="137160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22">
                <a:solidFill>
                  <a:srgbClr val="EAF2F8"/>
                </a:solidFill>
                <a:latin typeface="PingFang SC"/>
                <a:ea typeface="PingFang SC"/>
              </a:rPr>
              <a:t>知识库</a:t>
            </a:r>
            <a:endParaRPr lang="zh-CN" sz="19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80" name="文本框 279" descr="{&quot;isTemplate&quot;:true,&quot;type&quot;:&quot;text&quot;}"/>
          <p:cNvSpPr txBox="1"/>
          <p:nvPr/>
        </p:nvSpPr>
        <p:spPr>
          <a:xfrm>
            <a:off x="1704975" y="5400675"/>
            <a:ext cx="1371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A6BC"/>
                </a:solidFill>
                <a:latin typeface="PingFang SC"/>
                <a:ea typeface="PingFang SC"/>
              </a:rPr>
              <a:t>外接数据源：建设方法、能力与架构</a:t>
            </a:r>
            <a:endParaRPr lang="zh-CN" sz="12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81" name="文本框 280" descr="{&quot;isTemplate&quot;:true,&quot;type&quot;:&quot;text&quot;}"/>
          <p:cNvSpPr txBox="1"/>
          <p:nvPr/>
        </p:nvSpPr>
        <p:spPr>
          <a:xfrm>
            <a:off x="10595610" y="5124450"/>
            <a:ext cx="910590" cy="173355"/>
          </a:xfrm>
          <a:prstGeom prst="rect">
            <a:avLst/>
          </a:prstGeom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975" spc="188">
                <a:solidFill>
                  <a:srgbClr val="5E7590"/>
                </a:solidFill>
                <a:latin typeface="Inter"/>
                <a:ea typeface="Inter"/>
              </a:rPr>
              <a:t>SOURCE</a:t>
            </a:r>
            <a:endParaRPr lang="en-US" sz="97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82" name="文本框 281" descr="{&quot;isTemplate&quot;:true,&quot;type&quot;:&quot;text&quot;}"/>
          <p:cNvSpPr txBox="1"/>
          <p:nvPr/>
        </p:nvSpPr>
        <p:spPr>
          <a:xfrm>
            <a:off x="10858500" y="5343525"/>
            <a:ext cx="6477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P.15 — 20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  <p:sp>
        <p:nvSpPr>
          <p:cNvPr id="283" name="任意多边形 282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84" name="文本框 283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285" name="文本框 284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02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76" name="文本框 275" descr="{&quot;isTemplate&quot;:true,&quot;type&quot;:&quot;text&quot;}"/>
          <p:cNvSpPr txBox="1"/>
          <p:nvPr/>
        </p:nvSpPr>
        <p:spPr>
          <a:xfrm>
            <a:off x="10858500" y="4215765"/>
            <a:ext cx="761365" cy="15049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90">
                <a:solidFill>
                  <a:srgbClr val="8FA6BC"/>
                </a:solidFill>
                <a:latin typeface="Inter"/>
                <a:ea typeface="Inter"/>
              </a:rPr>
              <a:t>P.10 — 13</a:t>
            </a:r>
            <a:endParaRPr lang="en-US" sz="900" spc="90">
              <a:solidFill>
                <a:srgbClr val="8FA6BC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6" name="" descr="// B · 03 章节过渡 — 巨型编号 + 底部辉光&#10;&lt;Slide style={{ width: 1280, height: 720, background: '#081322', position: 'relative', overflow: 'hidden', fontFamily: '&quot;PingFang SC&quot;,&quot;Source Han Sans SC&quot;,&quot;Microsoft YaHei&quot;,sans-serif' }}&gt;&#10;&#10;    {/* 装饰：底部辉光 */}&#10;    &lt;Box style={{ position: 'absolute', left: 160, bottom: -300, width: 960, height: 560, borderRadius: 480, background: 'radial-gradient(circle, rgba(91,200,200,0.24) 0%, rgba(8,19,34,0) 70%)' }} /&gt;&#10;    {/* 装饰：同心细环 */}&#10;    &lt;Box style={{ position: 'absolute', right: -200, top: -140, width: 640, height: 640, borderRadius: 320, background: 'radial-gradient(circle, rgba(143,216,232,0) 60%, rgba(143,216,232,0.16) 62%, rgba(143,216,232,0.16) 63%, rgba(143,216,232,0) 65%)' }} /&gt;&#10;    &lt;Box style={{ position: 'absolute', right: -80, top: -20, width: 440, height: 440, borderRadius: 220, background: 'radial-gradient(circle, rgba(199,169,107,0) 60%, rgba(199,169,107,0.18) 62%, rgba(199,169,107,0.18) 63%, rgba(199,169,107,0) 65%)' }} /&gt;&#10;&#10;    {/* 顶部品牌 */}&#10;    &lt;Box style={{ position: 'absolute', left: 72, top: 54, flexDirection: 'row', alignItems: 'center', gap: 14 }}&gt;&#10;        &lt;Image src=&quot;assets/badge.png&quot; style={{ width: 36, height: 40 }} /&gt;&#10;        &lt;Box style={{ flexDirection: 'column', gap: 2 }}&gt;&#10;            &lt;Image src=&quot;assets/logo_zh_light.png&quot; style={{ width: 158, height: 36 }} /&gt;&#10;            &lt;Image src=&quot;assets/logo_en_light.png&quot; style={{ width: 158, height: 16 }} /&gt;&#10;        &lt;/Box&gt;&#10;    &lt;/Box&gt;&#10;&#10;    {/* 巨型编号 */}&#10;    &lt;Text style={{ position: 'absolute', right: 60, top: 336, fontSize: 220, fontWeight: 'bold', color: 'rgba(143,216,232,0.22)', lineHeight: 1, letterSpacing: -12, fontFamily: '&quot;Inter&quot;,&quot;Helvetica Neue&quot;,Arial,sans-serif' }}&gt;&#10;        01&#10;    &lt;/Text&gt;&#10;&#10;    {/* 章节信息 */}&#10;    &lt;Box style={{ position: 'absolute', left: 72, top: 272, flexDirection: 'column' }}&gt;&#10;        &lt;Text style={{ fontSize: 14, fontWeight: 'bold', color: '#C7A96B', letterSpacing: 5, fontFamily: '&quot;Inter&quot;,&quot;Helvetica Neue&quot;,Arial,sans-serif' }}&gt;&#10;            PART 01&#10;        &lt;/Text&gt;&#10;        &lt;Text style={{ fontSize: 64, fontWeight: 'bold', color: '#EAF2F8', lineHeight: 1.15, letterSpacing: -1, marginTop: 18 }}&gt;&#10;            公司简介&#10;        &lt;/Text&gt;&#10;        &lt;Box style={{ width: 64, height: 4, background: 'linear-gradient(135deg, #8FD8E8 0%, #3FA8BF 100%)', borderRadius: 2, marginTop: 24 }} /&gt;&#10;        &lt;Text style={{ fontSize: 20, color: '#8FA6BC', lineHeight: 1.6, marginTop: 22 }}&gt;&#10;            从定位到使命，认识一家把销售管理做深的咨询公司&#10;        &lt;/Text&gt;&#10;    &lt;/Box&gt;&#10;&#10;    {/* 底部锚点 */}&#10;    &lt;Box style={{ position: 'absolute', left: 72, bottom: 56, flexDirection: 'row', alignItems: 'center', gap: 14 }}&gt;&#10;        &lt;Box style={{ width: 28, height: 1, background: 'rgba(199,169,107,0.7)' }} /&gt;&#10;        &lt;Text style={{ fontSize: 13, color: '#6E86A0', letterSpacing: 3, fontFamily: '&quot;Inter&quot;,&quot;Helvetica Neue&quot;,Arial,sans-serif' }}&gt;&#10;            DISHENG CONSULTING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矩形 28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88" name="任意多边形 287"/>
          <p:cNvSpPr/>
          <p:nvPr/>
        </p:nvSpPr>
        <p:spPr>
          <a:xfrm>
            <a:off x="1524000" y="4381500"/>
            <a:ext cx="9144000" cy="5334000"/>
          </a:xfrm>
          <a:custGeom>
            <a:avLst/>
            <a:gdLst/>
            <a:ahLst/>
            <a:cxnLst/>
            <a:pathLst>
              <a:path w="960" h="560">
                <a:moveTo>
                  <a:pt x="687" y="0"/>
                </a:moveTo>
                <a:lnTo>
                  <a:pt x="694" y="0"/>
                </a:lnTo>
                <a:lnTo>
                  <a:pt x="702" y="1"/>
                </a:lnTo>
                <a:lnTo>
                  <a:pt x="709" y="1"/>
                </a:lnTo>
                <a:lnTo>
                  <a:pt x="716" y="2"/>
                </a:lnTo>
                <a:lnTo>
                  <a:pt x="723" y="3"/>
                </a:lnTo>
                <a:lnTo>
                  <a:pt x="730" y="4"/>
                </a:lnTo>
                <a:lnTo>
                  <a:pt x="736" y="6"/>
                </a:lnTo>
                <a:lnTo>
                  <a:pt x="743" y="7"/>
                </a:lnTo>
                <a:lnTo>
                  <a:pt x="750" y="9"/>
                </a:lnTo>
                <a:lnTo>
                  <a:pt x="757" y="11"/>
                </a:lnTo>
                <a:lnTo>
                  <a:pt x="763" y="13"/>
                </a:lnTo>
                <a:lnTo>
                  <a:pt x="770" y="15"/>
                </a:lnTo>
                <a:lnTo>
                  <a:pt x="776" y="17"/>
                </a:lnTo>
                <a:lnTo>
                  <a:pt x="783" y="19"/>
                </a:lnTo>
                <a:lnTo>
                  <a:pt x="789" y="22"/>
                </a:lnTo>
                <a:lnTo>
                  <a:pt x="795" y="25"/>
                </a:lnTo>
                <a:lnTo>
                  <a:pt x="801" y="28"/>
                </a:lnTo>
                <a:lnTo>
                  <a:pt x="807" y="31"/>
                </a:lnTo>
                <a:lnTo>
                  <a:pt x="813" y="34"/>
                </a:lnTo>
                <a:lnTo>
                  <a:pt x="819" y="37"/>
                </a:lnTo>
                <a:lnTo>
                  <a:pt x="825" y="41"/>
                </a:lnTo>
                <a:lnTo>
                  <a:pt x="831" y="44"/>
                </a:lnTo>
                <a:lnTo>
                  <a:pt x="837" y="48"/>
                </a:lnTo>
                <a:lnTo>
                  <a:pt x="842" y="52"/>
                </a:lnTo>
                <a:lnTo>
                  <a:pt x="847" y="56"/>
                </a:lnTo>
                <a:lnTo>
                  <a:pt x="853" y="60"/>
                </a:lnTo>
                <a:lnTo>
                  <a:pt x="858" y="64"/>
                </a:lnTo>
                <a:lnTo>
                  <a:pt x="863" y="68"/>
                </a:lnTo>
                <a:lnTo>
                  <a:pt x="868" y="73"/>
                </a:lnTo>
                <a:lnTo>
                  <a:pt x="873" y="77"/>
                </a:lnTo>
                <a:lnTo>
                  <a:pt x="878" y="82"/>
                </a:lnTo>
                <a:lnTo>
                  <a:pt x="883" y="87"/>
                </a:lnTo>
                <a:lnTo>
                  <a:pt x="887" y="92"/>
                </a:lnTo>
                <a:lnTo>
                  <a:pt x="892" y="97"/>
                </a:lnTo>
                <a:lnTo>
                  <a:pt x="896" y="102"/>
                </a:lnTo>
                <a:lnTo>
                  <a:pt x="900" y="107"/>
                </a:lnTo>
                <a:lnTo>
                  <a:pt x="904" y="113"/>
                </a:lnTo>
                <a:lnTo>
                  <a:pt x="908" y="118"/>
                </a:lnTo>
                <a:lnTo>
                  <a:pt x="912" y="123"/>
                </a:lnTo>
                <a:lnTo>
                  <a:pt x="916" y="129"/>
                </a:lnTo>
                <a:lnTo>
                  <a:pt x="919" y="135"/>
                </a:lnTo>
                <a:lnTo>
                  <a:pt x="923" y="141"/>
                </a:lnTo>
                <a:lnTo>
                  <a:pt x="926" y="147"/>
                </a:lnTo>
                <a:lnTo>
                  <a:pt x="929" y="153"/>
                </a:lnTo>
                <a:lnTo>
                  <a:pt x="932" y="159"/>
                </a:lnTo>
                <a:lnTo>
                  <a:pt x="935" y="165"/>
                </a:lnTo>
                <a:lnTo>
                  <a:pt x="938" y="171"/>
                </a:lnTo>
                <a:lnTo>
                  <a:pt x="941" y="177"/>
                </a:lnTo>
                <a:lnTo>
                  <a:pt x="943" y="184"/>
                </a:lnTo>
                <a:lnTo>
                  <a:pt x="945" y="190"/>
                </a:lnTo>
                <a:lnTo>
                  <a:pt x="947" y="197"/>
                </a:lnTo>
                <a:lnTo>
                  <a:pt x="949" y="203"/>
                </a:lnTo>
                <a:lnTo>
                  <a:pt x="951" y="210"/>
                </a:lnTo>
                <a:lnTo>
                  <a:pt x="953" y="217"/>
                </a:lnTo>
                <a:lnTo>
                  <a:pt x="954" y="224"/>
                </a:lnTo>
                <a:lnTo>
                  <a:pt x="956" y="230"/>
                </a:lnTo>
                <a:lnTo>
                  <a:pt x="957" y="237"/>
                </a:lnTo>
                <a:lnTo>
                  <a:pt x="958" y="244"/>
                </a:lnTo>
                <a:lnTo>
                  <a:pt x="959" y="251"/>
                </a:lnTo>
                <a:lnTo>
                  <a:pt x="959" y="258"/>
                </a:lnTo>
                <a:lnTo>
                  <a:pt x="959" y="260"/>
                </a:lnTo>
                <a:lnTo>
                  <a:pt x="1" y="260"/>
                </a:lnTo>
                <a:lnTo>
                  <a:pt x="1" y="258"/>
                </a:lnTo>
                <a:lnTo>
                  <a:pt x="1" y="251"/>
                </a:lnTo>
                <a:lnTo>
                  <a:pt x="2" y="244"/>
                </a:lnTo>
                <a:lnTo>
                  <a:pt x="3" y="237"/>
                </a:lnTo>
                <a:lnTo>
                  <a:pt x="4" y="230"/>
                </a:lnTo>
                <a:lnTo>
                  <a:pt x="6" y="224"/>
                </a:lnTo>
                <a:lnTo>
                  <a:pt x="7" y="217"/>
                </a:lnTo>
                <a:lnTo>
                  <a:pt x="9" y="210"/>
                </a:lnTo>
                <a:lnTo>
                  <a:pt x="11" y="203"/>
                </a:lnTo>
                <a:lnTo>
                  <a:pt x="13" y="197"/>
                </a:lnTo>
                <a:lnTo>
                  <a:pt x="15" y="190"/>
                </a:lnTo>
                <a:lnTo>
                  <a:pt x="17" y="184"/>
                </a:lnTo>
                <a:lnTo>
                  <a:pt x="19" y="177"/>
                </a:lnTo>
                <a:lnTo>
                  <a:pt x="22" y="171"/>
                </a:lnTo>
                <a:lnTo>
                  <a:pt x="25" y="165"/>
                </a:lnTo>
                <a:lnTo>
                  <a:pt x="28" y="159"/>
                </a:lnTo>
                <a:lnTo>
                  <a:pt x="31" y="153"/>
                </a:lnTo>
                <a:lnTo>
                  <a:pt x="34" y="147"/>
                </a:lnTo>
                <a:lnTo>
                  <a:pt x="37" y="141"/>
                </a:lnTo>
                <a:lnTo>
                  <a:pt x="41" y="135"/>
                </a:lnTo>
                <a:lnTo>
                  <a:pt x="44" y="129"/>
                </a:lnTo>
                <a:lnTo>
                  <a:pt x="48" y="123"/>
                </a:lnTo>
                <a:lnTo>
                  <a:pt x="52" y="118"/>
                </a:lnTo>
                <a:lnTo>
                  <a:pt x="56" y="113"/>
                </a:lnTo>
                <a:lnTo>
                  <a:pt x="60" y="107"/>
                </a:lnTo>
                <a:lnTo>
                  <a:pt x="64" y="102"/>
                </a:lnTo>
                <a:lnTo>
                  <a:pt x="68" y="97"/>
                </a:lnTo>
                <a:lnTo>
                  <a:pt x="73" y="92"/>
                </a:lnTo>
                <a:lnTo>
                  <a:pt x="77" y="87"/>
                </a:lnTo>
                <a:lnTo>
                  <a:pt x="82" y="82"/>
                </a:lnTo>
                <a:lnTo>
                  <a:pt x="87" y="77"/>
                </a:lnTo>
                <a:lnTo>
                  <a:pt x="92" y="73"/>
                </a:lnTo>
                <a:lnTo>
                  <a:pt x="97" y="68"/>
                </a:lnTo>
                <a:lnTo>
                  <a:pt x="102" y="64"/>
                </a:lnTo>
                <a:lnTo>
                  <a:pt x="107" y="60"/>
                </a:lnTo>
                <a:lnTo>
                  <a:pt x="113" y="56"/>
                </a:lnTo>
                <a:lnTo>
                  <a:pt x="118" y="52"/>
                </a:lnTo>
                <a:lnTo>
                  <a:pt x="123" y="48"/>
                </a:lnTo>
                <a:lnTo>
                  <a:pt x="129" y="44"/>
                </a:lnTo>
                <a:lnTo>
                  <a:pt x="135" y="41"/>
                </a:lnTo>
                <a:lnTo>
                  <a:pt x="141" y="37"/>
                </a:lnTo>
                <a:lnTo>
                  <a:pt x="147" y="34"/>
                </a:lnTo>
                <a:lnTo>
                  <a:pt x="153" y="31"/>
                </a:lnTo>
                <a:lnTo>
                  <a:pt x="159" y="28"/>
                </a:lnTo>
                <a:lnTo>
                  <a:pt x="165" y="25"/>
                </a:lnTo>
                <a:lnTo>
                  <a:pt x="171" y="22"/>
                </a:lnTo>
                <a:lnTo>
                  <a:pt x="177" y="19"/>
                </a:lnTo>
                <a:lnTo>
                  <a:pt x="184" y="17"/>
                </a:lnTo>
                <a:lnTo>
                  <a:pt x="190" y="15"/>
                </a:lnTo>
                <a:lnTo>
                  <a:pt x="197" y="13"/>
                </a:lnTo>
                <a:lnTo>
                  <a:pt x="203" y="11"/>
                </a:lnTo>
                <a:lnTo>
                  <a:pt x="210" y="9"/>
                </a:lnTo>
                <a:lnTo>
                  <a:pt x="217" y="7"/>
                </a:lnTo>
                <a:lnTo>
                  <a:pt x="224" y="6"/>
                </a:lnTo>
                <a:lnTo>
                  <a:pt x="230" y="4"/>
                </a:lnTo>
                <a:lnTo>
                  <a:pt x="237" y="3"/>
                </a:lnTo>
                <a:lnTo>
                  <a:pt x="244" y="2"/>
                </a:lnTo>
                <a:lnTo>
                  <a:pt x="251" y="1"/>
                </a:lnTo>
                <a:lnTo>
                  <a:pt x="258" y="1"/>
                </a:lnTo>
                <a:lnTo>
                  <a:pt x="266" y="0"/>
                </a:lnTo>
                <a:lnTo>
                  <a:pt x="273" y="0"/>
                </a:lnTo>
                <a:lnTo>
                  <a:pt x="280" y="0"/>
                </a:lnTo>
                <a:lnTo>
                  <a:pt x="680" y="0"/>
                </a:lnTo>
                <a:close/>
              </a:path>
            </a:pathLst>
          </a:custGeom>
          <a:gradFill>
            <a:gsLst>
              <a:gs pos="0">
                <a:srgbClr val="5BC8C8">
                  <a:alpha val="24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89" name="任意多边形 288"/>
          <p:cNvSpPr/>
          <p:nvPr/>
        </p:nvSpPr>
        <p:spPr>
          <a:xfrm>
            <a:off x="8001000" y="-1333500"/>
            <a:ext cx="6096000" cy="6096000"/>
          </a:xfrm>
          <a:custGeom>
            <a:avLst/>
            <a:gdLst/>
            <a:ahLst/>
            <a:cxnLst/>
            <a:pathLst>
              <a:path w="640" h="640">
                <a:moveTo>
                  <a:pt x="440" y="617"/>
                </a:moveTo>
                <a:lnTo>
                  <a:pt x="437" y="618"/>
                </a:lnTo>
                <a:lnTo>
                  <a:pt x="430" y="621"/>
                </a:lnTo>
                <a:lnTo>
                  <a:pt x="423" y="623"/>
                </a:lnTo>
                <a:lnTo>
                  <a:pt x="415" y="626"/>
                </a:lnTo>
                <a:lnTo>
                  <a:pt x="408" y="628"/>
                </a:lnTo>
                <a:lnTo>
                  <a:pt x="400" y="630"/>
                </a:lnTo>
                <a:lnTo>
                  <a:pt x="392" y="632"/>
                </a:lnTo>
                <a:lnTo>
                  <a:pt x="384" y="633"/>
                </a:lnTo>
                <a:lnTo>
                  <a:pt x="377" y="635"/>
                </a:lnTo>
                <a:lnTo>
                  <a:pt x="369" y="636"/>
                </a:lnTo>
                <a:lnTo>
                  <a:pt x="361" y="637"/>
                </a:lnTo>
                <a:lnTo>
                  <a:pt x="353" y="638"/>
                </a:lnTo>
                <a:lnTo>
                  <a:pt x="345" y="639"/>
                </a:lnTo>
                <a:lnTo>
                  <a:pt x="336" y="640"/>
                </a:lnTo>
                <a:lnTo>
                  <a:pt x="328" y="640"/>
                </a:lnTo>
                <a:lnTo>
                  <a:pt x="320" y="640"/>
                </a:lnTo>
                <a:lnTo>
                  <a:pt x="312" y="640"/>
                </a:lnTo>
                <a:lnTo>
                  <a:pt x="304" y="640"/>
                </a:lnTo>
                <a:lnTo>
                  <a:pt x="295" y="639"/>
                </a:lnTo>
                <a:lnTo>
                  <a:pt x="287" y="638"/>
                </a:lnTo>
                <a:lnTo>
                  <a:pt x="279" y="637"/>
                </a:lnTo>
                <a:lnTo>
                  <a:pt x="271" y="636"/>
                </a:lnTo>
                <a:lnTo>
                  <a:pt x="263" y="635"/>
                </a:lnTo>
                <a:lnTo>
                  <a:pt x="256" y="633"/>
                </a:lnTo>
                <a:lnTo>
                  <a:pt x="248" y="632"/>
                </a:lnTo>
                <a:lnTo>
                  <a:pt x="240" y="630"/>
                </a:lnTo>
                <a:lnTo>
                  <a:pt x="232" y="628"/>
                </a:lnTo>
                <a:lnTo>
                  <a:pt x="225" y="626"/>
                </a:lnTo>
                <a:lnTo>
                  <a:pt x="217" y="623"/>
                </a:lnTo>
                <a:lnTo>
                  <a:pt x="210" y="621"/>
                </a:lnTo>
                <a:lnTo>
                  <a:pt x="203" y="618"/>
                </a:lnTo>
                <a:lnTo>
                  <a:pt x="195" y="615"/>
                </a:lnTo>
                <a:lnTo>
                  <a:pt x="188" y="612"/>
                </a:lnTo>
                <a:lnTo>
                  <a:pt x="181" y="608"/>
                </a:lnTo>
                <a:lnTo>
                  <a:pt x="174" y="605"/>
                </a:lnTo>
                <a:lnTo>
                  <a:pt x="168" y="601"/>
                </a:lnTo>
                <a:lnTo>
                  <a:pt x="161" y="598"/>
                </a:lnTo>
                <a:lnTo>
                  <a:pt x="154" y="594"/>
                </a:lnTo>
                <a:lnTo>
                  <a:pt x="148" y="590"/>
                </a:lnTo>
                <a:lnTo>
                  <a:pt x="141" y="585"/>
                </a:lnTo>
                <a:lnTo>
                  <a:pt x="135" y="581"/>
                </a:lnTo>
                <a:lnTo>
                  <a:pt x="129" y="576"/>
                </a:lnTo>
                <a:lnTo>
                  <a:pt x="122" y="572"/>
                </a:lnTo>
                <a:lnTo>
                  <a:pt x="116" y="567"/>
                </a:lnTo>
                <a:lnTo>
                  <a:pt x="111" y="562"/>
                </a:lnTo>
                <a:lnTo>
                  <a:pt x="105" y="557"/>
                </a:lnTo>
                <a:lnTo>
                  <a:pt x="99" y="552"/>
                </a:lnTo>
                <a:lnTo>
                  <a:pt x="94" y="546"/>
                </a:lnTo>
                <a:lnTo>
                  <a:pt x="88" y="541"/>
                </a:lnTo>
                <a:lnTo>
                  <a:pt x="83" y="535"/>
                </a:lnTo>
                <a:lnTo>
                  <a:pt x="78" y="529"/>
                </a:lnTo>
                <a:lnTo>
                  <a:pt x="73" y="524"/>
                </a:lnTo>
                <a:lnTo>
                  <a:pt x="68" y="518"/>
                </a:lnTo>
                <a:lnTo>
                  <a:pt x="64" y="511"/>
                </a:lnTo>
                <a:lnTo>
                  <a:pt x="59" y="505"/>
                </a:lnTo>
                <a:lnTo>
                  <a:pt x="55" y="499"/>
                </a:lnTo>
                <a:lnTo>
                  <a:pt x="50" y="492"/>
                </a:lnTo>
                <a:lnTo>
                  <a:pt x="46" y="486"/>
                </a:lnTo>
                <a:lnTo>
                  <a:pt x="42" y="479"/>
                </a:lnTo>
                <a:lnTo>
                  <a:pt x="39" y="472"/>
                </a:lnTo>
                <a:lnTo>
                  <a:pt x="35" y="466"/>
                </a:lnTo>
                <a:lnTo>
                  <a:pt x="32" y="459"/>
                </a:lnTo>
                <a:lnTo>
                  <a:pt x="28" y="452"/>
                </a:lnTo>
                <a:lnTo>
                  <a:pt x="25" y="445"/>
                </a:lnTo>
                <a:lnTo>
                  <a:pt x="22" y="437"/>
                </a:lnTo>
                <a:lnTo>
                  <a:pt x="19" y="430"/>
                </a:lnTo>
                <a:lnTo>
                  <a:pt x="17" y="423"/>
                </a:lnTo>
                <a:lnTo>
                  <a:pt x="14" y="415"/>
                </a:lnTo>
                <a:lnTo>
                  <a:pt x="12" y="408"/>
                </a:lnTo>
                <a:lnTo>
                  <a:pt x="10" y="400"/>
                </a:lnTo>
                <a:lnTo>
                  <a:pt x="8" y="392"/>
                </a:lnTo>
                <a:lnTo>
                  <a:pt x="7" y="384"/>
                </a:lnTo>
                <a:lnTo>
                  <a:pt x="5" y="377"/>
                </a:lnTo>
                <a:lnTo>
                  <a:pt x="4" y="369"/>
                </a:lnTo>
                <a:lnTo>
                  <a:pt x="3" y="361"/>
                </a:lnTo>
                <a:lnTo>
                  <a:pt x="2" y="353"/>
                </a:lnTo>
                <a:lnTo>
                  <a:pt x="1" y="345"/>
                </a:lnTo>
                <a:lnTo>
                  <a:pt x="0" y="336"/>
                </a:lnTo>
                <a:lnTo>
                  <a:pt x="0" y="328"/>
                </a:lnTo>
                <a:lnTo>
                  <a:pt x="0" y="320"/>
                </a:lnTo>
                <a:lnTo>
                  <a:pt x="0" y="312"/>
                </a:lnTo>
                <a:lnTo>
                  <a:pt x="0" y="304"/>
                </a:lnTo>
                <a:lnTo>
                  <a:pt x="1" y="295"/>
                </a:lnTo>
                <a:lnTo>
                  <a:pt x="2" y="287"/>
                </a:lnTo>
                <a:lnTo>
                  <a:pt x="3" y="279"/>
                </a:lnTo>
                <a:lnTo>
                  <a:pt x="4" y="271"/>
                </a:lnTo>
                <a:lnTo>
                  <a:pt x="5" y="263"/>
                </a:lnTo>
                <a:lnTo>
                  <a:pt x="7" y="256"/>
                </a:lnTo>
                <a:lnTo>
                  <a:pt x="8" y="248"/>
                </a:lnTo>
                <a:lnTo>
                  <a:pt x="10" y="240"/>
                </a:lnTo>
                <a:lnTo>
                  <a:pt x="12" y="232"/>
                </a:lnTo>
                <a:lnTo>
                  <a:pt x="14" y="225"/>
                </a:lnTo>
                <a:lnTo>
                  <a:pt x="17" y="217"/>
                </a:lnTo>
                <a:lnTo>
                  <a:pt x="19" y="210"/>
                </a:lnTo>
                <a:lnTo>
                  <a:pt x="22" y="203"/>
                </a:lnTo>
                <a:lnTo>
                  <a:pt x="25" y="195"/>
                </a:lnTo>
                <a:lnTo>
                  <a:pt x="28" y="188"/>
                </a:lnTo>
                <a:lnTo>
                  <a:pt x="32" y="181"/>
                </a:lnTo>
                <a:lnTo>
                  <a:pt x="35" y="174"/>
                </a:lnTo>
                <a:lnTo>
                  <a:pt x="39" y="168"/>
                </a:lnTo>
                <a:lnTo>
                  <a:pt x="42" y="161"/>
                </a:lnTo>
                <a:lnTo>
                  <a:pt x="46" y="154"/>
                </a:lnTo>
                <a:lnTo>
                  <a:pt x="50" y="148"/>
                </a:lnTo>
                <a:lnTo>
                  <a:pt x="55" y="141"/>
                </a:lnTo>
                <a:lnTo>
                  <a:pt x="55" y="140"/>
                </a:lnTo>
                <a:lnTo>
                  <a:pt x="440" y="140"/>
                </a:lnTo>
                <a:close/>
              </a:path>
            </a:pathLst>
          </a:custGeom>
          <a:gradFill>
            <a:gsLst>
              <a:gs pos="60000">
                <a:srgbClr val="8FD8E8">
                  <a:alpha val="0"/>
                </a:srgbClr>
              </a:gs>
              <a:gs pos="62000">
                <a:srgbClr val="8FD8E8">
                  <a:alpha val="16000"/>
                </a:srgbClr>
              </a:gs>
              <a:gs pos="63000">
                <a:srgbClr val="8FD8E8">
                  <a:alpha val="16000"/>
                </a:srgbClr>
              </a:gs>
              <a:gs pos="65000">
                <a:srgbClr val="8FD8E8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290" name="任意多边形 289"/>
          <p:cNvSpPr/>
          <p:nvPr/>
        </p:nvSpPr>
        <p:spPr>
          <a:xfrm>
            <a:off x="8763000" y="-190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315" y="22"/>
                </a:move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0" y="50"/>
                </a:lnTo>
                <a:lnTo>
                  <a:pt x="360" y="390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8" y="20"/>
                </a:lnTo>
                <a:lnTo>
                  <a:pt x="312" y="20"/>
                </a:lnTo>
                <a:close/>
              </a:path>
            </a:pathLst>
          </a:custGeom>
          <a:gradFill>
            <a:gsLst>
              <a:gs pos="60000">
                <a:srgbClr val="C7A96B">
                  <a:alpha val="0"/>
                </a:srgbClr>
              </a:gs>
              <a:gs pos="62000">
                <a:srgbClr val="C7A96B">
                  <a:alpha val="18000"/>
                </a:srgbClr>
              </a:gs>
              <a:gs pos="63000">
                <a:srgbClr val="C7A96B">
                  <a:alpha val="18000"/>
                </a:srgbClr>
              </a:gs>
              <a:gs pos="65000">
                <a:srgbClr val="C7A96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pic>
        <p:nvPicPr>
          <p:cNvPr id="291" name="图片 290"/>
          <p:cNvPicPr>
            <a:picLocks noChangeAspect="1"/>
          </p:cNvPicPr>
          <p:nvPr/>
        </p:nvPicPr>
        <p:blipFill>
          <a:blip r:embed="rId1"/>
          <a:srcRect l="367" r="367"/>
          <a:stretch>
            <a:fillRect/>
          </a:stretch>
        </p:blipFill>
        <p:spPr>
          <a:xfrm>
            <a:off x="685800" y="581025"/>
            <a:ext cx="342900" cy="381000"/>
          </a:xfrm>
          <a:prstGeom prst="rect">
            <a:avLst/>
          </a:prstGeom>
        </p:spPr>
      </p:pic>
      <p:pic>
        <p:nvPicPr>
          <p:cNvPr id="292" name="图片 291"/>
          <p:cNvPicPr>
            <a:picLocks noChangeAspect="1"/>
          </p:cNvPicPr>
          <p:nvPr/>
        </p:nvPicPr>
        <p:blipFill>
          <a:blip r:embed="rId2"/>
          <a:srcRect t="852" b="852"/>
          <a:stretch>
            <a:fillRect/>
          </a:stretch>
        </p:blipFill>
        <p:spPr>
          <a:xfrm>
            <a:off x="1162050" y="514350"/>
            <a:ext cx="1504950" cy="342900"/>
          </a:xfrm>
          <a:prstGeom prst="rect">
            <a:avLst/>
          </a:prstGeom>
        </p:spPr>
      </p:pic>
      <p:pic>
        <p:nvPicPr>
          <p:cNvPr id="293" name="图片 292"/>
          <p:cNvPicPr>
            <a:picLocks noChangeAspect="1"/>
          </p:cNvPicPr>
          <p:nvPr/>
        </p:nvPicPr>
        <p:blipFill>
          <a:blip r:embed="rId3"/>
          <a:srcRect l="1481" r="1481"/>
          <a:stretch>
            <a:fillRect/>
          </a:stretch>
        </p:blipFill>
        <p:spPr>
          <a:xfrm>
            <a:off x="1162050" y="876300"/>
            <a:ext cx="1504950" cy="152400"/>
          </a:xfrm>
          <a:prstGeom prst="rect">
            <a:avLst/>
          </a:prstGeom>
        </p:spPr>
      </p:pic>
      <p:sp>
        <p:nvSpPr>
          <p:cNvPr id="294" name="文本框 293" descr="{&quot;isTemplate&quot;:true,&quot;type&quot;:&quot;text&quot;}"/>
          <p:cNvSpPr txBox="1"/>
          <p:nvPr/>
        </p:nvSpPr>
        <p:spPr>
          <a:xfrm>
            <a:off x="9515475" y="3200400"/>
            <a:ext cx="2105025" cy="2514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 spc="-900">
                <a:solidFill>
                  <a:srgbClr val="8FD8E8">
                    <a:alpha val="22000"/>
                  </a:srgbClr>
                </a:solidFill>
                <a:latin typeface="Inter"/>
                <a:ea typeface="Inter"/>
              </a:rPr>
              <a:t>01</a:t>
            </a:r>
            <a:endParaRPr lang="en-US" sz="16500" b="1" spc="-900">
              <a:solidFill>
                <a:srgbClr val="8FD8E8">
                  <a:alpha val="22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295" name="文本框 294" descr="{&quot;isTemplate&quot;:true,&quot;type&quot;:&quot;text&quot;}"/>
          <p:cNvSpPr txBox="1"/>
          <p:nvPr/>
        </p:nvSpPr>
        <p:spPr>
          <a:xfrm>
            <a:off x="685800" y="2590800"/>
            <a:ext cx="4381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75">
                <a:solidFill>
                  <a:srgbClr val="C7A96B"/>
                </a:solidFill>
                <a:latin typeface="Inter"/>
                <a:ea typeface="Inter"/>
              </a:rPr>
              <a:t>PART 01</a:t>
            </a:r>
            <a:endParaRPr lang="en-US" sz="1050" b="1" spc="3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96" name="文本框 295" descr="{&quot;isTemplate&quot;:true,&quot;type&quot;:&quot;text&quot;}"/>
          <p:cNvSpPr txBox="1"/>
          <p:nvPr/>
        </p:nvSpPr>
        <p:spPr>
          <a:xfrm>
            <a:off x="685800" y="2924175"/>
            <a:ext cx="4381500" cy="8477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800" b="1" spc="-75">
                <a:solidFill>
                  <a:srgbClr val="EAF2F8"/>
                </a:solidFill>
                <a:latin typeface="PingFang SC"/>
                <a:ea typeface="PingFang SC"/>
              </a:rPr>
              <a:t>合同智能</a:t>
            </a:r>
            <a:endParaRPr lang="zh-CN" sz="4800" b="1" spc="-75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97" name="圆角矩形 296"/>
          <p:cNvSpPr/>
          <p:nvPr/>
        </p:nvSpPr>
        <p:spPr>
          <a:xfrm>
            <a:off x="685800" y="4000500"/>
            <a:ext cx="6096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298" name="文本框 297" descr="{&quot;isTemplate&quot;:true,&quot;type&quot;:&quot;text&quot;}"/>
          <p:cNvSpPr txBox="1"/>
          <p:nvPr/>
        </p:nvSpPr>
        <p:spPr>
          <a:xfrm>
            <a:off x="685800" y="4248150"/>
            <a:ext cx="438150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8FA6BC"/>
                </a:solidFill>
                <a:latin typeface="PingFang SC"/>
                <a:ea typeface="PingFang SC"/>
              </a:rPr>
              <a:t>业务流程、痛点分析与本期落地方案</a:t>
            </a:r>
            <a:endParaRPr lang="zh-CN" sz="15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99" name="矩形 298"/>
          <p:cNvSpPr/>
          <p:nvPr/>
        </p:nvSpPr>
        <p:spPr>
          <a:xfrm>
            <a:off x="685800" y="6248400"/>
            <a:ext cx="266700" cy="9525"/>
          </a:xfrm>
          <a:prstGeom prst="rect">
            <a:avLst/>
          </a:prstGeom>
          <a:solidFill>
            <a:srgbClr val="C7A96B">
              <a:alpha val="70000"/>
            </a:srgbClr>
          </a:solidFill>
        </p:spPr>
        <p:txBody>
          <a:bodyPr/>
          <a:p/>
        </p:txBody>
      </p:sp>
      <p:sp>
        <p:nvSpPr>
          <p:cNvPr id="300" name="文本框 299" descr="{&quot;isTemplate&quot;:true,&quot;type&quot;:&quot;text&quot;}"/>
          <p:cNvSpPr txBox="1"/>
          <p:nvPr/>
        </p:nvSpPr>
        <p:spPr>
          <a:xfrm>
            <a:off x="1085850" y="6172200"/>
            <a:ext cx="24765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6E86A0"/>
                </a:solidFill>
                <a:latin typeface="Inter"/>
                <a:ea typeface="Inter"/>
              </a:rPr>
              <a:t>DISHENG CONSULTING · 2026</a:t>
            </a:r>
            <a:endParaRPr lang="en-US" sz="975" spc="225">
              <a:solidFill>
                <a:srgbClr val="6E86A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合同现状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STATUS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盖章与归档位于评审之后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创建登记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销售易结构化填单，单份 30 分钟以上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报价非必须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权限内直建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特价走审批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录入负担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初审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区域专员核对产品、价格与交期等基础信息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产品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3810000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价格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交期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逐项核对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技术评审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对照产品参数、施工方案与技术标准作初步标注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85635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79920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产品参数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41325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407543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施工方案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4088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3516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技术标准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条款标注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商务评审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权限内由区域商务审核，大系统平台以上由集团商务审核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8912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83413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付款条件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41675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41103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违约赔偿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44373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38658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宽限期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分层审核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法务评审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识别法务风险并提示修改方向，不替代法务终审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法律条文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国家标准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人工终审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风险提示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04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" name="" descr="// B · 10 内容页 · 表格 — 传统模式 vs 智能化模式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200, width: 520, height: 340, borderRadius: 26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模式对比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MPARISON&lt;/Text&gt;&#10;        &lt;Box style={{ flex: 1 }} /&gt;&#10;        &lt;Text style={{ fontSize: 14, color: '#8FA6BC' }}&gt;同样一件事，两种做法差别在哪&lt;/Text&gt;&#10;    &lt;/Box&gt;&#10;&#10;    {/* B · 内容区 */}&#10;    &lt;Box style={{ flex: 1, paddingTop: 28, paddingBottom: 24 }}&gt;&#10;        &lt;Table&#10;            style={{ width: '100%', height: '100%' }}&#10;            defaultTextStyle={{ fontSize: 16, textAlign: 'center', color: '#B9CBDA' }}&#10;            defaultCellStyle={{&#10;                border: {&#10;                    left: { width: 1, color: 'rgba(143,216,232,0.16)' },&#10;                    right: { width: 1, color: 'rgba(143,216,232,0.16)' },&#10;                    top: { width: 1, color: 'rgba(143,216,232,0.16)' },&#10;                    bottom: { width: 1, color: 'rgba(143,216,232,0.16)' }&#10;                }&#10;            }}&#10;            cells={[&#10;                [&#10;                    { text: '对比维度', textStyle: { bold: true, color: '#8FD8E8', fontSize: 16, textAlign: 'left' }, cellStyle: { background: { color: '#123248' } } },&#10;                    { text: '传统销售管理', textStyle: { bold: true, color: '#8FD8E8', fontSize: 16 }, cellStyle: { background: { color: '#123248' } } },&#10;                    { text: '智能化销售管理', textStyle: { bold: true, color: '#8FD8E8', fontSize: 16 }, cellStyle: { background: { color: '#123248' } } }&#10;                ],&#10;                [&#10;                    { text: '决策依据', textStyle: { bold: true, color: '#EAF2F8', textAlign: 'left' } },&#10;                    '依赖个人经验与直觉',&#10;                    { text: '数据与算法辅助判断', textStyle: { color: '#5BC8C8', bold: true } }&#10;                ],&#10;                [&#10;                    { text: '知识沉淀', textStyle: { bold: true, color: '#EAF2F8', textAlign: 'left' }, cellStyle: { background: { color: '#0C1A2C' } } },&#10;                    { text: '存于少数骨干脑中', cellStyle: { background: { color: '#0C1A2C' } } },&#10;                    { text: '结构化语料库持续沉淀', textStyle: { color: '#5BC8C8', bold: true }, cellStyle: { background: { color: '#0C1A2C' } } }&#10;                ],&#10;                [&#10;                    { text: '新人成长', textStyle: { bold: true, color: '#EAF2F8', textAlign: 'left' } },&#10;                    '6 – 12 个月摸索期',&#10;                    { text: '3 – 4 周完成上岗', textStyle: { color: '#5BC8C8', bold: true } }&#10;                ],&#10;                [&#10;                    { text: '过程管理', textStyle: { bold: true, color: '#EAF2F8', textAlign: 'left' }, cellStyle: { background: { color: '#0C1A2C' } } },&#10;                    { text: '周会与人工统计', cellStyle: { background: { color: '#0C1A2C' } } },&#10;                    { text: '实时可视与自动预警', textStyle: { color: '#5BC8C8', bold: true }, cellStyle: { background: { color: '#0C1A2C' } } }&#10;                ],&#10;                [&#10;                    { text: '复制能力', textStyle: { bold: true, color: '#EAF2F8', textAlign: 'left' } },&#10;                    '难以规模化复制',&#10;                    { text: '标准化打法快速复制', textStyle: { color: '#5BC8C8', bold: true } }&#10;                ]&#10;            ]}&#10;        /&gt;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0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21" name="任意多边形 20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22" name="圆角矩形 21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痛点分析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25" name="文本框 24" descr="{&quot;isTemplate&quot;:true,&quot;type&quot;:&quot;text&quot;}"/>
          <p:cNvSpPr txBox="1"/>
          <p:nvPr/>
        </p:nvSpPr>
        <p:spPr>
          <a:xfrm>
            <a:off x="2381250" y="590550"/>
            <a:ext cx="11239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GAPS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五项现状及对应优化方向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685800" y="1409700"/>
          <a:ext cx="10820400" cy="4457700"/>
        </p:xfrm>
        <a:graphic>
          <a:graphicData uri="http://schemas.openxmlformats.org/drawingml/2006/table">
            <a:tbl>
              <a:tblPr/>
              <a:tblGrid>
                <a:gridCol w="2007010"/>
                <a:gridCol w="4188542"/>
                <a:gridCol w="4624848"/>
              </a:tblGrid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8FD8E8"/>
                          </a:solidFill>
                          <a:latin typeface="微软雅黑"/>
                          <a:ea typeface="微软雅黑"/>
                        </a:rPr>
                        <a:t>环节</a:t>
                      </a:r>
                      <a:endParaRPr sz="1200" b="1">
                        <a:solidFill>
                          <a:srgbClr val="8FD8E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23248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8FD8E8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  <a:endParaRPr sz="1200" b="1">
                        <a:solidFill>
                          <a:srgbClr val="8FD8E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23248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8FD8E8"/>
                          </a:solidFill>
                          <a:latin typeface="微软雅黑"/>
                          <a:ea typeface="微软雅黑"/>
                        </a:rPr>
                        <a:t>优化方向</a:t>
                      </a:r>
                      <a:endParaRPr sz="1200" b="1">
                        <a:solidFill>
                          <a:srgbClr val="8FD8E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23248"/>
                    </a:solidFill>
                  </a:tcPr>
                </a:tc>
              </a:tr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EAF2F8"/>
                          </a:solidFill>
                          <a:latin typeface="微软雅黑"/>
                          <a:ea typeface="微软雅黑"/>
                        </a:rPr>
                        <a:t>合同创建</a:t>
                      </a:r>
                      <a:endParaRPr sz="1200" b="1">
                        <a:solidFill>
                          <a:srgbClr val="EAF2F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9CBDA"/>
                          </a:solidFill>
                          <a:latin typeface="微软雅黑"/>
                          <a:ea typeface="微软雅黑"/>
                        </a:rPr>
                        <a:t>单份 30 分钟以上</a:t>
                      </a:r>
                      <a:endParaRPr sz="1200">
                        <a:solidFill>
                          <a:srgbClr val="B9CBD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5BC8C8"/>
                          </a:solidFill>
                          <a:latin typeface="微软雅黑"/>
                          <a:ea typeface="微软雅黑"/>
                        </a:rPr>
                        <a:t>字段提取与自动填单</a:t>
                      </a:r>
                      <a:endParaRPr sz="1200" b="1">
                        <a:solidFill>
                          <a:srgbClr val="5BC8C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EAF2F8"/>
                          </a:solidFill>
                          <a:latin typeface="微软雅黑"/>
                          <a:ea typeface="微软雅黑"/>
                        </a:rPr>
                        <a:t>结算条款</a:t>
                      </a:r>
                      <a:endParaRPr sz="1200" b="1">
                        <a:solidFill>
                          <a:srgbClr val="EAF2F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9CBDA"/>
                          </a:solidFill>
                          <a:latin typeface="微软雅黑"/>
                          <a:ea typeface="微软雅黑"/>
                        </a:rPr>
                        <a:t>付款比例须达 100%</a:t>
                      </a:r>
                      <a:endParaRPr sz="1200">
                        <a:solidFill>
                          <a:srgbClr val="B9CBD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5BC8C8"/>
                          </a:solidFill>
                          <a:latin typeface="微软雅黑"/>
                          <a:ea typeface="微软雅黑"/>
                        </a:rPr>
                        <a:t>结构化填写并自动校验</a:t>
                      </a:r>
                      <a:endParaRPr sz="1200" b="1">
                        <a:solidFill>
                          <a:srgbClr val="5BC8C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</a:tr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EAF2F8"/>
                          </a:solidFill>
                          <a:latin typeface="微软雅黑"/>
                          <a:ea typeface="微软雅黑"/>
                        </a:rPr>
                        <a:t>收货信息</a:t>
                      </a:r>
                      <a:endParaRPr sz="1200" b="1">
                        <a:solidFill>
                          <a:srgbClr val="EAF2F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9CBDA"/>
                          </a:solidFill>
                          <a:latin typeface="微软雅黑"/>
                          <a:ea typeface="微软雅黑"/>
                        </a:rPr>
                        <a:t>须与签收单一致</a:t>
                      </a:r>
                      <a:endParaRPr sz="1200">
                        <a:solidFill>
                          <a:srgbClr val="B9CBD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5BC8C8"/>
                          </a:solidFill>
                          <a:latin typeface="微软雅黑"/>
                          <a:ea typeface="微软雅黑"/>
                        </a:rPr>
                        <a:t>自动比对并提示差异</a:t>
                      </a:r>
                      <a:endParaRPr sz="1200" b="1">
                        <a:solidFill>
                          <a:srgbClr val="5BC8C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EAF2F8"/>
                          </a:solidFill>
                          <a:latin typeface="微软雅黑"/>
                          <a:ea typeface="微软雅黑"/>
                        </a:rPr>
                        <a:t>产品清单</a:t>
                      </a:r>
                      <a:endParaRPr sz="1200" b="1">
                        <a:solidFill>
                          <a:srgbClr val="EAF2F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9CBDA"/>
                          </a:solidFill>
                          <a:latin typeface="微软雅黑"/>
                          <a:ea typeface="微软雅黑"/>
                        </a:rPr>
                        <a:t>报价与合同多对多</a:t>
                      </a:r>
                      <a:endParaRPr sz="1200">
                        <a:solidFill>
                          <a:srgbClr val="B9CBD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5BC8C8"/>
                          </a:solidFill>
                          <a:latin typeface="微软雅黑"/>
                          <a:ea typeface="微软雅黑"/>
                        </a:rPr>
                        <a:t>统一名称与编码规则</a:t>
                      </a:r>
                      <a:endParaRPr sz="1200" b="1">
                        <a:solidFill>
                          <a:srgbClr val="5BC8C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1A2C"/>
                    </a:solidFill>
                  </a:tcPr>
                </a:tc>
              </a:tr>
              <a:tr h="7429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EAF2F8"/>
                          </a:solidFill>
                          <a:latin typeface="微软雅黑"/>
                          <a:ea typeface="微软雅黑"/>
                        </a:rPr>
                        <a:t>合同审核</a:t>
                      </a:r>
                      <a:endParaRPr sz="1200" b="1">
                        <a:solidFill>
                          <a:srgbClr val="EAF2F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B9CBDA"/>
                          </a:solidFill>
                          <a:latin typeface="微软雅黑"/>
                          <a:ea typeface="微软雅黑"/>
                        </a:rPr>
                        <a:t>周期数天至一周</a:t>
                      </a:r>
                      <a:endParaRPr sz="1200">
                        <a:solidFill>
                          <a:srgbClr val="B9CBD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5BC8C8"/>
                          </a:solidFill>
                          <a:latin typeface="微软雅黑"/>
                          <a:ea typeface="微软雅黑"/>
                        </a:rPr>
                        <a:t>风险识别后人工确认</a:t>
                      </a:r>
                      <a:endParaRPr sz="1200" b="1">
                        <a:solidFill>
                          <a:srgbClr val="5BC8C8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任意多边形 27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0" name="文本框 29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05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4000500" y="1905000"/>
            <a:ext cx="4953000" cy="3238500"/>
          </a:xfrm>
          <a:prstGeom prst="roundRect">
            <a:avLst>
              <a:gd name="adj" fmla="val 76471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1" name="" descr="// B · 09 内容页 · 三卡片 — 业务范围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20, width: 520, height: 380, borderRadius: 26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业务范围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BUSINESS SCOPE&lt;/Text&gt;&#10;        &lt;Box style={{ flex: 1 }} /&gt;&#10;        &lt;Text style={{ fontSize: 14, color: '#8FA6BC' }}&gt;三大板块，覆盖销售管理全链路&lt;/Text&gt;&#10;    &lt;/Box&gt;&#10;&#10;    {/* B · 内容区 */}&#10;    &lt;Box style={{ flex: 1, flexDirection: 'row', gap: 24, paddingTop: 34, paddingBottom: 30 }}&gt;&#10;        {[&#10;            { no: '01', title: '管理咨询', en: 'CONSULTING', desc: '以 PPABC 销售管理体系为主线，完成从市场规划、客户规划到商机规划与达标策略的全链路设计，让目标有清晰的组织承接。', pts: ['市场 · 客户 · 商机三层规划', '销售流程与制度重构', '目标分解与达标策略'], tags: ['销售体系设计', '流程重构', '组织赋能'] },&#10;            { no: '02', title: '销售智能化', en: 'AI ENABLEMENT', desc: '把 LTC 流程、知识与 AI 能力打通，让销售动作可沉淀、可复制、可度量，最终形成企业自己的销售资产。', pts: ['结构化语料库与知识萃取', '智能中台与 Skills 编排', '业务数据双向闭环'], tags: ['智能中台', '知识萃取', '数据闭环'] },&#10;            { no: '03', title: '培训与陪跑', en: 'TRAINING', desc: '从方法论讲授到一线陪跑，用真实商机做复盘与教练式辅导，把方法论变成团队肌肉记忆。', pts: ['方法论分层课程体系', '真实商机复盘与教练', '行为改变跟踪与反馈'], tags: ['实战训练', '商机复盘', '教练辅导'] }&#10;        ].map((c, idx) =&gt; (&#10;            &lt;Box key={idx} style={{ flex: 1, flexDirection: 'column', background: 'rgba(255,255,255,0.045)', border: '1px solid rgba(143,216,232,0.18)', borderRadius: 14, overflow: 'hidden', boxShadow: '0 10px 34px rgba(0,0,0,0.36)' }}&gt;&#10;                &lt;Box style={{ height: 3, width: '100%', background: 'linear-gradient(90deg, #8FD8E8 0%, #3FA8BF 100%)' }} /&gt;&#10;                &lt;Box style={{ flex: 1, flexDirection: 'column', padding: '24px 24px 20px' }}&gt;&#10;                    &lt;Box style={{ flexDirection: 'row', alignItems: 'baseline', gap: 12 }}&gt;&#10;                        &lt;Text style={{ fontSize: 30, fontWeight: 'bold', color: '#5BC8C8', fontFamily: '&quot;Inter&quot;,&quot;Helvetica Neue&quot;,Arial,sans-serif', letterSpacing: -1 }}&gt;{c.no}&lt;/Text&gt;&#10;                        &lt;Text style={{ fontSize: 24, fontWeight: 'bold', color: '#EAF2F8', letterSpacing: -0.3 }}&gt;{c.title}&lt;/Text&gt;&#10;                    &lt;/Box&gt;&#10;                    &lt;Text style={{ fontSize: 11, color: '#5E7590', letterSpacing: 2.5, marginTop: 8, fontFamily: '&quot;Inter&quot;,&quot;Helvetica Neue&quot;,Arial,sans-serif' }}&gt;{c.en}&lt;/Text&gt;&#10;                    &lt;Box style={{ width: 32, height: 2, background: 'rgba(143,216,232,0.35)', marginTop: 14 }} /&gt;&#10;                    &lt;Text style={{ fontSize: 16, color: '#9FB4C6', lineHeight: 1.9, marginTop: 14 }}&gt;&#10;                        {c.desc}&#10;                    &lt;/Text&gt;&#10;                    &lt;Box style={{ flexDirection: 'column', gap: 13, marginTop: 20, paddingTop: 18, borderTop: '1px dashed rgba(143,216,232,0.18)' }}&gt;&#10;                        {c.pts.map((p, i) =&gt; (&#10;                            &lt;Box key={i} style={{ flexDirection: 'row', alignItems: 'center', gap: 10 }}&gt;&#10;                                &lt;Box style={{ width: 6, height: 6, borderRadius: 3, background: '#5BC8C8' }} /&gt;&#10;                                &lt;Text style={{ fontSize: 15, color: '#B9CBDA' }}&gt;{p}&lt;/Text&gt;&#10;                            &lt;/Box&gt;&#10;                        ))}&#10;                    &lt;/Box&gt;&#10;                    &lt;Box style={{ marginTop: 'auto', flexDirection: 'row', flexWrap: 'wrap', gap: 8, paddingTop: 16 }}&gt;&#10;                        {c.tags.map((t, i) =&gt; (&#10;                            &lt;Box key={i} style={{ padding: '5px 11px', borderRadius: 999, background: 'rgba(91,200,200,0.09)', border: '1px solid rgba(143,216,232,0.24)' }}&gt;&#10;                                &lt;Text style={{ fontSize: 12, color: '#8FD8E8' }}&gt;{t}&lt;/Text&gt;&#10;                            &lt;/Box&gt;&#10;                        ))}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9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矩形 5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533" name="任意多边形 53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534" name="圆角矩形 53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落地方案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36" name="矩形 53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537" name="文本框 536" descr="{&quot;isTemplate&quot;:true,&quot;type&quot;:&quot;text&quot;}"/>
          <p:cNvSpPr txBox="1"/>
          <p:nvPr/>
        </p:nvSpPr>
        <p:spPr>
          <a:xfrm>
            <a:off x="2381250" y="590550"/>
            <a:ext cx="1466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SCOPE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538" name="文本框 53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辅助提效与风险提示，不替代人工终审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539" name="圆角矩形 538"/>
          <p:cNvSpPr/>
          <p:nvPr/>
        </p:nvSpPr>
        <p:spPr>
          <a:xfrm>
            <a:off x="685800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40" name="任意多边形 539"/>
          <p:cNvSpPr/>
          <p:nvPr/>
        </p:nvSpPr>
        <p:spPr>
          <a:xfrm>
            <a:off x="685800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914400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42" name="文本框 541" descr="{&quot;isTemplate&quot;:true,&quot;type&quot;:&quot;text&quot;}"/>
          <p:cNvSpPr txBox="1"/>
          <p:nvPr/>
        </p:nvSpPr>
        <p:spPr>
          <a:xfrm>
            <a:off x="1333500" y="1724025"/>
            <a:ext cx="9048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预填确认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43" name="文本框 542" descr="{&quot;isTemplate&quot;:true,&quot;type&quot;:&quot;text&quot;}"/>
          <p:cNvSpPr txBox="1"/>
          <p:nvPr/>
        </p:nvSpPr>
        <p:spPr>
          <a:xfrm>
            <a:off x="914400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INTAKE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44" name="矩形 543"/>
          <p:cNvSpPr/>
          <p:nvPr/>
        </p:nvSpPr>
        <p:spPr>
          <a:xfrm>
            <a:off x="914400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914400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系统依据报价单或扫描件生成预填单，抽取字段并标注出处。低置信度字段提交销售确认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46" name="任意多边形 545"/>
          <p:cNvSpPr/>
          <p:nvPr/>
        </p:nvSpPr>
        <p:spPr>
          <a:xfrm>
            <a:off x="914400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47" name="圆角矩形 546"/>
          <p:cNvSpPr/>
          <p:nvPr/>
        </p:nvSpPr>
        <p:spPr>
          <a:xfrm>
            <a:off x="914400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48" name="文本框 547" descr="{&quot;isTemplate&quot;:true,&quot;type&quot;:&quot;text&quot;}"/>
          <p:cNvSpPr txBox="1"/>
          <p:nvPr/>
        </p:nvSpPr>
        <p:spPr>
          <a:xfrm>
            <a:off x="1066800" y="3981450"/>
            <a:ext cx="1762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字段提取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出处标注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人工确认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49" name="圆角矩形 548"/>
          <p:cNvSpPr/>
          <p:nvPr/>
        </p:nvSpPr>
        <p:spPr>
          <a:xfrm>
            <a:off x="914400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066800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未匹配物料提供候选清单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914400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2" name="文本框 551" descr="{&quot;isTemplate&quot;:true,&quot;type&quot;:&quot;text&quot;}"/>
          <p:cNvSpPr txBox="1"/>
          <p:nvPr/>
        </p:nvSpPr>
        <p:spPr>
          <a:xfrm>
            <a:off x="1066800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缺失信息向销售发起补件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3" name="圆角矩形 552"/>
          <p:cNvSpPr/>
          <p:nvPr/>
        </p:nvSpPr>
        <p:spPr>
          <a:xfrm>
            <a:off x="914400" y="5381625"/>
            <a:ext cx="8953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19175" y="5429250"/>
            <a:ext cx="6858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不自动赋码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5" name="圆角矩形 554"/>
          <p:cNvSpPr/>
          <p:nvPr/>
        </p:nvSpPr>
        <p:spPr>
          <a:xfrm>
            <a:off x="1885950" y="5381625"/>
            <a:ext cx="753110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99072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不自行补录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7" name="圆角矩形 556"/>
          <p:cNvSpPr/>
          <p:nvPr/>
        </p:nvSpPr>
        <p:spPr>
          <a:xfrm>
            <a:off x="26638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27686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销售确认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4371975" y="1466850"/>
            <a:ext cx="3448050" cy="4343400"/>
          </a:xfrm>
          <a:prstGeom prst="roundRect">
            <a:avLst>
              <a:gd name="adj" fmla="val 38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60" name="任意多边形 559"/>
          <p:cNvSpPr/>
          <p:nvPr/>
        </p:nvSpPr>
        <p:spPr>
          <a:xfrm>
            <a:off x="4371975" y="1466850"/>
            <a:ext cx="3448050" cy="28575"/>
          </a:xfrm>
          <a:custGeom>
            <a:avLst/>
            <a:gdLst/>
            <a:ahLst/>
            <a:cxnLst/>
            <a:pathLst>
              <a:path w="362" h="3">
                <a:moveTo>
                  <a:pt x="348" y="0"/>
                </a:moveTo>
                <a:cubicBezTo>
                  <a:pt x="351" y="0"/>
                  <a:pt x="354" y="1"/>
                  <a:pt x="357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8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460057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501967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评审确认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4600575" y="2143125"/>
            <a:ext cx="29908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REVIEW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64" name="矩形 563"/>
          <p:cNvSpPr/>
          <p:nvPr/>
        </p:nvSpPr>
        <p:spPr>
          <a:xfrm>
            <a:off x="460057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4600575" y="2562225"/>
            <a:ext cx="2990850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基础核对产品、价格、交期、付款比例与收货一致性。技术、商务、法务对照已发布依据标注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66" name="任意多边形 565"/>
          <p:cNvSpPr/>
          <p:nvPr/>
        </p:nvSpPr>
        <p:spPr>
          <a:xfrm>
            <a:off x="4600575" y="3800475"/>
            <a:ext cx="2990850" cy="952500"/>
          </a:xfrm>
          <a:custGeom>
            <a:avLst/>
            <a:gdLst/>
            <a:ahLst/>
            <a:cxnLst/>
            <a:pathLst>
              <a:path w="314" h="100">
                <a:moveTo>
                  <a:pt x="0" y="0"/>
                </a:moveTo>
                <a:lnTo>
                  <a:pt x="314" y="0"/>
                </a:lnTo>
                <a:lnTo>
                  <a:pt x="314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67" name="圆角矩形 566"/>
          <p:cNvSpPr/>
          <p:nvPr/>
        </p:nvSpPr>
        <p:spPr>
          <a:xfrm>
            <a:off x="460057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68" name="文本框 567" descr="{&quot;isTemplate&quot;:true,&quot;type&quot;:&quot;text&quot;}"/>
          <p:cNvSpPr txBox="1"/>
          <p:nvPr/>
        </p:nvSpPr>
        <p:spPr>
          <a:xfrm>
            <a:off x="4752975" y="398145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修改建议须引用依据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69" name="圆角矩形 568"/>
          <p:cNvSpPr/>
          <p:nvPr/>
        </p:nvSpPr>
        <p:spPr>
          <a:xfrm>
            <a:off x="460057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4752975" y="427672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未记载则结论为待补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1" name="圆角矩形 570"/>
          <p:cNvSpPr/>
          <p:nvPr/>
        </p:nvSpPr>
        <p:spPr>
          <a:xfrm>
            <a:off x="460057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2" name="文本框 571" descr="{&quot;isTemplate&quot;:true,&quot;type&quot;:&quot;text&quot;}"/>
          <p:cNvSpPr txBox="1"/>
          <p:nvPr/>
        </p:nvSpPr>
        <p:spPr>
          <a:xfrm>
            <a:off x="4752975" y="4572000"/>
            <a:ext cx="1143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无依据不列入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3" name="圆角矩形 572"/>
          <p:cNvSpPr/>
          <p:nvPr/>
        </p:nvSpPr>
        <p:spPr>
          <a:xfrm>
            <a:off x="46005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4" name="文本框 573" descr="{&quot;isTemplate&quot;:true,&quot;type&quot;:&quot;text&quot;}"/>
          <p:cNvSpPr txBox="1"/>
          <p:nvPr/>
        </p:nvSpPr>
        <p:spPr>
          <a:xfrm>
            <a:off x="47053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待补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5" name="圆角矩形 574"/>
          <p:cNvSpPr/>
          <p:nvPr/>
        </p:nvSpPr>
        <p:spPr>
          <a:xfrm>
            <a:off x="53435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54483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无法判断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7" name="圆角矩形 576"/>
          <p:cNvSpPr/>
          <p:nvPr/>
        </p:nvSpPr>
        <p:spPr>
          <a:xfrm>
            <a:off x="6086475" y="5381625"/>
            <a:ext cx="768985" cy="24574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8" name="文本框 577" descr="{&quot;isTemplate&quot;:true,&quot;type&quot;:&quot;text&quot;}"/>
          <p:cNvSpPr txBox="1"/>
          <p:nvPr/>
        </p:nvSpPr>
        <p:spPr>
          <a:xfrm>
            <a:off x="61912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不直接放行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9" name="圆角矩形 578"/>
          <p:cNvSpPr/>
          <p:nvPr/>
        </p:nvSpPr>
        <p:spPr>
          <a:xfrm>
            <a:off x="8048625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80" name="任意多边形 579"/>
          <p:cNvSpPr/>
          <p:nvPr/>
        </p:nvSpPr>
        <p:spPr>
          <a:xfrm>
            <a:off x="8048625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81" name="文本框 580" descr="{&quot;isTemplate&quot;:true,&quot;type&quot;:&quot;text&quot;}"/>
          <p:cNvSpPr txBox="1"/>
          <p:nvPr/>
        </p:nvSpPr>
        <p:spPr>
          <a:xfrm>
            <a:off x="827722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869632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执行提醒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8277225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NOTICE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84" name="矩形 583"/>
          <p:cNvSpPr/>
          <p:nvPr/>
        </p:nvSpPr>
        <p:spPr>
          <a:xfrm>
            <a:off x="827722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85" name="文本框 584" descr="{&quot;isTemplate&quot;:true,&quot;type&quot;:&quot;text&quot;}"/>
          <p:cNvSpPr txBox="1"/>
          <p:nvPr/>
        </p:nvSpPr>
        <p:spPr>
          <a:xfrm>
            <a:off x="8277225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发货、补充协议与退换货仅作提醒，不写入单据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86" name="任意多边形 585"/>
          <p:cNvSpPr/>
          <p:nvPr/>
        </p:nvSpPr>
        <p:spPr>
          <a:xfrm>
            <a:off x="8277225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87" name="圆角矩形 586"/>
          <p:cNvSpPr/>
          <p:nvPr/>
        </p:nvSpPr>
        <p:spPr>
          <a:xfrm>
            <a:off x="827722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429625" y="398145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不替代签署与盖章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827722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8429625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不替代建单与定责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1" name="圆角矩形 590"/>
          <p:cNvSpPr/>
          <p:nvPr/>
        </p:nvSpPr>
        <p:spPr>
          <a:xfrm>
            <a:off x="827722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8429625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方案是否合格由人判断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82772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83820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发货排产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90201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91249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补充协议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97631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98679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退换货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9" name="任意多边形 598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601" name="文本框 600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06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合同录入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INTAKE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销售确认后，预填单方可进入后续环节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接收单据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接收报价单、Word 或扫描件，作为字段提取的来源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88429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82714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报价单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416052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410337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Word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43674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37959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扫描件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来源可核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字段提取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抽取关键字段并标注出处，低置信度字段提交人工确认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85635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79920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客户项目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1325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075430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金额付款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088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3516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收货质保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标注出处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物料匹配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已对应的写明内部名称。未匹配的提供候选清单，不自动赋码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84238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78523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已对应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411861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406146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候选清单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39483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33768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不自动赋码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规则共定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缺失补件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缺失信息向销售发起补件，不自行补录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质保年限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验收条件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签收信息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不自行补录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销售确认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销售逐项确认预填单。未确认字段不进入后续环节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逐项确认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确认人留痕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方可流转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人工确认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07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合同评审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REVIEW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三岗同时标注，各确认本段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基础核对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核对价格、交期、付款比例与收货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产品价格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付款比例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收货地址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规则校验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技术标注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基础核对之后同时进行。不判定方案合格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331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760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配比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20941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5226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厚度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856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284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基层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不判定合格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商务标注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与技术、法务同时进行。建议必须引用依据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89128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83413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付款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416750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411035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赔偿违约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44373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38658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宽限期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引用条目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法务提示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与技术、商务同时进行。未记载为待补，不定责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86334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80619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质保年限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413956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408241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验收标准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41579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35864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标准号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待补不定责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确认出卡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三份到齐后收成一张卡。三人同时看，各确认本段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基础核对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同时标注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各认本段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三段确认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08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31" name="" descr="// B · 09 内容页 · 三卡片 — 业务范围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20, width: 520, height: 380, borderRadius: 26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业务范围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BUSINESS SCOPE&lt;/Text&gt;&#10;        &lt;Box style={{ flex: 1 }} /&gt;&#10;        &lt;Text style={{ fontSize: 14, color: '#8FA6BC' }}&gt;三大板块，覆盖销售管理全链路&lt;/Text&gt;&#10;    &lt;/Box&gt;&#10;&#10;    {/* B · 内容区 */}&#10;    &lt;Box style={{ flex: 1, flexDirection: 'row', gap: 24, paddingTop: 34, paddingBottom: 30 }}&gt;&#10;        {[&#10;            { no: '01', title: '管理咨询', en: 'CONSULTING', desc: '以 PPABC 销售管理体系为主线，完成从市场规划、客户规划到商机规划与达标策略的全链路设计，让目标有清晰的组织承接。', pts: ['市场 · 客户 · 商机三层规划', '销售流程与制度重构', '目标分解与达标策略'], tags: ['销售体系设计', '流程重构', '组织赋能'] },&#10;            { no: '02', title: '销售智能化', en: 'AI ENABLEMENT', desc: '把 LTC 流程、知识与 AI 能力打通，让销售动作可沉淀、可复制、可度量，最终形成企业自己的销售资产。', pts: ['结构化语料库与知识萃取', '智能中台与 Skills 编排', '业务数据双向闭环'], tags: ['智能中台', '知识萃取', '数据闭环'] },&#10;            { no: '03', title: '培训与陪跑', en: 'TRAINING', desc: '从方法论讲授到一线陪跑，用真实商机做复盘与教练式辅导，把方法论变成团队肌肉记忆。', pts: ['方法论分层课程体系', '真实商机复盘与教练', '行为改变跟踪与反馈'], tags: ['实战训练', '商机复盘', '教练辅导'] }&#10;        ].map((c, idx) =&gt; (&#10;            &lt;Box key={idx} style={{ flex: 1, flexDirection: 'column', background: 'rgba(255,255,255,0.045)', border: '1px solid rgba(143,216,232,0.18)', borderRadius: 14, overflow: 'hidden', boxShadow: '0 10px 34px rgba(0,0,0,0.36)' }}&gt;&#10;                &lt;Box style={{ height: 3, width: '100%', background: 'linear-gradient(90deg, #8FD8E8 0%, #3FA8BF 100%)' }} /&gt;&#10;                &lt;Box style={{ flex: 1, flexDirection: 'column', padding: '24px 24px 20px' }}&gt;&#10;                    &lt;Box style={{ flexDirection: 'row', alignItems: 'baseline', gap: 12 }}&gt;&#10;                        &lt;Text style={{ fontSize: 30, fontWeight: 'bold', color: '#5BC8C8', fontFamily: '&quot;Inter&quot;,&quot;Helvetica Neue&quot;,Arial,sans-serif', letterSpacing: -1 }}&gt;{c.no}&lt;/Text&gt;&#10;                        &lt;Text style={{ fontSize: 24, fontWeight: 'bold', color: '#EAF2F8', letterSpacing: -0.3 }}&gt;{c.title}&lt;/Text&gt;&#10;                    &lt;/Box&gt;&#10;                    &lt;Text style={{ fontSize: 11, color: '#5E7590', letterSpacing: 2.5, marginTop: 8, fontFamily: '&quot;Inter&quot;,&quot;Helvetica Neue&quot;,Arial,sans-serif' }}&gt;{c.en}&lt;/Text&gt;&#10;                    &lt;Box style={{ width: 32, height: 2, background: 'rgba(143,216,232,0.35)', marginTop: 14 }} /&gt;&#10;                    &lt;Text style={{ fontSize: 16, color: '#9FB4C6', lineHeight: 1.9, marginTop: 14 }}&gt;&#10;                        {c.desc}&#10;                    &lt;/Text&gt;&#10;                    &lt;Box style={{ flexDirection: 'column', gap: 13, marginTop: 20, paddingTop: 18, borderTop: '1px dashed rgba(143,216,232,0.18)' }}&gt;&#10;                        {c.pts.map((p, i) =&gt; (&#10;                            &lt;Box key={i} style={{ flexDirection: 'row', alignItems: 'center', gap: 10 }}&gt;&#10;                                &lt;Box style={{ width: 6, height: 6, borderRadius: 3, background: '#5BC8C8' }} /&gt;&#10;                                &lt;Text style={{ fontSize: 15, color: '#B9CBDA' }}&gt;{p}&lt;/Text&gt;&#10;                            &lt;/Box&gt;&#10;                        ))}&#10;                    &lt;/Box&gt;&#10;                    &lt;Box style={{ marginTop: 'auto', flexDirection: 'row', flexWrap: 'wrap', gap: 8, paddingTop: 16 }}&gt;&#10;                        {c.tags.map((t, i) =&gt; (&#10;                            &lt;Box key={i} style={{ padding: '5px 11px', borderRadius: 999, background: 'rgba(91,200,200,0.09)', border: '1px solid rgba(143,216,232,0.24)' }}&gt;&#10;                                &lt;Text style={{ fontSize: 12, color: '#8FD8E8' }}&gt;{t}&lt;/Text&gt;&#10;                            &lt;/Box&gt;&#10;                        ))}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9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矩形 5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533" name="任意多边形 53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534" name="圆角矩形 53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35" name="文本框 53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依据条目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36" name="矩形 53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537" name="文本框 536" descr="{&quot;isTemplate&quot;:true,&quot;type&quot;:&quot;text&quot;}"/>
          <p:cNvSpPr txBox="1"/>
          <p:nvPr/>
        </p:nvSpPr>
        <p:spPr>
          <a:xfrm>
            <a:off x="2381250" y="590550"/>
            <a:ext cx="14668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BASIS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538" name="文本框 53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无对应依据条目的事项不列入评审卡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539" name="圆角矩形 538"/>
          <p:cNvSpPr/>
          <p:nvPr/>
        </p:nvSpPr>
        <p:spPr>
          <a:xfrm>
            <a:off x="685800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40" name="任意多边形 539"/>
          <p:cNvSpPr/>
          <p:nvPr/>
        </p:nvSpPr>
        <p:spPr>
          <a:xfrm>
            <a:off x="685800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41" name="文本框 540" descr="{&quot;isTemplate&quot;:true,&quot;type&quot;:&quot;text&quot;}"/>
          <p:cNvSpPr txBox="1"/>
          <p:nvPr/>
        </p:nvSpPr>
        <p:spPr>
          <a:xfrm>
            <a:off x="914400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42" name="文本框 541" descr="{&quot;isTemplate&quot;:true,&quot;type&quot;:&quot;text&quot;}"/>
          <p:cNvSpPr txBox="1"/>
          <p:nvPr/>
        </p:nvSpPr>
        <p:spPr>
          <a:xfrm>
            <a:off x="1333500" y="1724025"/>
            <a:ext cx="9048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录入依据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43" name="文本框 542" descr="{&quot;isTemplate&quot;:true,&quot;type&quot;:&quot;text&quot;}"/>
          <p:cNvSpPr txBox="1"/>
          <p:nvPr/>
        </p:nvSpPr>
        <p:spPr>
          <a:xfrm>
            <a:off x="914400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INTAKE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44" name="矩形 543"/>
          <p:cNvSpPr/>
          <p:nvPr/>
        </p:nvSpPr>
        <p:spPr>
          <a:xfrm>
            <a:off x="914400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45" name="文本框 544" descr="{&quot;isTemplate&quot;:true,&quot;type&quot;:&quot;text&quot;}"/>
          <p:cNvSpPr txBox="1"/>
          <p:nvPr/>
        </p:nvSpPr>
        <p:spPr>
          <a:xfrm>
            <a:off x="914400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录入依赖物料别名对照，以及字段是否按要求记载。未形成对照规则的物料，只提供候选清单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46" name="任意多边形 545"/>
          <p:cNvSpPr/>
          <p:nvPr/>
        </p:nvSpPr>
        <p:spPr>
          <a:xfrm>
            <a:off x="914400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47" name="圆角矩形 546"/>
          <p:cNvSpPr/>
          <p:nvPr/>
        </p:nvSpPr>
        <p:spPr>
          <a:xfrm>
            <a:off x="914400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48" name="文本框 547" descr="{&quot;isTemplate&quot;:true,&quot;type&quot;:&quot;text&quot;}"/>
          <p:cNvSpPr txBox="1"/>
          <p:nvPr/>
        </p:nvSpPr>
        <p:spPr>
          <a:xfrm>
            <a:off x="1066800" y="3981450"/>
            <a:ext cx="1762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物料别名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字段完整性</a:t>
            </a:r>
            <a:r>
              <a:rPr lang="en-US" sz="1125">
                <a:solidFill>
                  <a:srgbClr val="B9CBDA"/>
                </a:solidFill>
                <a:latin typeface="PingFang SC"/>
                <a:ea typeface="PingFang SC"/>
              </a:rPr>
              <a:t> · </a:t>
            </a: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出处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49" name="圆角矩形 548"/>
          <p:cNvSpPr/>
          <p:nvPr/>
        </p:nvSpPr>
        <p:spPr>
          <a:xfrm>
            <a:off x="914400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0" name="文本框 549" descr="{&quot;isTemplate&quot;:true,&quot;type&quot;:&quot;text&quot;}"/>
          <p:cNvSpPr txBox="1"/>
          <p:nvPr/>
        </p:nvSpPr>
        <p:spPr>
          <a:xfrm>
            <a:off x="1066800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名称与编码规则由双方厘定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1" name="圆角矩形 550"/>
          <p:cNvSpPr/>
          <p:nvPr/>
        </p:nvSpPr>
        <p:spPr>
          <a:xfrm>
            <a:off x="914400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52" name="文本框 551" descr="{&quot;isTemplate&quot;:true,&quot;type&quot;:&quot;text&quot;}"/>
          <p:cNvSpPr txBox="1"/>
          <p:nvPr/>
        </p:nvSpPr>
        <p:spPr>
          <a:xfrm>
            <a:off x="1066800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不承诺全量自动匹配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53" name="圆角矩形 552"/>
          <p:cNvSpPr/>
          <p:nvPr/>
        </p:nvSpPr>
        <p:spPr>
          <a:xfrm>
            <a:off x="914400" y="5381625"/>
            <a:ext cx="8953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4" name="文本框 553" descr="{&quot;isTemplate&quot;:true,&quot;type&quot;:&quot;text&quot;}"/>
          <p:cNvSpPr txBox="1"/>
          <p:nvPr/>
        </p:nvSpPr>
        <p:spPr>
          <a:xfrm>
            <a:off x="1019175" y="5429250"/>
            <a:ext cx="6858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别名对照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5" name="圆角矩形 554"/>
          <p:cNvSpPr/>
          <p:nvPr/>
        </p:nvSpPr>
        <p:spPr>
          <a:xfrm>
            <a:off x="1885950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6" name="文本框 555" descr="{&quot;isTemplate&quot;:true,&quot;type&quot;:&quot;text&quot;}"/>
          <p:cNvSpPr txBox="1"/>
          <p:nvPr/>
        </p:nvSpPr>
        <p:spPr>
          <a:xfrm>
            <a:off x="199072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完整性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7" name="圆角矩形 556"/>
          <p:cNvSpPr/>
          <p:nvPr/>
        </p:nvSpPr>
        <p:spPr>
          <a:xfrm>
            <a:off x="2628900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8" name="文本框 557" descr="{&quot;isTemplate&quot;:true,&quot;type&quot;:&quot;text&quot;}"/>
          <p:cNvSpPr txBox="1"/>
          <p:nvPr/>
        </p:nvSpPr>
        <p:spPr>
          <a:xfrm>
            <a:off x="2733675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人工确认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59" name="圆角矩形 558"/>
          <p:cNvSpPr/>
          <p:nvPr/>
        </p:nvSpPr>
        <p:spPr>
          <a:xfrm>
            <a:off x="4371975" y="1466850"/>
            <a:ext cx="3448050" cy="4343400"/>
          </a:xfrm>
          <a:prstGeom prst="roundRect">
            <a:avLst>
              <a:gd name="adj" fmla="val 38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60" name="任意多边形 559"/>
          <p:cNvSpPr/>
          <p:nvPr/>
        </p:nvSpPr>
        <p:spPr>
          <a:xfrm>
            <a:off x="4371975" y="1466850"/>
            <a:ext cx="3448050" cy="28575"/>
          </a:xfrm>
          <a:custGeom>
            <a:avLst/>
            <a:gdLst/>
            <a:ahLst/>
            <a:cxnLst/>
            <a:pathLst>
              <a:path w="362" h="3">
                <a:moveTo>
                  <a:pt x="348" y="0"/>
                </a:moveTo>
                <a:cubicBezTo>
                  <a:pt x="351" y="0"/>
                  <a:pt x="354" y="1"/>
                  <a:pt x="357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8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61" name="文本框 560" descr="{&quot;isTemplate&quot;:true,&quot;type&quot;:&quot;text&quot;}"/>
          <p:cNvSpPr txBox="1"/>
          <p:nvPr/>
        </p:nvSpPr>
        <p:spPr>
          <a:xfrm>
            <a:off x="460057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62" name="文本框 561" descr="{&quot;isTemplate&quot;:true,&quot;type&quot;:&quot;text&quot;}"/>
          <p:cNvSpPr txBox="1"/>
          <p:nvPr/>
        </p:nvSpPr>
        <p:spPr>
          <a:xfrm>
            <a:off x="501967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评审依据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63" name="文本框 562" descr="{&quot;isTemplate&quot;:true,&quot;type&quot;:&quot;text&quot;}"/>
          <p:cNvSpPr txBox="1"/>
          <p:nvPr/>
        </p:nvSpPr>
        <p:spPr>
          <a:xfrm>
            <a:off x="4600575" y="2143125"/>
            <a:ext cx="29908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REVIEW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64" name="矩形 563"/>
          <p:cNvSpPr/>
          <p:nvPr/>
        </p:nvSpPr>
        <p:spPr>
          <a:xfrm>
            <a:off x="460057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65" name="文本框 564" descr="{&quot;isTemplate&quot;:true,&quot;type&quot;:&quot;text&quot;}"/>
          <p:cNvSpPr txBox="1"/>
          <p:nvPr/>
        </p:nvSpPr>
        <p:spPr>
          <a:xfrm>
            <a:off x="4600575" y="2562225"/>
            <a:ext cx="2990850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评审依赖结算规则、签收一致性，以及技术、商务、法务已发布条目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66" name="任意多边形 565"/>
          <p:cNvSpPr/>
          <p:nvPr/>
        </p:nvSpPr>
        <p:spPr>
          <a:xfrm>
            <a:off x="4600575" y="3800475"/>
            <a:ext cx="2990850" cy="952500"/>
          </a:xfrm>
          <a:custGeom>
            <a:avLst/>
            <a:gdLst/>
            <a:ahLst/>
            <a:cxnLst/>
            <a:pathLst>
              <a:path w="314" h="100">
                <a:moveTo>
                  <a:pt x="0" y="0"/>
                </a:moveTo>
                <a:lnTo>
                  <a:pt x="314" y="0"/>
                </a:lnTo>
                <a:lnTo>
                  <a:pt x="314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67" name="圆角矩形 566"/>
          <p:cNvSpPr/>
          <p:nvPr/>
        </p:nvSpPr>
        <p:spPr>
          <a:xfrm>
            <a:off x="460057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68" name="文本框 567" descr="{&quot;isTemplate&quot;:true,&quot;type&quot;:&quot;text&quot;}"/>
          <p:cNvSpPr txBox="1"/>
          <p:nvPr/>
        </p:nvSpPr>
        <p:spPr>
          <a:xfrm>
            <a:off x="4752975" y="398145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结算规则与签收一致性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69" name="圆角矩形 568"/>
          <p:cNvSpPr/>
          <p:nvPr/>
        </p:nvSpPr>
        <p:spPr>
          <a:xfrm>
            <a:off x="460057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0" name="文本框 569" descr="{&quot;isTemplate&quot;:true,&quot;type&quot;:&quot;text&quot;}"/>
          <p:cNvSpPr txBox="1"/>
          <p:nvPr/>
        </p:nvSpPr>
        <p:spPr>
          <a:xfrm>
            <a:off x="4752975" y="427672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技术、商务、法务依据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1" name="圆角矩形 570"/>
          <p:cNvSpPr/>
          <p:nvPr/>
        </p:nvSpPr>
        <p:spPr>
          <a:xfrm>
            <a:off x="460057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72" name="文本框 571" descr="{&quot;isTemplate&quot;:true,&quot;type&quot;:&quot;text&quot;}"/>
          <p:cNvSpPr txBox="1"/>
          <p:nvPr/>
        </p:nvSpPr>
        <p:spPr>
          <a:xfrm>
            <a:off x="4752975" y="4572000"/>
            <a:ext cx="1143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无条目不列入评审卡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73" name="圆角矩形 572"/>
          <p:cNvSpPr/>
          <p:nvPr/>
        </p:nvSpPr>
        <p:spPr>
          <a:xfrm>
            <a:off x="46005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4" name="文本框 573" descr="{&quot;isTemplate&quot;:true,&quot;type&quot;:&quot;text&quot;}"/>
          <p:cNvSpPr txBox="1"/>
          <p:nvPr/>
        </p:nvSpPr>
        <p:spPr>
          <a:xfrm>
            <a:off x="47053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结算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5" name="圆角矩形 574"/>
          <p:cNvSpPr/>
          <p:nvPr/>
        </p:nvSpPr>
        <p:spPr>
          <a:xfrm>
            <a:off x="53435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6" name="文本框 575" descr="{&quot;isTemplate&quot;:true,&quot;type&quot;:&quot;text&quot;}"/>
          <p:cNvSpPr txBox="1"/>
          <p:nvPr/>
        </p:nvSpPr>
        <p:spPr>
          <a:xfrm>
            <a:off x="54483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签收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7" name="圆角矩形 576"/>
          <p:cNvSpPr/>
          <p:nvPr/>
        </p:nvSpPr>
        <p:spPr>
          <a:xfrm>
            <a:off x="60864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8" name="文本框 577" descr="{&quot;isTemplate&quot;:true,&quot;type&quot;:&quot;text&quot;}"/>
          <p:cNvSpPr txBox="1"/>
          <p:nvPr/>
        </p:nvSpPr>
        <p:spPr>
          <a:xfrm>
            <a:off x="61912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条款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79" name="圆角矩形 578"/>
          <p:cNvSpPr/>
          <p:nvPr/>
        </p:nvSpPr>
        <p:spPr>
          <a:xfrm>
            <a:off x="8048625" y="1466850"/>
            <a:ext cx="3457575" cy="4343400"/>
          </a:xfrm>
          <a:prstGeom prst="roundRect">
            <a:avLst>
              <a:gd name="adj" fmla="val 385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80" name="任意多边形 579"/>
          <p:cNvSpPr/>
          <p:nvPr/>
        </p:nvSpPr>
        <p:spPr>
          <a:xfrm>
            <a:off x="8048625" y="1466850"/>
            <a:ext cx="3457575" cy="28575"/>
          </a:xfrm>
          <a:custGeom>
            <a:avLst/>
            <a:gdLst/>
            <a:ahLst/>
            <a:cxnLst/>
            <a:pathLst>
              <a:path w="363" h="3">
                <a:moveTo>
                  <a:pt x="349" y="0"/>
                </a:moveTo>
                <a:cubicBezTo>
                  <a:pt x="352" y="0"/>
                  <a:pt x="355" y="1"/>
                  <a:pt x="358" y="3"/>
                </a:cubicBezTo>
                <a:lnTo>
                  <a:pt x="5" y="3"/>
                </a:lnTo>
                <a:cubicBezTo>
                  <a:pt x="8" y="1"/>
                  <a:pt x="11" y="0"/>
                  <a:pt x="14" y="0"/>
                </a:cubicBezTo>
                <a:lnTo>
                  <a:pt x="349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581" name="文本框 580" descr="{&quot;isTemplate&quot;:true,&quot;type&quot;:&quot;text&quot;}"/>
          <p:cNvSpPr txBox="1"/>
          <p:nvPr/>
        </p:nvSpPr>
        <p:spPr>
          <a:xfrm>
            <a:off x="8277225" y="1724025"/>
            <a:ext cx="3048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22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582" name="文本框 581" descr="{&quot;isTemplate&quot;:true,&quot;type&quot;:&quot;text&quot;}"/>
          <p:cNvSpPr txBox="1"/>
          <p:nvPr/>
        </p:nvSpPr>
        <p:spPr>
          <a:xfrm>
            <a:off x="8696325" y="1724025"/>
            <a:ext cx="11334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发布关系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83" name="文本框 582" descr="{&quot;isTemplate&quot;:true,&quot;type&quot;:&quot;text&quot;}"/>
          <p:cNvSpPr txBox="1"/>
          <p:nvPr/>
        </p:nvSpPr>
        <p:spPr>
          <a:xfrm>
            <a:off x="8277225" y="2143125"/>
            <a:ext cx="30003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PUBLISH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584" name="矩形 583"/>
          <p:cNvSpPr/>
          <p:nvPr/>
        </p:nvSpPr>
        <p:spPr>
          <a:xfrm>
            <a:off x="8277225" y="2409825"/>
            <a:ext cx="30480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85" name="文本框 584" descr="{&quot;isTemplate&quot;:true,&quot;type&quot;:&quot;text&quot;}"/>
          <p:cNvSpPr txBox="1"/>
          <p:nvPr/>
        </p:nvSpPr>
        <p:spPr>
          <a:xfrm>
            <a:off x="8277225" y="2562225"/>
            <a:ext cx="3000375" cy="1047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上述依据即知识库需要发布、并保持当前有效的业务规则。合同评审与销售问答使用同一套已发布条目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86" name="任意多边形 585"/>
          <p:cNvSpPr/>
          <p:nvPr/>
        </p:nvSpPr>
        <p:spPr>
          <a:xfrm>
            <a:off x="8277225" y="3800475"/>
            <a:ext cx="3000375" cy="952500"/>
          </a:xfrm>
          <a:custGeom>
            <a:avLst/>
            <a:gdLst/>
            <a:ahLst/>
            <a:cxnLst/>
            <a:pathLst>
              <a:path w="315" h="100">
                <a:moveTo>
                  <a:pt x="0" y="0"/>
                </a:moveTo>
                <a:lnTo>
                  <a:pt x="315" y="0"/>
                </a:lnTo>
                <a:lnTo>
                  <a:pt x="315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587" name="圆角矩形 586"/>
          <p:cNvSpPr/>
          <p:nvPr/>
        </p:nvSpPr>
        <p:spPr>
          <a:xfrm>
            <a:off x="8277225" y="40386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88" name="文本框 587" descr="{&quot;isTemplate&quot;:true,&quot;type&quot;:&quot;text&quot;}"/>
          <p:cNvSpPr txBox="1"/>
          <p:nvPr/>
        </p:nvSpPr>
        <p:spPr>
          <a:xfrm>
            <a:off x="8429625" y="398145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当前有效方可引用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89" name="圆角矩形 588"/>
          <p:cNvSpPr/>
          <p:nvPr/>
        </p:nvSpPr>
        <p:spPr>
          <a:xfrm>
            <a:off x="8277225" y="43338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0" name="文本框 589" descr="{&quot;isTemplate&quot;:true,&quot;type&quot;:&quot;text&quot;}"/>
          <p:cNvSpPr txBox="1"/>
          <p:nvPr/>
        </p:nvSpPr>
        <p:spPr>
          <a:xfrm>
            <a:off x="8429625" y="4276725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修订采用发布新条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1" name="圆角矩形 590"/>
          <p:cNvSpPr/>
          <p:nvPr/>
        </p:nvSpPr>
        <p:spPr>
          <a:xfrm>
            <a:off x="8277225" y="46291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92" name="文本框 591" descr="{&quot;isTemplate&quot;:true,&quot;type&quot;:&quot;text&quot;}"/>
          <p:cNvSpPr txBox="1"/>
          <p:nvPr/>
        </p:nvSpPr>
        <p:spPr>
          <a:xfrm>
            <a:off x="8429625" y="4572000"/>
            <a:ext cx="12858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B9CBDA"/>
                </a:solidFill>
                <a:latin typeface="PingFang SC"/>
                <a:ea typeface="PingFang SC"/>
              </a:rPr>
              <a:t>旧条退役并留档</a:t>
            </a:r>
            <a:endParaRPr lang="zh-CN" sz="1125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93" name="圆角矩形 592"/>
          <p:cNvSpPr/>
          <p:nvPr/>
        </p:nvSpPr>
        <p:spPr>
          <a:xfrm>
            <a:off x="82772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4" name="文本框 593" descr="{&quot;isTemplate&quot;:true,&quot;type&quot;:&quot;text&quot;}"/>
          <p:cNvSpPr txBox="1"/>
          <p:nvPr/>
        </p:nvSpPr>
        <p:spPr>
          <a:xfrm>
            <a:off x="83820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已发布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5" name="圆角矩形 594"/>
          <p:cNvSpPr/>
          <p:nvPr/>
        </p:nvSpPr>
        <p:spPr>
          <a:xfrm>
            <a:off x="902017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6" name="文本框 595" descr="{&quot;isTemplate&quot;:true,&quot;type&quot;:&quot;text&quot;}"/>
          <p:cNvSpPr txBox="1"/>
          <p:nvPr/>
        </p:nvSpPr>
        <p:spPr>
          <a:xfrm>
            <a:off x="912495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可引用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7" name="圆角矩形 596"/>
          <p:cNvSpPr/>
          <p:nvPr/>
        </p:nvSpPr>
        <p:spPr>
          <a:xfrm>
            <a:off x="9763125" y="5381625"/>
            <a:ext cx="6667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8" name="文本框 597" descr="{&quot;isTemplate&quot;:true,&quot;type&quot;:&quot;text&quot;}"/>
          <p:cNvSpPr txBox="1"/>
          <p:nvPr/>
        </p:nvSpPr>
        <p:spPr>
          <a:xfrm>
            <a:off x="9867900" y="5429250"/>
            <a:ext cx="4572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可回溯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99" name="任意多边形 598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600" name="文本框 599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601" name="文本框 600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09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企业治理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CONTROL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岗位在 Agent Forge，依据来自知识库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审批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APPROVAL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预填单须销售确认，评审卡须评审人确认，系统不得自行放行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不直接放行合同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审计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AUDIT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685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字段取值、依据条目与确认人可回溯，记录可校验完整性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责任可追溯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熔断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BREAKER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685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异常时停用对应角色，既有审批流程继续执行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先停用再核查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隔离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ISOLATION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按角色区分查阅、办理与审批。合同与报价留存客户环境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数据不出客户环境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10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4" name="" descr="// B · 14 内容页 · 方法论体系 — 四层列表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80, width: 520, height: 360, borderRadius: 26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方法论体系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METHODOLOGY&lt;/Text&gt;&#10;        &lt;Box style={{ flex: 1 }} /&gt;&#10;        &lt;Text style={{ fontSize: 14, color: '#8FA6BC' }}&gt;四层工具，从战略到执行的闭环&lt;/Text&gt;&#10;    &lt;/Box&gt;&#10;&#10;    {/* B · 内容区 */}&#10;    &lt;Box style={{ flex: 1, flexDirection: 'column', justifyContent: 'center', paddingBottom: 20 }}&gt;&#10;        {[&#10;            { no: '01', zh: '战略层', en: 'STRATEGY', items: ['市场规划', '客户规划', '商机规划', '目标分解与达标'] },&#10;            { no: '02', zh: '流程层', en: 'PROCESS', items: ['LTC 全流程', '6W 拜访流程', '销售流程标准化'] },&#10;            { no: '03', zh: '评估层', en: 'ASSESSMENT', items: ['C139 商机质量评估', 'WINNER 客户评估', '漏斗健康度诊断'] },&#10;            { no: '04', zh: '赋能层', en: 'ENABLEMENT', items: ['分层课程体系', '教练式辅导', '项目复盘与迭代'] }&#10;        ].map((r, idx) =&gt; (&#10;            &lt;Box key={idx} style={{ flexDirection: 'row', alignItems: 'center', paddingTop: 24, paddingBottom: 24, borderBottom: idx &lt; 3 ? '1px dashed rgba(143,216,232,0.18)' : 'none' }}&gt;&#10;                &lt;Box style={{ width: 300, flexDirection: 'row', alignItems: 'center', gap: 16 }}&gt;&#10;                    &lt;Text style={{ fontSize: 22, fontWeight: 'bold', color: '#5BC8C8', fontFamily: '&quot;Inter&quot;,&quot;Helvetica Neue&quot;,Arial,sans-serif', letterSpacing: -1 }}&gt;{r.no}&lt;/Text&gt;&#10;                    &lt;Box style={{ width: 1, height: 40, background: 'rgba(143,216,232,0.25)' }} /&gt;&#10;                    &lt;Box style={{ flexDirection: 'column', gap: 7 }}&gt;&#10;                        &lt;Text style={{ fontSize: 22, fontWeight: 'bold', color: '#EAF2F8', letterSpacing: -0.3 }}&gt;{r.zh}&lt;/Text&gt;&#10;                        &lt;Text style={{ fontSize: 11, color: '#5E7590', letterSpacing: 2.5, fontFamily: '&quot;Inter&quot;,&quot;Helvetica Neue&quot;,Arial,sans-serif' }}&gt;{r.en}&lt;/Text&gt;&#10;                    &lt;/Box&gt;&#10;                &lt;/Box&gt;&#10;                &lt;Box style={{ flex: 1, flexDirection: 'row', flexWrap: 'wrap', gap: 10 }}&gt;&#10;                    {r.items.map((it, i) =&gt; (&#10;                        &lt;Box key={i} style={{ padding: '8px 15px', borderRadius: 999, background: 'rgba(91,200,200,0.09)', border: '1px solid rgba(143,216,232,0.22)' }}&gt;&#10;                            &lt;Text style={{ fontSize: 15, color: '#8FD8E8' }}&gt;{it}&lt;/Text&gt;&#10;                        &lt;/Box&gt;&#10;                    ))}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4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矩形 15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156" name="任意多边形 155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157" name="圆角矩形 156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866775" y="476250"/>
            <a:ext cx="15049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运行底座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25241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2686050" y="590550"/>
            <a:ext cx="12763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RUNTIME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构建、运行、治理、观测处于同一底座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62" name="任意多边形 161"/>
          <p:cNvSpPr/>
          <p:nvPr/>
        </p:nvSpPr>
        <p:spPr>
          <a:xfrm>
            <a:off x="685800" y="1190625"/>
            <a:ext cx="10820400" cy="1181100"/>
          </a:xfrm>
          <a:custGeom>
            <a:avLst/>
            <a:gdLst/>
            <a:ahLst/>
            <a:cxnLst/>
            <a:pathLst>
              <a:path w="1136" h="124">
                <a:moveTo>
                  <a:pt x="0" y="123"/>
                </a:moveTo>
                <a:lnTo>
                  <a:pt x="1136" y="123"/>
                </a:lnTo>
                <a:lnTo>
                  <a:pt x="1136" y="124"/>
                </a:lnTo>
                <a:lnTo>
                  <a:pt x="0" y="124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685800" y="1647825"/>
            <a:ext cx="219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-75">
                <a:solidFill>
                  <a:srgbClr val="5BC8C8"/>
                </a:solidFill>
                <a:latin typeface="Inter"/>
                <a:ea typeface="Inter"/>
              </a:rPr>
              <a:t>01</a:t>
            </a:r>
            <a:endParaRPr lang="en-US" sz="16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164" name="矩形 163"/>
          <p:cNvSpPr/>
          <p:nvPr/>
        </p:nvSpPr>
        <p:spPr>
          <a:xfrm>
            <a:off x="1057275" y="1581150"/>
            <a:ext cx="9525" cy="3810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165" name="文本框 164" descr="{&quot;isTemplate&quot;:true,&quot;type&quot;:&quot;text&quot;}"/>
          <p:cNvSpPr txBox="1"/>
          <p:nvPr/>
        </p:nvSpPr>
        <p:spPr>
          <a:xfrm>
            <a:off x="1219200" y="1419225"/>
            <a:ext cx="733425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650" b="1" spc="-22">
                <a:solidFill>
                  <a:srgbClr val="EAF2F8"/>
                </a:solidFill>
                <a:latin typeface="PingFang SC"/>
                <a:ea typeface="PingFang SC"/>
              </a:rPr>
              <a:t>构建</a:t>
            </a:r>
            <a:endParaRPr lang="zh-CN" sz="16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1219200" y="1990725"/>
            <a:ext cx="73342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BUILD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67" name="圆角矩形 166"/>
          <p:cNvSpPr/>
          <p:nvPr/>
        </p:nvSpPr>
        <p:spPr>
          <a:xfrm>
            <a:off x="3543300" y="1609725"/>
            <a:ext cx="8572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3686175" y="16859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分角色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69" name="圆角矩形 168"/>
          <p:cNvSpPr/>
          <p:nvPr/>
        </p:nvSpPr>
        <p:spPr>
          <a:xfrm>
            <a:off x="4495800" y="1609725"/>
            <a:ext cx="8572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4638675" y="16859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有交付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71" name="圆角矩形 170"/>
          <p:cNvSpPr/>
          <p:nvPr/>
        </p:nvSpPr>
        <p:spPr>
          <a:xfrm>
            <a:off x="5448300" y="1609725"/>
            <a:ext cx="8572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2" name="文本框 171" descr="{&quot;isTemplate&quot;:true,&quot;type&quot;:&quot;text&quot;}"/>
          <p:cNvSpPr txBox="1"/>
          <p:nvPr/>
        </p:nvSpPr>
        <p:spPr>
          <a:xfrm>
            <a:off x="5591175" y="16859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分段核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73" name="圆角矩形 172"/>
          <p:cNvSpPr/>
          <p:nvPr/>
        </p:nvSpPr>
        <p:spPr>
          <a:xfrm>
            <a:off x="6400800" y="1609725"/>
            <a:ext cx="1285875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6543675" y="1685925"/>
            <a:ext cx="100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不一次定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75" name="任意多边形 174"/>
          <p:cNvSpPr/>
          <p:nvPr/>
        </p:nvSpPr>
        <p:spPr>
          <a:xfrm>
            <a:off x="685800" y="2362200"/>
            <a:ext cx="10820400" cy="1181100"/>
          </a:xfrm>
          <a:custGeom>
            <a:avLst/>
            <a:gdLst/>
            <a:ahLst/>
            <a:cxnLst/>
            <a:pathLst>
              <a:path w="1136" h="124">
                <a:moveTo>
                  <a:pt x="0" y="123"/>
                </a:moveTo>
                <a:lnTo>
                  <a:pt x="1136" y="123"/>
                </a:lnTo>
                <a:lnTo>
                  <a:pt x="1136" y="124"/>
                </a:lnTo>
                <a:lnTo>
                  <a:pt x="0" y="124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685800" y="2819400"/>
            <a:ext cx="219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-75">
                <a:solidFill>
                  <a:srgbClr val="5BC8C8"/>
                </a:solidFill>
                <a:latin typeface="Inter"/>
                <a:ea typeface="Inter"/>
              </a:rPr>
              <a:t>02</a:t>
            </a:r>
            <a:endParaRPr lang="en-US" sz="16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177" name="矩形 176"/>
          <p:cNvSpPr/>
          <p:nvPr/>
        </p:nvSpPr>
        <p:spPr>
          <a:xfrm>
            <a:off x="1057275" y="2752725"/>
            <a:ext cx="9525" cy="3810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1219200" y="2590800"/>
            <a:ext cx="6667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650" b="1" spc="-22">
                <a:solidFill>
                  <a:srgbClr val="EAF2F8"/>
                </a:solidFill>
                <a:latin typeface="PingFang SC"/>
                <a:ea typeface="PingFang SC"/>
              </a:rPr>
              <a:t>运行</a:t>
            </a:r>
            <a:endParaRPr lang="zh-CN" sz="16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1219200" y="3162300"/>
            <a:ext cx="666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RUN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3543300" y="2781300"/>
            <a:ext cx="10477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3686175" y="2857500"/>
            <a:ext cx="7620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FD8E8"/>
                </a:solidFill>
                <a:latin typeface="PingFang SC"/>
                <a:ea typeface="PingFang SC"/>
              </a:rPr>
              <a:t>进入后启动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4686300" y="2781300"/>
            <a:ext cx="11239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4829175" y="2857500"/>
            <a:ext cx="8382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FD8E8"/>
                </a:solidFill>
                <a:latin typeface="PingFang SC"/>
                <a:ea typeface="PingFang SC"/>
              </a:rPr>
              <a:t>同一路径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84" name="圆角矩形 183"/>
          <p:cNvSpPr/>
          <p:nvPr/>
        </p:nvSpPr>
        <p:spPr>
          <a:xfrm>
            <a:off x="5905500" y="2781300"/>
            <a:ext cx="1285875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6048375" y="2857500"/>
            <a:ext cx="100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确认后写回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86" name="任意多边形 185"/>
          <p:cNvSpPr/>
          <p:nvPr/>
        </p:nvSpPr>
        <p:spPr>
          <a:xfrm>
            <a:off x="685800" y="3533775"/>
            <a:ext cx="10820400" cy="1181100"/>
          </a:xfrm>
          <a:custGeom>
            <a:avLst/>
            <a:gdLst/>
            <a:ahLst/>
            <a:cxnLst/>
            <a:pathLst>
              <a:path w="1136" h="124">
                <a:moveTo>
                  <a:pt x="0" y="123"/>
                </a:moveTo>
                <a:lnTo>
                  <a:pt x="1136" y="123"/>
                </a:lnTo>
                <a:lnTo>
                  <a:pt x="1136" y="124"/>
                </a:lnTo>
                <a:lnTo>
                  <a:pt x="0" y="124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sp>
        <p:nvSpPr>
          <p:cNvPr id="187" name="文本框 186" descr="{&quot;isTemplate&quot;:true,&quot;type&quot;:&quot;text&quot;}"/>
          <p:cNvSpPr txBox="1"/>
          <p:nvPr/>
        </p:nvSpPr>
        <p:spPr>
          <a:xfrm>
            <a:off x="685800" y="3990975"/>
            <a:ext cx="219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-75">
                <a:solidFill>
                  <a:srgbClr val="5BC8C8"/>
                </a:solidFill>
                <a:latin typeface="Inter"/>
                <a:ea typeface="Inter"/>
              </a:rPr>
              <a:t>03</a:t>
            </a:r>
            <a:endParaRPr lang="en-US" sz="16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057275" y="3924300"/>
            <a:ext cx="9525" cy="3810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189" name="文本框 188" descr="{&quot;isTemplate&quot;:true,&quot;type&quot;:&quot;text&quot;}"/>
          <p:cNvSpPr txBox="1"/>
          <p:nvPr/>
        </p:nvSpPr>
        <p:spPr>
          <a:xfrm>
            <a:off x="1219200" y="3762375"/>
            <a:ext cx="9334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650" b="1" spc="-22">
                <a:solidFill>
                  <a:srgbClr val="EAF2F8"/>
                </a:solidFill>
                <a:latin typeface="PingFang SC"/>
                <a:ea typeface="PingFang SC"/>
              </a:rPr>
              <a:t>治理</a:t>
            </a:r>
            <a:endParaRPr lang="zh-CN" sz="16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1219200" y="4333875"/>
            <a:ext cx="933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GOVERN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91" name="圆角矩形 190"/>
          <p:cNvSpPr/>
          <p:nvPr/>
        </p:nvSpPr>
        <p:spPr>
          <a:xfrm>
            <a:off x="3543300" y="3952875"/>
            <a:ext cx="152400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3686175" y="4029075"/>
            <a:ext cx="1238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FD8E8"/>
                </a:solidFill>
                <a:latin typeface="PingFang SC"/>
                <a:ea typeface="PingFang SC"/>
              </a:rPr>
              <a:t>先经确认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93" name="圆角矩形 192"/>
          <p:cNvSpPr/>
          <p:nvPr/>
        </p:nvSpPr>
        <p:spPr>
          <a:xfrm>
            <a:off x="5162550" y="3952875"/>
            <a:ext cx="146685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4" name="文本框 193" descr="{&quot;isTemplate&quot;:true,&quot;type&quot;:&quot;text&quot;}"/>
          <p:cNvSpPr txBox="1"/>
          <p:nvPr/>
        </p:nvSpPr>
        <p:spPr>
          <a:xfrm>
            <a:off x="5305425" y="4029075"/>
            <a:ext cx="11811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FD8E8"/>
                </a:solidFill>
                <a:latin typeface="PingFang SC"/>
                <a:ea typeface="PingFang SC"/>
              </a:rPr>
              <a:t>确认留痕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95" name="圆角矩形 194"/>
          <p:cNvSpPr/>
          <p:nvPr/>
        </p:nvSpPr>
        <p:spPr>
          <a:xfrm>
            <a:off x="6724650" y="3952875"/>
            <a:ext cx="1285875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6867525" y="4029075"/>
            <a:ext cx="100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不代签署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685800" y="5162550"/>
            <a:ext cx="2190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 spc="-75">
                <a:solidFill>
                  <a:srgbClr val="5BC8C8"/>
                </a:solidFill>
                <a:latin typeface="Inter"/>
                <a:ea typeface="Inter"/>
              </a:rPr>
              <a:t>04</a:t>
            </a:r>
            <a:endParaRPr lang="en-US" sz="1650" b="1" spc="-75">
              <a:solidFill>
                <a:srgbClr val="5BC8C8"/>
              </a:solidFill>
              <a:latin typeface="Inter"/>
              <a:ea typeface="Inter"/>
            </a:endParaRPr>
          </a:p>
        </p:txBody>
      </p:sp>
      <p:sp>
        <p:nvSpPr>
          <p:cNvPr id="198" name="矩形 197"/>
          <p:cNvSpPr/>
          <p:nvPr/>
        </p:nvSpPr>
        <p:spPr>
          <a:xfrm>
            <a:off x="1057275" y="5095875"/>
            <a:ext cx="9525" cy="381000"/>
          </a:xfrm>
          <a:prstGeom prst="rect">
            <a:avLst/>
          </a:prstGeom>
          <a:solidFill>
            <a:srgbClr val="8FD8E8">
              <a:alpha val="25000"/>
            </a:srgbClr>
          </a:solidFill>
        </p:spPr>
        <p:txBody>
          <a:bodyPr/>
          <a:p/>
        </p:txBody>
      </p:sp>
      <p:sp>
        <p:nvSpPr>
          <p:cNvPr id="199" name="文本框 198" descr="{&quot;isTemplate&quot;:true,&quot;type&quot;:&quot;text&quot;}"/>
          <p:cNvSpPr txBox="1"/>
          <p:nvPr/>
        </p:nvSpPr>
        <p:spPr>
          <a:xfrm>
            <a:off x="1219200" y="4933950"/>
            <a:ext cx="9334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650" b="1" spc="-22">
                <a:solidFill>
                  <a:srgbClr val="EAF2F8"/>
                </a:solidFill>
                <a:latin typeface="PingFang SC"/>
                <a:ea typeface="PingFang SC"/>
              </a:rPr>
              <a:t>观测</a:t>
            </a:r>
            <a:endParaRPr lang="zh-CN" sz="165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200" name="文本框 199" descr="{&quot;isTemplate&quot;:true,&quot;type&quot;:&quot;text&quot;}"/>
          <p:cNvSpPr txBox="1"/>
          <p:nvPr/>
        </p:nvSpPr>
        <p:spPr>
          <a:xfrm>
            <a:off x="1219200" y="5505450"/>
            <a:ext cx="9334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OBSERVE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01" name="圆角矩形 200"/>
          <p:cNvSpPr/>
          <p:nvPr/>
        </p:nvSpPr>
        <p:spPr>
          <a:xfrm>
            <a:off x="3543300" y="5124450"/>
            <a:ext cx="1143000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3686175" y="5200650"/>
            <a:ext cx="857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回看输入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4781550" y="5124450"/>
            <a:ext cx="1000125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4924425" y="5200650"/>
            <a:ext cx="7143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回看依据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876925" y="5124450"/>
            <a:ext cx="1285875" cy="323850"/>
          </a:xfrm>
          <a:prstGeom prst="roundRect">
            <a:avLst>
              <a:gd name="adj" fmla="val 2938235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6019800" y="5200650"/>
            <a:ext cx="1000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D8E8"/>
                </a:solidFill>
                <a:latin typeface="PingFang SC"/>
                <a:ea typeface="PingFang SC"/>
              </a:rPr>
              <a:t>可再复核</a:t>
            </a:r>
            <a:endParaRPr lang="zh-CN" sz="1125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207" name="任意多边形 20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11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4000500" y="1714500"/>
            <a:ext cx="4953000" cy="3429000"/>
          </a:xfrm>
          <a:prstGeom prst="roundRect">
            <a:avLst>
              <a:gd name="adj" fmla="val 72222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4" name="" descr="// B · 14 内容页 · 方法论体系 — 四层列表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80, width: 520, height: 360, borderRadius: 26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方法论体系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METHODOLOGY&lt;/Text&gt;&#10;        &lt;Box style={{ flex: 1 }} /&gt;&#10;        &lt;Text style={{ fontSize: 14, color: '#8FA6BC' }}&gt;四层工具，从战略到执行的闭环&lt;/Text&gt;&#10;    &lt;/Box&gt;&#10;&#10;    {/* B · 内容区 */}&#10;    &lt;Box style={{ flex: 1, flexDirection: 'column', justifyContent: 'center', paddingBottom: 20 }}&gt;&#10;        {[&#10;            { no: '01', zh: '战略层', en: 'STRATEGY', items: ['市场规划', '客户规划', '商机规划', '目标分解与达标'] },&#10;            { no: '02', zh: '流程层', en: 'PROCESS', items: ['LTC 全流程', '6W 拜访流程', '销售流程标准化'] },&#10;            { no: '03', zh: '评估层', en: 'ASSESSMENT', items: ['C139 商机质量评估', 'WINNER 客户评估', '漏斗健康度诊断'] },&#10;            { no: '04', zh: '赋能层', en: 'ENABLEMENT', items: ['分层课程体系', '教练式辅导', '项目复盘与迭代'] }&#10;        ].map((r, idx) =&gt; (&#10;            &lt;Box key={idx} style={{ flexDirection: 'row', alignItems: 'center', paddingTop: 24, paddingBottom: 24, borderBottom: idx &lt; 3 ? '1px dashed rgba(143,216,232,0.18)' : 'none' }}&gt;&#10;                &lt;Box style={{ width: 300, flexDirection: 'row', alignItems: 'center', gap: 16 }}&gt;&#10;                    &lt;Text style={{ fontSize: 22, fontWeight: 'bold', color: '#5BC8C8', fontFamily: '&quot;Inter&quot;,&quot;Helvetica Neue&quot;,Arial,sans-serif', letterSpacing: -1 }}&gt;{r.no}&lt;/Text&gt;&#10;                    &lt;Box style={{ width: 1, height: 40, background: 'rgba(143,216,232,0.25)' }} /&gt;&#10;                    &lt;Box style={{ flexDirection: 'column', gap: 7 }}&gt;&#10;                        &lt;Text style={{ fontSize: 22, fontWeight: 'bold', color: '#EAF2F8', letterSpacing: -0.3 }}&gt;{r.zh}&lt;/Text&gt;&#10;                        &lt;Text style={{ fontSize: 11, color: '#5E7590', letterSpacing: 2.5, fontFamily: '&quot;Inter&quot;,&quot;Helvetica Neue&quot;,Arial,sans-serif' }}&gt;{r.en}&lt;/Text&gt;&#10;                    &lt;/Box&gt;&#10;                &lt;/Box&gt;&#10;                &lt;Box style={{ flex: 1, flexDirection: 'row', flexWrap: 'wrap', gap: 10 }}&gt;&#10;                    {r.items.map((it, i) =&gt; (&#10;                        &lt;Box key={i} style={{ padding: '8px 15px', borderRadius: 999, background: 'rgba(91,200,200,0.09)', border: '1px solid rgba(143,216,232,0.22)' }}&gt;&#10;                            &lt;Text style={{ fontSize: 15, color: '#8FD8E8' }}&gt;{it}&lt;/Text&gt;&#10;                        &lt;/Box&gt;&#10;                    ))}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4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矩形 15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156" name="任意多边形 155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157" name="圆角矩形 156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866775" y="476250"/>
            <a:ext cx="15049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alt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AGENT</a:t>
            </a:r>
            <a:r>
              <a:rPr lang="zh-CN" altLang="en-US" sz="2400" b="1" spc="-37">
                <a:solidFill>
                  <a:srgbClr val="EAF2F8"/>
                </a:solidFill>
                <a:latin typeface="PingFang SC"/>
                <a:ea typeface="宋体" charset="0"/>
              </a:rPr>
              <a:t>管理平台</a:t>
            </a:r>
            <a:endParaRPr lang="zh-CN" altLang="en-US" sz="2400" b="1" spc="-37">
              <a:solidFill>
                <a:srgbClr val="EAF2F8"/>
              </a:solidFill>
              <a:latin typeface="PingFang SC"/>
              <a:ea typeface="宋体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25241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3362325" y="600075"/>
            <a:ext cx="12763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AGENTFORGE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协作、运行与角色，高风险审批与</a:t>
            </a:r>
            <a:r>
              <a:rPr lang="en-US" altLang="zh-CN" sz="1050">
                <a:solidFill>
                  <a:srgbClr val="8FA6BC"/>
                </a:solidFill>
                <a:latin typeface="PingFang SC"/>
                <a:ea typeface="PingFang SC"/>
              </a:rPr>
              <a:t>HITL</a:t>
            </a:r>
            <a:endParaRPr lang="en-US" alt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207" name="任意多边形 20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11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" name="图片 0" descr="合同录入与评审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205" y="1275715"/>
            <a:ext cx="5443855" cy="4360545"/>
          </a:xfrm>
          <a:prstGeom prst="rect">
            <a:avLst/>
          </a:prstGeom>
        </p:spPr>
      </p:pic>
      <p:pic>
        <p:nvPicPr>
          <p:cNvPr id="2" name="图片 1" descr="合同角色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5865" y="1294765"/>
            <a:ext cx="5420360" cy="4341495"/>
          </a:xfrm>
          <a:prstGeom prst="rect">
            <a:avLst/>
          </a:prstGeom>
        </p:spPr>
      </p:pic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1464310" y="5682615"/>
            <a:ext cx="3174365" cy="36703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altLang="en-US" sz="1200">
                <a:solidFill>
                  <a:srgbClr val="9FB4C6"/>
                </a:solidFill>
                <a:latin typeface="PingFang SC"/>
                <a:ea typeface="宋体" charset="0"/>
              </a:rPr>
              <a:t>协作中配置合同录入与评审业务流水线</a:t>
            </a:r>
            <a:endParaRPr lang="zh-CN" altLang="en-US" sz="1200">
              <a:solidFill>
                <a:srgbClr val="9FB4C6"/>
              </a:solidFill>
              <a:latin typeface="PingFang SC"/>
              <a:ea typeface="宋体" charset="0"/>
            </a:endParaRPr>
          </a:p>
        </p:txBody>
      </p:sp>
      <p:sp>
        <p:nvSpPr>
          <p:cNvPr id="3" name="文本框 2" descr="{&quot;isTemplate&quot;:true,&quot;type&quot;:&quot;text&quot;}"/>
          <p:cNvSpPr txBox="1"/>
          <p:nvPr/>
        </p:nvSpPr>
        <p:spPr>
          <a:xfrm>
            <a:off x="7636510" y="5682615"/>
            <a:ext cx="3174365" cy="36703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altLang="en-US" sz="1200">
                <a:solidFill>
                  <a:srgbClr val="9FB4C6"/>
                </a:solidFill>
                <a:latin typeface="PingFang SC"/>
                <a:ea typeface="宋体" charset="0"/>
              </a:rPr>
              <a:t>角色按岗位进行拆分与定义，界定能力范围</a:t>
            </a:r>
            <a:endParaRPr lang="zh-CN" altLang="en-US" sz="1200">
              <a:solidFill>
                <a:srgbClr val="9FB4C6"/>
              </a:solidFill>
              <a:latin typeface="PingFang SC"/>
              <a:ea typeface="宋体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30" name="" descr="// B · 07 章节过渡 — 巨型编号 + 底部辉光&#10;&lt;Slide style={{ width: 1280, height: 720, background: '#081322', position: 'relative', overflow: 'hidden', fontFamily: '&quot;PingFang SC&quot;,&quot;Source Han Sans SC&quot;,&quot;Microsoft YaHei&quot;,sans-serif' }}&gt;&#10;&#10;    {/* 装饰：底部辉光 */}&#10;    &lt;Box style={{ position: 'absolute', left: 160, bottom: -300, width: 960, height: 560, borderRadius: 480, background: 'radial-gradient(circle, rgba(91,200,200,0.24) 0%, rgba(8,19,34,0) 70%)' }} /&gt;&#10;    {/* 装饰：同心细环 */}&#10;    &lt;Box style={{ position: 'absolute', right: -200, top: -140, width: 640, height: 640, borderRadius: 320, background: 'radial-gradient(circle, rgba(143,216,232,0) 60%, rgba(143,216,232,0.16) 62%, rgba(143,216,232,0.16) 63%, rgba(143,216,232,0) 65%)' }} /&gt;&#10;    &lt;Box style={{ position: 'absolute', right: -80, top: -20, width: 440, height: 440, borderRadius: 220, background: 'radial-gradient(circle, rgba(199,169,107,0) 60%, rgba(199,169,107,0.18) 62%, rgba(199,169,107,0.18) 63%, rgba(199,169,107,0) 65%)' }} /&gt;&#10;&#10;    {/* 顶部品牌 */}&#10;    &lt;Box style={{ position: 'absolute', left: 72, top: 54, flexDirection: 'row', alignItems: 'center', gap: 14 }}&gt;&#10;        &lt;Image src=&quot;assets/badge.png&quot; style={{ width: 36, height: 40 }} /&gt;&#10;        &lt;Box style={{ flexDirection: 'column', gap: 2 }}&gt;&#10;            &lt;Image src=&quot;assets/logo_zh_light.png&quot; style={{ width: 158, height: 36 }} /&gt;&#10;            &lt;Image src=&quot;assets/logo_en_light.png&quot; style={{ width: 158, height: 16 }} /&gt;&#10;        &lt;/Box&gt;&#10;    &lt;/Box&gt;&#10;&#10;    {/* 巨型编号 */}&#10;    &lt;Text style={{ position: 'absolute', right: 60, top: 336, fontSize: 220, fontWeight: 'bold', color: 'rgba(143,216,232,0.22)', lineHeight: 1, letterSpacing: -12, fontFamily: '&quot;Inter&quot;,&quot;Helvetica Neue&quot;,Arial,sans-serif' }}&gt;&#10;        02&#10;    &lt;/Text&gt;&#10;&#10;    {/* 章节信息 */}&#10;    &lt;Box style={{ position: 'absolute', left: 72, top: 272, flexDirection: 'column' }}&gt;&#10;        &lt;Text style={{ fontSize: 14, fontWeight: 'bold', color: '#C7A96B', letterSpacing: 5, fontFamily: '&quot;Inter&quot;,&quot;Helvetica Neue&quot;,Arial,sans-serif' }}&gt;&#10;            PART 02&#10;        &lt;/Text&gt;&#10;        &lt;Text style={{ fontSize: 64, fontWeight: 'bold', color: '#EAF2F8', lineHeight: 1.15, letterSpacing: -1, marginTop: 18 }}&gt;&#10;            服务体系&#10;        &lt;/Text&gt;&#10;        &lt;Box style={{ width: 64, height: 4, background: 'linear-gradient(135deg, #8FD8E8 0%, #3FA8BF 100%)', borderRadius: 2, marginTop: 24 }} /&gt;&#10;        &lt;Text style={{ fontSize: 20, color: '#8FA6BC', lineHeight: 1.6, marginTop: 22 }}&gt;&#10;            从诊断到落地，一套可复制的服务与交付体系&#10;        &lt;/Text&gt;&#10;    &lt;/Box&gt;&#10;&#10;    {/* 底部锚点 */}&#10;    &lt;Box style={{ position: 'absolute', left: 72, bottom: 56, flexDirection: 'row', alignItems: 'center', gap: 14 }}&gt;&#10;        &lt;Box style={{ width: 28, height: 1, background: 'rgba(199,169,107,0.7)' }} /&gt;&#10;        &lt;Text style={{ fontSize: 13, color: '#6E86A0', letterSpacing: 3, fontFamily: '&quot;Inter&quot;,&quot;Helvetica Neue&quot;,Arial,sans-serif' }}&gt;&#10;            DISHENG CONSULTING · 2026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矩形 4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32" name="任意多边形 431"/>
          <p:cNvSpPr/>
          <p:nvPr/>
        </p:nvSpPr>
        <p:spPr>
          <a:xfrm>
            <a:off x="1524000" y="4381500"/>
            <a:ext cx="9144000" cy="5334000"/>
          </a:xfrm>
          <a:custGeom>
            <a:avLst/>
            <a:gdLst/>
            <a:ahLst/>
            <a:cxnLst/>
            <a:pathLst>
              <a:path w="960" h="560">
                <a:moveTo>
                  <a:pt x="687" y="0"/>
                </a:moveTo>
                <a:lnTo>
                  <a:pt x="694" y="0"/>
                </a:lnTo>
                <a:lnTo>
                  <a:pt x="702" y="1"/>
                </a:lnTo>
                <a:lnTo>
                  <a:pt x="709" y="1"/>
                </a:lnTo>
                <a:lnTo>
                  <a:pt x="716" y="2"/>
                </a:lnTo>
                <a:lnTo>
                  <a:pt x="723" y="3"/>
                </a:lnTo>
                <a:lnTo>
                  <a:pt x="730" y="4"/>
                </a:lnTo>
                <a:lnTo>
                  <a:pt x="736" y="6"/>
                </a:lnTo>
                <a:lnTo>
                  <a:pt x="743" y="7"/>
                </a:lnTo>
                <a:lnTo>
                  <a:pt x="750" y="9"/>
                </a:lnTo>
                <a:lnTo>
                  <a:pt x="757" y="11"/>
                </a:lnTo>
                <a:lnTo>
                  <a:pt x="763" y="13"/>
                </a:lnTo>
                <a:lnTo>
                  <a:pt x="770" y="15"/>
                </a:lnTo>
                <a:lnTo>
                  <a:pt x="776" y="17"/>
                </a:lnTo>
                <a:lnTo>
                  <a:pt x="783" y="19"/>
                </a:lnTo>
                <a:lnTo>
                  <a:pt x="789" y="22"/>
                </a:lnTo>
                <a:lnTo>
                  <a:pt x="795" y="25"/>
                </a:lnTo>
                <a:lnTo>
                  <a:pt x="801" y="28"/>
                </a:lnTo>
                <a:lnTo>
                  <a:pt x="807" y="31"/>
                </a:lnTo>
                <a:lnTo>
                  <a:pt x="813" y="34"/>
                </a:lnTo>
                <a:lnTo>
                  <a:pt x="819" y="37"/>
                </a:lnTo>
                <a:lnTo>
                  <a:pt x="825" y="41"/>
                </a:lnTo>
                <a:lnTo>
                  <a:pt x="831" y="44"/>
                </a:lnTo>
                <a:lnTo>
                  <a:pt x="837" y="48"/>
                </a:lnTo>
                <a:lnTo>
                  <a:pt x="842" y="52"/>
                </a:lnTo>
                <a:lnTo>
                  <a:pt x="847" y="56"/>
                </a:lnTo>
                <a:lnTo>
                  <a:pt x="853" y="60"/>
                </a:lnTo>
                <a:lnTo>
                  <a:pt x="858" y="64"/>
                </a:lnTo>
                <a:lnTo>
                  <a:pt x="863" y="68"/>
                </a:lnTo>
                <a:lnTo>
                  <a:pt x="868" y="73"/>
                </a:lnTo>
                <a:lnTo>
                  <a:pt x="873" y="77"/>
                </a:lnTo>
                <a:lnTo>
                  <a:pt x="878" y="82"/>
                </a:lnTo>
                <a:lnTo>
                  <a:pt x="883" y="87"/>
                </a:lnTo>
                <a:lnTo>
                  <a:pt x="887" y="92"/>
                </a:lnTo>
                <a:lnTo>
                  <a:pt x="892" y="97"/>
                </a:lnTo>
                <a:lnTo>
                  <a:pt x="896" y="102"/>
                </a:lnTo>
                <a:lnTo>
                  <a:pt x="900" y="107"/>
                </a:lnTo>
                <a:lnTo>
                  <a:pt x="904" y="113"/>
                </a:lnTo>
                <a:lnTo>
                  <a:pt x="908" y="118"/>
                </a:lnTo>
                <a:lnTo>
                  <a:pt x="912" y="123"/>
                </a:lnTo>
                <a:lnTo>
                  <a:pt x="916" y="129"/>
                </a:lnTo>
                <a:lnTo>
                  <a:pt x="919" y="135"/>
                </a:lnTo>
                <a:lnTo>
                  <a:pt x="923" y="141"/>
                </a:lnTo>
                <a:lnTo>
                  <a:pt x="926" y="147"/>
                </a:lnTo>
                <a:lnTo>
                  <a:pt x="929" y="153"/>
                </a:lnTo>
                <a:lnTo>
                  <a:pt x="932" y="159"/>
                </a:lnTo>
                <a:lnTo>
                  <a:pt x="935" y="165"/>
                </a:lnTo>
                <a:lnTo>
                  <a:pt x="938" y="171"/>
                </a:lnTo>
                <a:lnTo>
                  <a:pt x="941" y="177"/>
                </a:lnTo>
                <a:lnTo>
                  <a:pt x="943" y="184"/>
                </a:lnTo>
                <a:lnTo>
                  <a:pt x="945" y="190"/>
                </a:lnTo>
                <a:lnTo>
                  <a:pt x="947" y="197"/>
                </a:lnTo>
                <a:lnTo>
                  <a:pt x="949" y="203"/>
                </a:lnTo>
                <a:lnTo>
                  <a:pt x="951" y="210"/>
                </a:lnTo>
                <a:lnTo>
                  <a:pt x="953" y="217"/>
                </a:lnTo>
                <a:lnTo>
                  <a:pt x="954" y="224"/>
                </a:lnTo>
                <a:lnTo>
                  <a:pt x="956" y="230"/>
                </a:lnTo>
                <a:lnTo>
                  <a:pt x="957" y="237"/>
                </a:lnTo>
                <a:lnTo>
                  <a:pt x="958" y="244"/>
                </a:lnTo>
                <a:lnTo>
                  <a:pt x="959" y="251"/>
                </a:lnTo>
                <a:lnTo>
                  <a:pt x="959" y="258"/>
                </a:lnTo>
                <a:lnTo>
                  <a:pt x="959" y="260"/>
                </a:lnTo>
                <a:lnTo>
                  <a:pt x="1" y="260"/>
                </a:lnTo>
                <a:lnTo>
                  <a:pt x="1" y="258"/>
                </a:lnTo>
                <a:lnTo>
                  <a:pt x="1" y="251"/>
                </a:lnTo>
                <a:lnTo>
                  <a:pt x="2" y="244"/>
                </a:lnTo>
                <a:lnTo>
                  <a:pt x="3" y="237"/>
                </a:lnTo>
                <a:lnTo>
                  <a:pt x="4" y="230"/>
                </a:lnTo>
                <a:lnTo>
                  <a:pt x="6" y="224"/>
                </a:lnTo>
                <a:lnTo>
                  <a:pt x="7" y="217"/>
                </a:lnTo>
                <a:lnTo>
                  <a:pt x="9" y="210"/>
                </a:lnTo>
                <a:lnTo>
                  <a:pt x="11" y="203"/>
                </a:lnTo>
                <a:lnTo>
                  <a:pt x="13" y="197"/>
                </a:lnTo>
                <a:lnTo>
                  <a:pt x="15" y="190"/>
                </a:lnTo>
                <a:lnTo>
                  <a:pt x="17" y="184"/>
                </a:lnTo>
                <a:lnTo>
                  <a:pt x="19" y="177"/>
                </a:lnTo>
                <a:lnTo>
                  <a:pt x="22" y="171"/>
                </a:lnTo>
                <a:lnTo>
                  <a:pt x="25" y="165"/>
                </a:lnTo>
                <a:lnTo>
                  <a:pt x="28" y="159"/>
                </a:lnTo>
                <a:lnTo>
                  <a:pt x="31" y="153"/>
                </a:lnTo>
                <a:lnTo>
                  <a:pt x="34" y="147"/>
                </a:lnTo>
                <a:lnTo>
                  <a:pt x="37" y="141"/>
                </a:lnTo>
                <a:lnTo>
                  <a:pt x="41" y="135"/>
                </a:lnTo>
                <a:lnTo>
                  <a:pt x="44" y="129"/>
                </a:lnTo>
                <a:lnTo>
                  <a:pt x="48" y="123"/>
                </a:lnTo>
                <a:lnTo>
                  <a:pt x="52" y="118"/>
                </a:lnTo>
                <a:lnTo>
                  <a:pt x="56" y="113"/>
                </a:lnTo>
                <a:lnTo>
                  <a:pt x="60" y="107"/>
                </a:lnTo>
                <a:lnTo>
                  <a:pt x="64" y="102"/>
                </a:lnTo>
                <a:lnTo>
                  <a:pt x="68" y="97"/>
                </a:lnTo>
                <a:lnTo>
                  <a:pt x="73" y="92"/>
                </a:lnTo>
                <a:lnTo>
                  <a:pt x="77" y="87"/>
                </a:lnTo>
                <a:lnTo>
                  <a:pt x="82" y="82"/>
                </a:lnTo>
                <a:lnTo>
                  <a:pt x="87" y="77"/>
                </a:lnTo>
                <a:lnTo>
                  <a:pt x="92" y="73"/>
                </a:lnTo>
                <a:lnTo>
                  <a:pt x="97" y="68"/>
                </a:lnTo>
                <a:lnTo>
                  <a:pt x="102" y="64"/>
                </a:lnTo>
                <a:lnTo>
                  <a:pt x="107" y="60"/>
                </a:lnTo>
                <a:lnTo>
                  <a:pt x="113" y="56"/>
                </a:lnTo>
                <a:lnTo>
                  <a:pt x="118" y="52"/>
                </a:lnTo>
                <a:lnTo>
                  <a:pt x="123" y="48"/>
                </a:lnTo>
                <a:lnTo>
                  <a:pt x="129" y="44"/>
                </a:lnTo>
                <a:lnTo>
                  <a:pt x="135" y="41"/>
                </a:lnTo>
                <a:lnTo>
                  <a:pt x="141" y="37"/>
                </a:lnTo>
                <a:lnTo>
                  <a:pt x="147" y="34"/>
                </a:lnTo>
                <a:lnTo>
                  <a:pt x="153" y="31"/>
                </a:lnTo>
                <a:lnTo>
                  <a:pt x="159" y="28"/>
                </a:lnTo>
                <a:lnTo>
                  <a:pt x="165" y="25"/>
                </a:lnTo>
                <a:lnTo>
                  <a:pt x="171" y="22"/>
                </a:lnTo>
                <a:lnTo>
                  <a:pt x="177" y="19"/>
                </a:lnTo>
                <a:lnTo>
                  <a:pt x="184" y="17"/>
                </a:lnTo>
                <a:lnTo>
                  <a:pt x="190" y="15"/>
                </a:lnTo>
                <a:lnTo>
                  <a:pt x="197" y="13"/>
                </a:lnTo>
                <a:lnTo>
                  <a:pt x="203" y="11"/>
                </a:lnTo>
                <a:lnTo>
                  <a:pt x="210" y="9"/>
                </a:lnTo>
                <a:lnTo>
                  <a:pt x="217" y="7"/>
                </a:lnTo>
                <a:lnTo>
                  <a:pt x="224" y="6"/>
                </a:lnTo>
                <a:lnTo>
                  <a:pt x="230" y="4"/>
                </a:lnTo>
                <a:lnTo>
                  <a:pt x="237" y="3"/>
                </a:lnTo>
                <a:lnTo>
                  <a:pt x="244" y="2"/>
                </a:lnTo>
                <a:lnTo>
                  <a:pt x="251" y="1"/>
                </a:lnTo>
                <a:lnTo>
                  <a:pt x="258" y="1"/>
                </a:lnTo>
                <a:lnTo>
                  <a:pt x="266" y="0"/>
                </a:lnTo>
                <a:lnTo>
                  <a:pt x="273" y="0"/>
                </a:lnTo>
                <a:lnTo>
                  <a:pt x="280" y="0"/>
                </a:lnTo>
                <a:lnTo>
                  <a:pt x="680" y="0"/>
                </a:lnTo>
                <a:close/>
              </a:path>
            </a:pathLst>
          </a:custGeom>
          <a:gradFill>
            <a:gsLst>
              <a:gs pos="0">
                <a:srgbClr val="5BC8C8">
                  <a:alpha val="24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33" name="任意多边形 432"/>
          <p:cNvSpPr/>
          <p:nvPr/>
        </p:nvSpPr>
        <p:spPr>
          <a:xfrm>
            <a:off x="8001000" y="-1333500"/>
            <a:ext cx="6096000" cy="6096000"/>
          </a:xfrm>
          <a:custGeom>
            <a:avLst/>
            <a:gdLst/>
            <a:ahLst/>
            <a:cxnLst/>
            <a:pathLst>
              <a:path w="640" h="640">
                <a:moveTo>
                  <a:pt x="440" y="617"/>
                </a:moveTo>
                <a:lnTo>
                  <a:pt x="437" y="618"/>
                </a:lnTo>
                <a:lnTo>
                  <a:pt x="430" y="621"/>
                </a:lnTo>
                <a:lnTo>
                  <a:pt x="423" y="623"/>
                </a:lnTo>
                <a:lnTo>
                  <a:pt x="415" y="626"/>
                </a:lnTo>
                <a:lnTo>
                  <a:pt x="408" y="628"/>
                </a:lnTo>
                <a:lnTo>
                  <a:pt x="400" y="630"/>
                </a:lnTo>
                <a:lnTo>
                  <a:pt x="392" y="632"/>
                </a:lnTo>
                <a:lnTo>
                  <a:pt x="384" y="633"/>
                </a:lnTo>
                <a:lnTo>
                  <a:pt x="377" y="635"/>
                </a:lnTo>
                <a:lnTo>
                  <a:pt x="369" y="636"/>
                </a:lnTo>
                <a:lnTo>
                  <a:pt x="361" y="637"/>
                </a:lnTo>
                <a:lnTo>
                  <a:pt x="353" y="638"/>
                </a:lnTo>
                <a:lnTo>
                  <a:pt x="345" y="639"/>
                </a:lnTo>
                <a:lnTo>
                  <a:pt x="336" y="640"/>
                </a:lnTo>
                <a:lnTo>
                  <a:pt x="328" y="640"/>
                </a:lnTo>
                <a:lnTo>
                  <a:pt x="320" y="640"/>
                </a:lnTo>
                <a:lnTo>
                  <a:pt x="312" y="640"/>
                </a:lnTo>
                <a:lnTo>
                  <a:pt x="304" y="640"/>
                </a:lnTo>
                <a:lnTo>
                  <a:pt x="295" y="639"/>
                </a:lnTo>
                <a:lnTo>
                  <a:pt x="287" y="638"/>
                </a:lnTo>
                <a:lnTo>
                  <a:pt x="279" y="637"/>
                </a:lnTo>
                <a:lnTo>
                  <a:pt x="271" y="636"/>
                </a:lnTo>
                <a:lnTo>
                  <a:pt x="263" y="635"/>
                </a:lnTo>
                <a:lnTo>
                  <a:pt x="256" y="633"/>
                </a:lnTo>
                <a:lnTo>
                  <a:pt x="248" y="632"/>
                </a:lnTo>
                <a:lnTo>
                  <a:pt x="240" y="630"/>
                </a:lnTo>
                <a:lnTo>
                  <a:pt x="232" y="628"/>
                </a:lnTo>
                <a:lnTo>
                  <a:pt x="225" y="626"/>
                </a:lnTo>
                <a:lnTo>
                  <a:pt x="217" y="623"/>
                </a:lnTo>
                <a:lnTo>
                  <a:pt x="210" y="621"/>
                </a:lnTo>
                <a:lnTo>
                  <a:pt x="203" y="618"/>
                </a:lnTo>
                <a:lnTo>
                  <a:pt x="195" y="615"/>
                </a:lnTo>
                <a:lnTo>
                  <a:pt x="188" y="612"/>
                </a:lnTo>
                <a:lnTo>
                  <a:pt x="181" y="608"/>
                </a:lnTo>
                <a:lnTo>
                  <a:pt x="174" y="605"/>
                </a:lnTo>
                <a:lnTo>
                  <a:pt x="168" y="601"/>
                </a:lnTo>
                <a:lnTo>
                  <a:pt x="161" y="598"/>
                </a:lnTo>
                <a:lnTo>
                  <a:pt x="154" y="594"/>
                </a:lnTo>
                <a:lnTo>
                  <a:pt x="148" y="590"/>
                </a:lnTo>
                <a:lnTo>
                  <a:pt x="141" y="585"/>
                </a:lnTo>
                <a:lnTo>
                  <a:pt x="135" y="581"/>
                </a:lnTo>
                <a:lnTo>
                  <a:pt x="129" y="576"/>
                </a:lnTo>
                <a:lnTo>
                  <a:pt x="122" y="572"/>
                </a:lnTo>
                <a:lnTo>
                  <a:pt x="116" y="567"/>
                </a:lnTo>
                <a:lnTo>
                  <a:pt x="111" y="562"/>
                </a:lnTo>
                <a:lnTo>
                  <a:pt x="105" y="557"/>
                </a:lnTo>
                <a:lnTo>
                  <a:pt x="99" y="552"/>
                </a:lnTo>
                <a:lnTo>
                  <a:pt x="94" y="546"/>
                </a:lnTo>
                <a:lnTo>
                  <a:pt x="88" y="541"/>
                </a:lnTo>
                <a:lnTo>
                  <a:pt x="83" y="535"/>
                </a:lnTo>
                <a:lnTo>
                  <a:pt x="78" y="529"/>
                </a:lnTo>
                <a:lnTo>
                  <a:pt x="73" y="524"/>
                </a:lnTo>
                <a:lnTo>
                  <a:pt x="68" y="518"/>
                </a:lnTo>
                <a:lnTo>
                  <a:pt x="64" y="511"/>
                </a:lnTo>
                <a:lnTo>
                  <a:pt x="59" y="505"/>
                </a:lnTo>
                <a:lnTo>
                  <a:pt x="55" y="499"/>
                </a:lnTo>
                <a:lnTo>
                  <a:pt x="50" y="492"/>
                </a:lnTo>
                <a:lnTo>
                  <a:pt x="46" y="486"/>
                </a:lnTo>
                <a:lnTo>
                  <a:pt x="42" y="479"/>
                </a:lnTo>
                <a:lnTo>
                  <a:pt x="39" y="472"/>
                </a:lnTo>
                <a:lnTo>
                  <a:pt x="35" y="466"/>
                </a:lnTo>
                <a:lnTo>
                  <a:pt x="32" y="459"/>
                </a:lnTo>
                <a:lnTo>
                  <a:pt x="28" y="452"/>
                </a:lnTo>
                <a:lnTo>
                  <a:pt x="25" y="445"/>
                </a:lnTo>
                <a:lnTo>
                  <a:pt x="22" y="437"/>
                </a:lnTo>
                <a:lnTo>
                  <a:pt x="19" y="430"/>
                </a:lnTo>
                <a:lnTo>
                  <a:pt x="17" y="423"/>
                </a:lnTo>
                <a:lnTo>
                  <a:pt x="14" y="415"/>
                </a:lnTo>
                <a:lnTo>
                  <a:pt x="12" y="408"/>
                </a:lnTo>
                <a:lnTo>
                  <a:pt x="10" y="400"/>
                </a:lnTo>
                <a:lnTo>
                  <a:pt x="8" y="392"/>
                </a:lnTo>
                <a:lnTo>
                  <a:pt x="7" y="384"/>
                </a:lnTo>
                <a:lnTo>
                  <a:pt x="5" y="377"/>
                </a:lnTo>
                <a:lnTo>
                  <a:pt x="4" y="369"/>
                </a:lnTo>
                <a:lnTo>
                  <a:pt x="3" y="361"/>
                </a:lnTo>
                <a:lnTo>
                  <a:pt x="2" y="353"/>
                </a:lnTo>
                <a:lnTo>
                  <a:pt x="1" y="345"/>
                </a:lnTo>
                <a:lnTo>
                  <a:pt x="0" y="336"/>
                </a:lnTo>
                <a:lnTo>
                  <a:pt x="0" y="328"/>
                </a:lnTo>
                <a:lnTo>
                  <a:pt x="0" y="320"/>
                </a:lnTo>
                <a:lnTo>
                  <a:pt x="0" y="312"/>
                </a:lnTo>
                <a:lnTo>
                  <a:pt x="0" y="304"/>
                </a:lnTo>
                <a:lnTo>
                  <a:pt x="1" y="295"/>
                </a:lnTo>
                <a:lnTo>
                  <a:pt x="2" y="287"/>
                </a:lnTo>
                <a:lnTo>
                  <a:pt x="3" y="279"/>
                </a:lnTo>
                <a:lnTo>
                  <a:pt x="4" y="271"/>
                </a:lnTo>
                <a:lnTo>
                  <a:pt x="5" y="263"/>
                </a:lnTo>
                <a:lnTo>
                  <a:pt x="7" y="256"/>
                </a:lnTo>
                <a:lnTo>
                  <a:pt x="8" y="248"/>
                </a:lnTo>
                <a:lnTo>
                  <a:pt x="10" y="240"/>
                </a:lnTo>
                <a:lnTo>
                  <a:pt x="12" y="232"/>
                </a:lnTo>
                <a:lnTo>
                  <a:pt x="14" y="225"/>
                </a:lnTo>
                <a:lnTo>
                  <a:pt x="17" y="217"/>
                </a:lnTo>
                <a:lnTo>
                  <a:pt x="19" y="210"/>
                </a:lnTo>
                <a:lnTo>
                  <a:pt x="22" y="203"/>
                </a:lnTo>
                <a:lnTo>
                  <a:pt x="25" y="195"/>
                </a:lnTo>
                <a:lnTo>
                  <a:pt x="28" y="188"/>
                </a:lnTo>
                <a:lnTo>
                  <a:pt x="32" y="181"/>
                </a:lnTo>
                <a:lnTo>
                  <a:pt x="35" y="174"/>
                </a:lnTo>
                <a:lnTo>
                  <a:pt x="39" y="168"/>
                </a:lnTo>
                <a:lnTo>
                  <a:pt x="42" y="161"/>
                </a:lnTo>
                <a:lnTo>
                  <a:pt x="46" y="154"/>
                </a:lnTo>
                <a:lnTo>
                  <a:pt x="50" y="148"/>
                </a:lnTo>
                <a:lnTo>
                  <a:pt x="55" y="141"/>
                </a:lnTo>
                <a:lnTo>
                  <a:pt x="55" y="140"/>
                </a:lnTo>
                <a:lnTo>
                  <a:pt x="440" y="140"/>
                </a:lnTo>
                <a:close/>
              </a:path>
            </a:pathLst>
          </a:custGeom>
          <a:gradFill>
            <a:gsLst>
              <a:gs pos="60000">
                <a:srgbClr val="8FD8E8">
                  <a:alpha val="0"/>
                </a:srgbClr>
              </a:gs>
              <a:gs pos="62000">
                <a:srgbClr val="8FD8E8">
                  <a:alpha val="16000"/>
                </a:srgbClr>
              </a:gs>
              <a:gs pos="63000">
                <a:srgbClr val="8FD8E8">
                  <a:alpha val="16000"/>
                </a:srgbClr>
              </a:gs>
              <a:gs pos="65000">
                <a:srgbClr val="8FD8E8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sp>
        <p:nvSpPr>
          <p:cNvPr id="434" name="任意多边形 433"/>
          <p:cNvSpPr/>
          <p:nvPr/>
        </p:nvSpPr>
        <p:spPr>
          <a:xfrm>
            <a:off x="8763000" y="-190500"/>
            <a:ext cx="4191000" cy="4191000"/>
          </a:xfrm>
          <a:custGeom>
            <a:avLst/>
            <a:gdLst/>
            <a:ahLst/>
            <a:cxnLst/>
            <a:pathLst>
              <a:path w="440" h="440">
                <a:moveTo>
                  <a:pt x="315" y="22"/>
                </a:moveTo>
                <a:lnTo>
                  <a:pt x="320" y="24"/>
                </a:lnTo>
                <a:lnTo>
                  <a:pt x="325" y="27"/>
                </a:lnTo>
                <a:lnTo>
                  <a:pt x="329" y="29"/>
                </a:lnTo>
                <a:lnTo>
                  <a:pt x="334" y="32"/>
                </a:lnTo>
                <a:lnTo>
                  <a:pt x="339" y="35"/>
                </a:lnTo>
                <a:lnTo>
                  <a:pt x="343" y="38"/>
                </a:lnTo>
                <a:lnTo>
                  <a:pt x="347" y="41"/>
                </a:lnTo>
                <a:lnTo>
                  <a:pt x="352" y="44"/>
                </a:lnTo>
                <a:lnTo>
                  <a:pt x="356" y="47"/>
                </a:lnTo>
                <a:lnTo>
                  <a:pt x="360" y="50"/>
                </a:lnTo>
                <a:lnTo>
                  <a:pt x="360" y="50"/>
                </a:lnTo>
                <a:lnTo>
                  <a:pt x="360" y="390"/>
                </a:lnTo>
                <a:lnTo>
                  <a:pt x="360" y="390"/>
                </a:lnTo>
                <a:lnTo>
                  <a:pt x="356" y="393"/>
                </a:lnTo>
                <a:lnTo>
                  <a:pt x="352" y="396"/>
                </a:lnTo>
                <a:lnTo>
                  <a:pt x="347" y="399"/>
                </a:lnTo>
                <a:lnTo>
                  <a:pt x="343" y="402"/>
                </a:lnTo>
                <a:lnTo>
                  <a:pt x="339" y="405"/>
                </a:lnTo>
                <a:lnTo>
                  <a:pt x="334" y="408"/>
                </a:lnTo>
                <a:lnTo>
                  <a:pt x="329" y="411"/>
                </a:lnTo>
                <a:lnTo>
                  <a:pt x="325" y="413"/>
                </a:lnTo>
                <a:lnTo>
                  <a:pt x="320" y="416"/>
                </a:lnTo>
                <a:lnTo>
                  <a:pt x="315" y="418"/>
                </a:lnTo>
                <a:lnTo>
                  <a:pt x="311" y="421"/>
                </a:lnTo>
                <a:lnTo>
                  <a:pt x="306" y="423"/>
                </a:lnTo>
                <a:lnTo>
                  <a:pt x="301" y="425"/>
                </a:lnTo>
                <a:lnTo>
                  <a:pt x="296" y="427"/>
                </a:lnTo>
                <a:lnTo>
                  <a:pt x="291" y="428"/>
                </a:lnTo>
                <a:lnTo>
                  <a:pt x="285" y="430"/>
                </a:lnTo>
                <a:lnTo>
                  <a:pt x="280" y="432"/>
                </a:lnTo>
                <a:lnTo>
                  <a:pt x="275" y="433"/>
                </a:lnTo>
                <a:lnTo>
                  <a:pt x="270" y="434"/>
                </a:lnTo>
                <a:lnTo>
                  <a:pt x="264" y="436"/>
                </a:lnTo>
                <a:lnTo>
                  <a:pt x="259" y="437"/>
                </a:lnTo>
                <a:lnTo>
                  <a:pt x="253" y="437"/>
                </a:lnTo>
                <a:lnTo>
                  <a:pt x="248" y="438"/>
                </a:lnTo>
                <a:lnTo>
                  <a:pt x="242" y="439"/>
                </a:lnTo>
                <a:lnTo>
                  <a:pt x="237" y="439"/>
                </a:lnTo>
                <a:lnTo>
                  <a:pt x="231" y="440"/>
                </a:lnTo>
                <a:lnTo>
                  <a:pt x="226" y="440"/>
                </a:lnTo>
                <a:lnTo>
                  <a:pt x="220" y="440"/>
                </a:lnTo>
                <a:lnTo>
                  <a:pt x="214" y="440"/>
                </a:lnTo>
                <a:lnTo>
                  <a:pt x="209" y="440"/>
                </a:lnTo>
                <a:lnTo>
                  <a:pt x="203" y="439"/>
                </a:lnTo>
                <a:lnTo>
                  <a:pt x="198" y="439"/>
                </a:lnTo>
                <a:lnTo>
                  <a:pt x="192" y="438"/>
                </a:lnTo>
                <a:lnTo>
                  <a:pt x="187" y="437"/>
                </a:lnTo>
                <a:lnTo>
                  <a:pt x="181" y="437"/>
                </a:lnTo>
                <a:lnTo>
                  <a:pt x="176" y="436"/>
                </a:lnTo>
                <a:lnTo>
                  <a:pt x="170" y="434"/>
                </a:lnTo>
                <a:lnTo>
                  <a:pt x="165" y="433"/>
                </a:lnTo>
                <a:lnTo>
                  <a:pt x="160" y="432"/>
                </a:lnTo>
                <a:lnTo>
                  <a:pt x="155" y="430"/>
                </a:lnTo>
                <a:lnTo>
                  <a:pt x="149" y="428"/>
                </a:lnTo>
                <a:lnTo>
                  <a:pt x="144" y="427"/>
                </a:lnTo>
                <a:lnTo>
                  <a:pt x="139" y="425"/>
                </a:lnTo>
                <a:lnTo>
                  <a:pt x="134" y="423"/>
                </a:lnTo>
                <a:lnTo>
                  <a:pt x="129" y="421"/>
                </a:lnTo>
                <a:lnTo>
                  <a:pt x="125" y="418"/>
                </a:lnTo>
                <a:lnTo>
                  <a:pt x="120" y="416"/>
                </a:lnTo>
                <a:lnTo>
                  <a:pt x="115" y="413"/>
                </a:lnTo>
                <a:lnTo>
                  <a:pt x="111" y="411"/>
                </a:lnTo>
                <a:lnTo>
                  <a:pt x="106" y="408"/>
                </a:lnTo>
                <a:lnTo>
                  <a:pt x="101" y="405"/>
                </a:lnTo>
                <a:lnTo>
                  <a:pt x="97" y="402"/>
                </a:lnTo>
                <a:lnTo>
                  <a:pt x="93" y="399"/>
                </a:lnTo>
                <a:lnTo>
                  <a:pt x="88" y="396"/>
                </a:lnTo>
                <a:lnTo>
                  <a:pt x="84" y="393"/>
                </a:lnTo>
                <a:lnTo>
                  <a:pt x="80" y="390"/>
                </a:lnTo>
                <a:lnTo>
                  <a:pt x="76" y="386"/>
                </a:lnTo>
                <a:lnTo>
                  <a:pt x="72" y="383"/>
                </a:lnTo>
                <a:lnTo>
                  <a:pt x="68" y="379"/>
                </a:lnTo>
                <a:lnTo>
                  <a:pt x="64" y="376"/>
                </a:lnTo>
                <a:lnTo>
                  <a:pt x="61" y="372"/>
                </a:lnTo>
                <a:lnTo>
                  <a:pt x="57" y="368"/>
                </a:lnTo>
                <a:lnTo>
                  <a:pt x="54" y="364"/>
                </a:lnTo>
                <a:lnTo>
                  <a:pt x="50" y="360"/>
                </a:lnTo>
                <a:lnTo>
                  <a:pt x="47" y="356"/>
                </a:lnTo>
                <a:lnTo>
                  <a:pt x="44" y="352"/>
                </a:lnTo>
                <a:lnTo>
                  <a:pt x="41" y="347"/>
                </a:lnTo>
                <a:lnTo>
                  <a:pt x="38" y="343"/>
                </a:lnTo>
                <a:lnTo>
                  <a:pt x="35" y="339"/>
                </a:lnTo>
                <a:lnTo>
                  <a:pt x="32" y="334"/>
                </a:lnTo>
                <a:lnTo>
                  <a:pt x="29" y="329"/>
                </a:lnTo>
                <a:lnTo>
                  <a:pt x="27" y="325"/>
                </a:lnTo>
                <a:lnTo>
                  <a:pt x="24" y="320"/>
                </a:lnTo>
                <a:lnTo>
                  <a:pt x="22" y="315"/>
                </a:lnTo>
                <a:lnTo>
                  <a:pt x="19" y="311"/>
                </a:lnTo>
                <a:lnTo>
                  <a:pt x="17" y="306"/>
                </a:lnTo>
                <a:lnTo>
                  <a:pt x="15" y="301"/>
                </a:lnTo>
                <a:lnTo>
                  <a:pt x="13" y="296"/>
                </a:lnTo>
                <a:lnTo>
                  <a:pt x="12" y="291"/>
                </a:lnTo>
                <a:lnTo>
                  <a:pt x="10" y="285"/>
                </a:lnTo>
                <a:lnTo>
                  <a:pt x="8" y="280"/>
                </a:lnTo>
                <a:lnTo>
                  <a:pt x="7" y="275"/>
                </a:lnTo>
                <a:lnTo>
                  <a:pt x="6" y="270"/>
                </a:lnTo>
                <a:lnTo>
                  <a:pt x="4" y="264"/>
                </a:lnTo>
                <a:lnTo>
                  <a:pt x="3" y="259"/>
                </a:lnTo>
                <a:lnTo>
                  <a:pt x="3" y="253"/>
                </a:lnTo>
                <a:lnTo>
                  <a:pt x="2" y="248"/>
                </a:lnTo>
                <a:lnTo>
                  <a:pt x="1" y="242"/>
                </a:lnTo>
                <a:lnTo>
                  <a:pt x="1" y="237"/>
                </a:lnTo>
                <a:lnTo>
                  <a:pt x="0" y="231"/>
                </a:lnTo>
                <a:lnTo>
                  <a:pt x="0" y="226"/>
                </a:lnTo>
                <a:lnTo>
                  <a:pt x="0" y="220"/>
                </a:lnTo>
                <a:lnTo>
                  <a:pt x="0" y="214"/>
                </a:lnTo>
                <a:lnTo>
                  <a:pt x="0" y="209"/>
                </a:lnTo>
                <a:lnTo>
                  <a:pt x="1" y="203"/>
                </a:lnTo>
                <a:lnTo>
                  <a:pt x="1" y="198"/>
                </a:lnTo>
                <a:lnTo>
                  <a:pt x="2" y="192"/>
                </a:lnTo>
                <a:lnTo>
                  <a:pt x="3" y="187"/>
                </a:lnTo>
                <a:lnTo>
                  <a:pt x="3" y="181"/>
                </a:lnTo>
                <a:lnTo>
                  <a:pt x="4" y="176"/>
                </a:lnTo>
                <a:lnTo>
                  <a:pt x="6" y="170"/>
                </a:lnTo>
                <a:lnTo>
                  <a:pt x="7" y="165"/>
                </a:lnTo>
                <a:lnTo>
                  <a:pt x="8" y="160"/>
                </a:lnTo>
                <a:lnTo>
                  <a:pt x="10" y="155"/>
                </a:lnTo>
                <a:lnTo>
                  <a:pt x="12" y="149"/>
                </a:lnTo>
                <a:lnTo>
                  <a:pt x="13" y="144"/>
                </a:lnTo>
                <a:lnTo>
                  <a:pt x="15" y="139"/>
                </a:lnTo>
                <a:lnTo>
                  <a:pt x="17" y="134"/>
                </a:lnTo>
                <a:lnTo>
                  <a:pt x="19" y="129"/>
                </a:lnTo>
                <a:lnTo>
                  <a:pt x="22" y="125"/>
                </a:lnTo>
                <a:lnTo>
                  <a:pt x="24" y="120"/>
                </a:lnTo>
                <a:lnTo>
                  <a:pt x="27" y="115"/>
                </a:lnTo>
                <a:lnTo>
                  <a:pt x="29" y="111"/>
                </a:lnTo>
                <a:lnTo>
                  <a:pt x="32" y="106"/>
                </a:lnTo>
                <a:lnTo>
                  <a:pt x="35" y="101"/>
                </a:lnTo>
                <a:lnTo>
                  <a:pt x="38" y="97"/>
                </a:lnTo>
                <a:lnTo>
                  <a:pt x="41" y="93"/>
                </a:lnTo>
                <a:lnTo>
                  <a:pt x="44" y="88"/>
                </a:lnTo>
                <a:lnTo>
                  <a:pt x="47" y="84"/>
                </a:lnTo>
                <a:lnTo>
                  <a:pt x="50" y="80"/>
                </a:lnTo>
                <a:lnTo>
                  <a:pt x="54" y="76"/>
                </a:lnTo>
                <a:lnTo>
                  <a:pt x="57" y="72"/>
                </a:lnTo>
                <a:lnTo>
                  <a:pt x="61" y="68"/>
                </a:lnTo>
                <a:lnTo>
                  <a:pt x="64" y="64"/>
                </a:lnTo>
                <a:lnTo>
                  <a:pt x="68" y="61"/>
                </a:lnTo>
                <a:lnTo>
                  <a:pt x="72" y="57"/>
                </a:lnTo>
                <a:lnTo>
                  <a:pt x="76" y="54"/>
                </a:lnTo>
                <a:lnTo>
                  <a:pt x="80" y="50"/>
                </a:lnTo>
                <a:lnTo>
                  <a:pt x="84" y="47"/>
                </a:lnTo>
                <a:lnTo>
                  <a:pt x="88" y="44"/>
                </a:lnTo>
                <a:lnTo>
                  <a:pt x="93" y="41"/>
                </a:lnTo>
                <a:lnTo>
                  <a:pt x="97" y="38"/>
                </a:lnTo>
                <a:lnTo>
                  <a:pt x="101" y="35"/>
                </a:lnTo>
                <a:lnTo>
                  <a:pt x="106" y="32"/>
                </a:lnTo>
                <a:lnTo>
                  <a:pt x="111" y="29"/>
                </a:lnTo>
                <a:lnTo>
                  <a:pt x="115" y="27"/>
                </a:lnTo>
                <a:lnTo>
                  <a:pt x="120" y="24"/>
                </a:lnTo>
                <a:lnTo>
                  <a:pt x="125" y="22"/>
                </a:lnTo>
                <a:lnTo>
                  <a:pt x="128" y="20"/>
                </a:lnTo>
                <a:lnTo>
                  <a:pt x="312" y="20"/>
                </a:lnTo>
                <a:close/>
              </a:path>
            </a:pathLst>
          </a:custGeom>
          <a:gradFill>
            <a:gsLst>
              <a:gs pos="60000">
                <a:srgbClr val="C7A96B">
                  <a:alpha val="0"/>
                </a:srgbClr>
              </a:gs>
              <a:gs pos="62000">
                <a:srgbClr val="C7A96B">
                  <a:alpha val="18000"/>
                </a:srgbClr>
              </a:gs>
              <a:gs pos="63000">
                <a:srgbClr val="C7A96B">
                  <a:alpha val="18000"/>
                </a:srgbClr>
              </a:gs>
              <a:gs pos="65000">
                <a:srgbClr val="C7A96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  <p:pic>
        <p:nvPicPr>
          <p:cNvPr id="435" name="图片 434"/>
          <p:cNvPicPr>
            <a:picLocks noChangeAspect="1"/>
          </p:cNvPicPr>
          <p:nvPr/>
        </p:nvPicPr>
        <p:blipFill>
          <a:blip r:embed="rId1"/>
          <a:srcRect l="367" r="367"/>
          <a:stretch>
            <a:fillRect/>
          </a:stretch>
        </p:blipFill>
        <p:spPr>
          <a:xfrm>
            <a:off x="685800" y="581025"/>
            <a:ext cx="342900" cy="381000"/>
          </a:xfrm>
          <a:prstGeom prst="rect">
            <a:avLst/>
          </a:prstGeom>
        </p:spPr>
      </p:pic>
      <p:pic>
        <p:nvPicPr>
          <p:cNvPr id="436" name="图片 435"/>
          <p:cNvPicPr>
            <a:picLocks noChangeAspect="1"/>
          </p:cNvPicPr>
          <p:nvPr/>
        </p:nvPicPr>
        <p:blipFill>
          <a:blip r:embed="rId2"/>
          <a:srcRect t="852" b="852"/>
          <a:stretch>
            <a:fillRect/>
          </a:stretch>
        </p:blipFill>
        <p:spPr>
          <a:xfrm>
            <a:off x="1162050" y="514350"/>
            <a:ext cx="1504950" cy="342900"/>
          </a:xfrm>
          <a:prstGeom prst="rect">
            <a:avLst/>
          </a:prstGeom>
        </p:spPr>
      </p:pic>
      <p:pic>
        <p:nvPicPr>
          <p:cNvPr id="437" name="图片 436"/>
          <p:cNvPicPr>
            <a:picLocks noChangeAspect="1"/>
          </p:cNvPicPr>
          <p:nvPr/>
        </p:nvPicPr>
        <p:blipFill>
          <a:blip r:embed="rId3"/>
          <a:srcRect l="1481" r="1481"/>
          <a:stretch>
            <a:fillRect/>
          </a:stretch>
        </p:blipFill>
        <p:spPr>
          <a:xfrm>
            <a:off x="1162050" y="876300"/>
            <a:ext cx="1504950" cy="152400"/>
          </a:xfrm>
          <a:prstGeom prst="rect">
            <a:avLst/>
          </a:prstGeom>
        </p:spPr>
      </p:pic>
      <p:sp>
        <p:nvSpPr>
          <p:cNvPr id="438" name="文本框 437" descr="{&quot;isTemplate&quot;:true,&quot;type&quot;:&quot;text&quot;}"/>
          <p:cNvSpPr txBox="1"/>
          <p:nvPr/>
        </p:nvSpPr>
        <p:spPr>
          <a:xfrm>
            <a:off x="9515475" y="3200400"/>
            <a:ext cx="2105025" cy="2514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 spc="-900">
                <a:solidFill>
                  <a:srgbClr val="8FD8E8">
                    <a:alpha val="22000"/>
                  </a:srgbClr>
                </a:solidFill>
                <a:latin typeface="Inter"/>
                <a:ea typeface="Inter"/>
              </a:rPr>
              <a:t>02</a:t>
            </a:r>
            <a:endParaRPr lang="en-US" sz="16500" b="1" spc="-900">
              <a:solidFill>
                <a:srgbClr val="8FD8E8">
                  <a:alpha val="22000"/>
                </a:srgbClr>
              </a:solidFill>
              <a:latin typeface="Inter"/>
              <a:ea typeface="Inter"/>
            </a:endParaRPr>
          </a:p>
        </p:txBody>
      </p:sp>
      <p:sp>
        <p:nvSpPr>
          <p:cNvPr id="439" name="文本框 438" descr="{&quot;isTemplate&quot;:true,&quot;type&quot;:&quot;text&quot;}"/>
          <p:cNvSpPr txBox="1"/>
          <p:nvPr/>
        </p:nvSpPr>
        <p:spPr>
          <a:xfrm>
            <a:off x="685800" y="2590800"/>
            <a:ext cx="38100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 spc="375">
                <a:solidFill>
                  <a:srgbClr val="C7A96B"/>
                </a:solidFill>
                <a:latin typeface="Inter"/>
                <a:ea typeface="Inter"/>
              </a:rPr>
              <a:t>PART 02</a:t>
            </a:r>
            <a:endParaRPr lang="en-US" sz="1050" b="1" spc="37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40" name="文本框 439" descr="{&quot;isTemplate&quot;:true,&quot;type&quot;:&quot;text&quot;}"/>
          <p:cNvSpPr txBox="1"/>
          <p:nvPr/>
        </p:nvSpPr>
        <p:spPr>
          <a:xfrm>
            <a:off x="685800" y="2924175"/>
            <a:ext cx="3810000" cy="8477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15000"/>
              </a:lnSpc>
            </a:pPr>
            <a:r>
              <a:rPr lang="zh-CN" sz="4800" b="1" spc="-75">
                <a:solidFill>
                  <a:srgbClr val="EAF2F8"/>
                </a:solidFill>
                <a:latin typeface="PingFang SC"/>
                <a:ea typeface="PingFang SC"/>
              </a:rPr>
              <a:t>知识库</a:t>
            </a:r>
            <a:endParaRPr lang="zh-CN" sz="4800" b="1" spc="-75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41" name="圆角矩形 440"/>
          <p:cNvSpPr/>
          <p:nvPr/>
        </p:nvSpPr>
        <p:spPr>
          <a:xfrm>
            <a:off x="685800" y="4000500"/>
            <a:ext cx="60960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442" name="文本框 441" descr="{&quot;isTemplate&quot;:true,&quot;type&quot;:&quot;text&quot;}"/>
          <p:cNvSpPr txBox="1"/>
          <p:nvPr/>
        </p:nvSpPr>
        <p:spPr>
          <a:xfrm>
            <a:off x="685800" y="4248150"/>
            <a:ext cx="4365625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8FA6BC"/>
                </a:solidFill>
                <a:latin typeface="PingFang SC"/>
                <a:ea typeface="PingFang SC"/>
              </a:rPr>
              <a:t>外接数据源：只提供已发布的当前有效规则与条文</a:t>
            </a:r>
            <a:endParaRPr lang="zh-CN" sz="150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43" name="矩形 442"/>
          <p:cNvSpPr/>
          <p:nvPr/>
        </p:nvSpPr>
        <p:spPr>
          <a:xfrm>
            <a:off x="685800" y="6248400"/>
            <a:ext cx="266700" cy="9525"/>
          </a:xfrm>
          <a:prstGeom prst="rect">
            <a:avLst/>
          </a:prstGeom>
          <a:solidFill>
            <a:srgbClr val="C7A96B">
              <a:alpha val="70000"/>
            </a:srgbClr>
          </a:solidFill>
        </p:spPr>
        <p:txBody>
          <a:bodyPr/>
          <a:p/>
        </p:txBody>
      </p:sp>
      <p:sp>
        <p:nvSpPr>
          <p:cNvPr id="444" name="文本框 443" descr="{&quot;isTemplate&quot;:true,&quot;type&quot;:&quot;text&quot;}"/>
          <p:cNvSpPr txBox="1"/>
          <p:nvPr/>
        </p:nvSpPr>
        <p:spPr>
          <a:xfrm>
            <a:off x="1085850" y="6172200"/>
            <a:ext cx="24765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6E86A0"/>
                </a:solidFill>
                <a:latin typeface="Inter"/>
                <a:ea typeface="Inter"/>
              </a:rPr>
              <a:t>DISHENG CONSULTING · 2026</a:t>
            </a:r>
            <a:endParaRPr lang="en-US" sz="975" spc="225">
              <a:solidFill>
                <a:srgbClr val="6E86A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知识现状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STATUS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尚未形成可引用资产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双库并存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销售易以文件目录存放，OA 另有一套知识库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销售易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OA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目录存放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两处并存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标题检索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主要按标题查找，内容与问题检索不足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标题检索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3810000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内容检索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问题检索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检索不足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问答质量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文档直接导入，未经结构化处理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直接导入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未结构化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质量不足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直接导入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调用情况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人资与行政知识库已经建立，实际调用率低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人资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行政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调用率低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调用不足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经验留存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方法仍在个人，未形成资产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个人经验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组织资产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尚未沉淀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尚未成资产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15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知识痛点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GAPS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质量、沉淀、检索与共享四项约束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存量质量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QUALITY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存量规模大且质量参差。标题不能反映内容，调用率低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表现：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有资料，难调用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经验沉淀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ASSET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685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优秀销售方法与方案难以沉淀为组织知识资产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表现：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留在个人经验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检索能力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SEARCH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6858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现有检索以标题为主，缺少按内容与按问题的检索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表现：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无法按问题查询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共享机制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GOVERN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共享与审核机制不足。权威版本须由业务责任人裁定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表现：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权威版本待裁定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16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5" name="" descr="// B · 08 内容页 · 服务流程 — 五步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80, top: 160, width: 560, height: 380, borderRadius: 280, background: 'radial-gradient(circle, rgba(91,200,200,0.10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流程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HOW WE WORK&lt;/Text&gt;&#10;        &lt;Box style={{ flex: 1 }} /&gt;&#10;        &lt;Text style={{ fontSize: 14, color: '#8FA6BC' }}&gt;五步走完一个完整项目周期&lt;/Text&gt;&#10;    &lt;/Box&gt;&#10;&#10;    {/* B · 内容区 */}&#10;    &lt;Box style={{ flex: 1, flexDirection: 'row', alignItems: 'stretch', paddingTop: 30, paddingBottom: 24 }}&gt;&#10;        {[&#10;            { no: '01', t: '业务诊断', d: '访谈与数据盘点，定位销售体系的真实瓶颈。', pts: ['高层访谈', '数据盘点', '瓶颈清单'], cycle: '2 周' },&#10;            { no: '02', t: '蓝图设计', d: '输出智能化蓝图与分阶段落地路线图。', pts: ['目标定义', '里程碑拆解', '资源规划'], cycle: '3 周' },&#10;            { no: '03', t: '知识萃取', d: '沉淀结构化语料库与场景化训练素材。', pts: ['场景梳理', '语料打标', '案例沉淀'], cycle: '3 周' },&#10;            { no: '04', t: '系统落地', d: '智能中台搭建与关键销售流程线上化。', pts: ['流程上线', '数据打通', '角色培训'], cycle: '4 – 8 周' },&#10;            { no: '05', t: '陪跑运营', d: '复盘教练与持续迭代，形成组织能力。', pts: ['商机复盘', '指标跟踪', '迭代机制'], cycle: '持续' }&#10;        ].map((s, idx) =&gt; (&#10;            &lt;Box key={idx} style={{ flex: 1, flexDirection: 'row', alignItems: 'stretch' }}&gt;&#10;                &lt;Box style={{ flex: 1, flexDirection: 'column', background: 'rgba(255,255,255,0.045)', border: '1px solid rgba(143,216,232,0.18)', borderRadius: 14, padding: '24px 20px 22px', boxShadow: '0 10px 34px rgba(0,0,0,0.36)' }}&gt;&#10;                    &lt;Box style={{ width: 44, height: 44, borderRadius: 22, background: 'linear-gradient(135deg, #8FD8E8 0%, #3FA8BF 100%)', justifyContent: 'center', alignItems: 'center', boxShadow: '0 6px 18px rgba(91,200,200,0.32)' }}&gt;&#10;                        &lt;Text style={{ fontSize: 18, fontWeight: 'bold', color: '#081322', fontFamily: '&quot;Inter&quot;,&quot;Helvetica Neue&quot;,Arial,sans-serif' }}&gt;{s.no}&lt;/Text&gt;&#10;                    &lt;/Box&gt;&#10;                    &lt;Text style={{ fontSize: 20, fontWeight: 'bold', color: '#EAF2F8', marginTop: 18, letterSpacing: -0.3 }}&gt;{s.t}&lt;/Text&gt;&#10;                    &lt;Box style={{ width: 26, height: 2, background: 'rgba(143,216,232,0.35)', marginTop: 12 }} /&gt;&#10;                    &lt;Text style={{ fontSize: 15, color: '#9FB4C6', lineHeight: 1.85, marginTop: 12 }}&gt;{s.d}&lt;/Text&gt;&#10;                    &lt;Box style={{ flexDirection: 'column', gap: 12, marginTop: 18 }}&gt;&#10;                        {s.pts.map((p, i) =&gt; (&#10;                            &lt;Box key={i} style={{ flexDirection: 'row', alignItems: 'center', gap: 9 }}&gt;&#10;                                &lt;Box style={{ width: 5, height: 5, borderRadius: 2.5, background: '#5BC8C8' }} /&gt;&#10;                                &lt;Text style={{ fontSize: 14, color: '#B9CBDA' }}&gt;{p}&lt;/Text&gt;&#10;                            &lt;/Box&gt;&#10;                        ))}&#10;                    &lt;/Box&gt;&#10;                    &lt;Box style={{ marginTop: 'auto', flexDirection: 'row', paddingTop: 18 }}&gt;&#10;                        &lt;Box style={{ padding: '5px 12px', borderRadius: 999, background: 'rgba(91,200,200,0.09)', border: '1px solid rgba(143,216,232,0.24)' }}&gt;&#10;                            &lt;Text style={{ fontSize: 12, color: '#8FD8E8' }}&gt;周期 · {s.cycle}&lt;/Text&gt;&#10;                        &lt;/Box&gt;&#10;                    &lt;/Box&gt;&#10;                &lt;/Box&gt;&#10;                {idx &lt; 4 &amp;&amp; (&#10;                    &lt;Box style={{ width: 30, justifyContent: 'center', alignItems: 'center' }}&gt;&#10;                        &lt;FAIcon name='chevron-right' style={{ fill: 'rgba(143,216,232,0.45)', width: 18, height: 18 }} /&gt;&#10;                    &lt;/Box&gt;&#10;                )}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8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矩形 4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447" name="任意多边形 446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448" name="圆角矩形 447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49" name="文本框 448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建设路径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0" name="矩形 449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451" name="文本框 450" descr="{&quot;isTemplate&quot;:true,&quot;type&quot;:&quot;text&quot;}"/>
          <p:cNvSpPr txBox="1"/>
          <p:nvPr/>
        </p:nvSpPr>
        <p:spPr>
          <a:xfrm>
            <a:off x="2381250" y="590550"/>
            <a:ext cx="125730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METHOD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452" name="文本框 451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原件留档，已发布规则才可引用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453" name="圆角矩形 452"/>
          <p:cNvSpPr/>
          <p:nvPr/>
        </p:nvSpPr>
        <p:spPr>
          <a:xfrm>
            <a:off x="68580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54" name="圆角矩形 453"/>
          <p:cNvSpPr/>
          <p:nvPr/>
        </p:nvSpPr>
        <p:spPr>
          <a:xfrm>
            <a:off x="87630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55" name="文本框 454" descr="{&quot;isTemplate&quot;:true,&quot;type&quot;:&quot;text&quot;}"/>
          <p:cNvSpPr txBox="1"/>
          <p:nvPr/>
        </p:nvSpPr>
        <p:spPr>
          <a:xfrm>
            <a:off x="99060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01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56" name="文本框 455" descr="{&quot;isTemplate&quot;:true,&quot;type&quot;:&quot;text&quot;}"/>
          <p:cNvSpPr txBox="1"/>
          <p:nvPr/>
        </p:nvSpPr>
        <p:spPr>
          <a:xfrm>
            <a:off x="87630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原件归档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57" name="矩形 456"/>
          <p:cNvSpPr/>
          <p:nvPr/>
        </p:nvSpPr>
        <p:spPr>
          <a:xfrm>
            <a:off x="87630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58" name="文本框 457" descr="{&quot;isTemplate&quot;:true,&quot;type&quot;:&quot;text&quot;}"/>
          <p:cNvSpPr txBox="1"/>
          <p:nvPr/>
        </p:nvSpPr>
        <p:spPr>
          <a:xfrm>
            <a:off x="87630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原件归档保存，不直接作为问答依据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59" name="圆角矩形 458"/>
          <p:cNvSpPr/>
          <p:nvPr/>
        </p:nvSpPr>
        <p:spPr>
          <a:xfrm>
            <a:off x="87630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0" name="文本框 459" descr="{&quot;isTemplate&quot;:true,&quot;type&quot;:&quot;text&quot;}"/>
          <p:cNvSpPr txBox="1"/>
          <p:nvPr/>
        </p:nvSpPr>
        <p:spPr>
          <a:xfrm>
            <a:off x="100965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制度文件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1" name="圆角矩形 460"/>
          <p:cNvSpPr/>
          <p:nvPr/>
        </p:nvSpPr>
        <p:spPr>
          <a:xfrm>
            <a:off x="87630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2" name="文本框 461" descr="{&quot;isTemplate&quot;:true,&quot;type&quot;:&quot;text&quot;}"/>
          <p:cNvSpPr txBox="1"/>
          <p:nvPr/>
        </p:nvSpPr>
        <p:spPr>
          <a:xfrm>
            <a:off x="100965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产品资料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3" name="圆角矩形 462"/>
          <p:cNvSpPr/>
          <p:nvPr/>
        </p:nvSpPr>
        <p:spPr>
          <a:xfrm>
            <a:off x="87630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64" name="文本框 463" descr="{&quot;isTemplate&quot;:true,&quot;type&quot;:&quot;text&quot;}"/>
          <p:cNvSpPr txBox="1"/>
          <p:nvPr/>
        </p:nvSpPr>
        <p:spPr>
          <a:xfrm>
            <a:off x="100965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评审意见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65" name="圆角矩形 464"/>
          <p:cNvSpPr/>
          <p:nvPr/>
        </p:nvSpPr>
        <p:spPr>
          <a:xfrm>
            <a:off x="87630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6" name="文本框 465" descr="{&quot;isTemplate&quot;:true,&quot;type&quot;:&quot;text&quot;}"/>
          <p:cNvSpPr txBox="1"/>
          <p:nvPr/>
        </p:nvSpPr>
        <p:spPr>
          <a:xfrm>
            <a:off x="99060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留存证据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67" name="图片 46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3562350"/>
            <a:ext cx="171450" cy="171450"/>
          </a:xfrm>
          <a:prstGeom prst="rect">
            <a:avLst/>
          </a:prstGeom>
        </p:spPr>
      </p:pic>
      <p:sp>
        <p:nvSpPr>
          <p:cNvPr id="468" name="圆角矩形 467"/>
          <p:cNvSpPr/>
          <p:nvPr/>
        </p:nvSpPr>
        <p:spPr>
          <a:xfrm>
            <a:off x="2847975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69" name="圆角矩形 468"/>
          <p:cNvSpPr/>
          <p:nvPr/>
        </p:nvSpPr>
        <p:spPr>
          <a:xfrm>
            <a:off x="303847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70" name="文本框 469" descr="{&quot;isTemplate&quot;:true,&quot;type&quot;:&quot;text&quot;}"/>
          <p:cNvSpPr txBox="1"/>
          <p:nvPr/>
        </p:nvSpPr>
        <p:spPr>
          <a:xfrm>
            <a:off x="315277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02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71" name="文本框 470" descr="{&quot;isTemplate&quot;:true,&quot;type&quot;:&quot;text&quot;}"/>
          <p:cNvSpPr txBox="1"/>
          <p:nvPr/>
        </p:nvSpPr>
        <p:spPr>
          <a:xfrm>
            <a:off x="3038475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规则萃取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72" name="矩形 471"/>
          <p:cNvSpPr/>
          <p:nvPr/>
        </p:nvSpPr>
        <p:spPr>
          <a:xfrm>
            <a:off x="303847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73" name="文本框 472" descr="{&quot;isTemplate&quot;:true,&quot;type&quot;:&quot;text&quot;}"/>
          <p:cNvSpPr txBox="1"/>
          <p:nvPr/>
        </p:nvSpPr>
        <p:spPr>
          <a:xfrm>
            <a:off x="3038475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萃取为一条当前有效的业务规则，写明适用场景与出。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74" name="圆角矩形 473"/>
          <p:cNvSpPr/>
          <p:nvPr/>
        </p:nvSpPr>
        <p:spPr>
          <a:xfrm>
            <a:off x="3038475" y="39052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5" name="文本框 474" descr="{&quot;isTemplate&quot;:true,&quot;type&quot;:&quot;text&quot;}"/>
          <p:cNvSpPr txBox="1"/>
          <p:nvPr/>
        </p:nvSpPr>
        <p:spPr>
          <a:xfrm>
            <a:off x="3171825" y="38481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适用场景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6" name="圆角矩形 475"/>
          <p:cNvSpPr/>
          <p:nvPr/>
        </p:nvSpPr>
        <p:spPr>
          <a:xfrm>
            <a:off x="3038475" y="41814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7" name="文本框 476" descr="{&quot;isTemplate&quot;:true,&quot;type&quot;:&quot;text&quot;}"/>
          <p:cNvSpPr txBox="1"/>
          <p:nvPr/>
        </p:nvSpPr>
        <p:spPr>
          <a:xfrm>
            <a:off x="3171825" y="4124325"/>
            <a:ext cx="6667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规则正文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78" name="圆角矩形 477"/>
          <p:cNvSpPr/>
          <p:nvPr/>
        </p:nvSpPr>
        <p:spPr>
          <a:xfrm>
            <a:off x="3038475" y="445770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79" name="文本框 478" descr="{&quot;isTemplate&quot;:true,&quot;type&quot;:&quot;text&quot;}"/>
          <p:cNvSpPr txBox="1"/>
          <p:nvPr/>
        </p:nvSpPr>
        <p:spPr>
          <a:xfrm>
            <a:off x="3171825" y="440055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出处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80" name="圆角矩形 479"/>
          <p:cNvSpPr/>
          <p:nvPr/>
        </p:nvSpPr>
        <p:spPr>
          <a:xfrm>
            <a:off x="3038475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1" name="文本框 480" descr="{&quot;isTemplate&quot;:true,&quot;type&quot;:&quot;text&quot;}"/>
          <p:cNvSpPr txBox="1"/>
          <p:nvPr/>
        </p:nvSpPr>
        <p:spPr>
          <a:xfrm>
            <a:off x="315277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一条规则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82" name="图片 48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81550" y="3562350"/>
            <a:ext cx="171450" cy="171450"/>
          </a:xfrm>
          <a:prstGeom prst="rect">
            <a:avLst/>
          </a:prstGeom>
        </p:spPr>
      </p:pic>
      <p:sp>
        <p:nvSpPr>
          <p:cNvPr id="483" name="圆角矩形 482"/>
          <p:cNvSpPr/>
          <p:nvPr/>
        </p:nvSpPr>
        <p:spPr>
          <a:xfrm>
            <a:off x="5010150" y="1428750"/>
            <a:ext cx="1885950" cy="4438650"/>
          </a:xfrm>
          <a:prstGeom prst="roundRect">
            <a:avLst>
              <a:gd name="adj" fmla="val 7071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84" name="圆角矩形 483"/>
          <p:cNvSpPr/>
          <p:nvPr/>
        </p:nvSpPr>
        <p:spPr>
          <a:xfrm>
            <a:off x="52006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485" name="文本框 484" descr="{&quot;isTemplate&quot;:true,&quot;type&quot;:&quot;text&quot;}"/>
          <p:cNvSpPr txBox="1"/>
          <p:nvPr/>
        </p:nvSpPr>
        <p:spPr>
          <a:xfrm>
            <a:off x="53149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03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486" name="文本框 485" descr="{&quot;isTemplate&quot;:true,&quot;type&quot;:&quot;text&quot;}"/>
          <p:cNvSpPr txBox="1"/>
          <p:nvPr/>
        </p:nvSpPr>
        <p:spPr>
          <a:xfrm>
            <a:off x="5200650" y="2247900"/>
            <a:ext cx="150495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草稿生成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487" name="矩形 486"/>
          <p:cNvSpPr/>
          <p:nvPr/>
        </p:nvSpPr>
        <p:spPr>
          <a:xfrm>
            <a:off x="52006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488" name="文本框 487" descr="{&quot;isTemplate&quot;:true,&quot;type&quot;:&quot;text&quot;}"/>
          <p:cNvSpPr txBox="1"/>
          <p:nvPr/>
        </p:nvSpPr>
        <p:spPr>
          <a:xfrm>
            <a:off x="5200650" y="2724150"/>
            <a:ext cx="1504950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系统仅生成草稿，不直接进入检索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489" name="圆角矩形 488"/>
          <p:cNvSpPr/>
          <p:nvPr/>
        </p:nvSpPr>
        <p:spPr>
          <a:xfrm>
            <a:off x="52006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0" name="文本框 489" descr="{&quot;isTemplate&quot;:true,&quot;type&quot;:&quot;text&quot;}"/>
          <p:cNvSpPr txBox="1"/>
          <p:nvPr/>
        </p:nvSpPr>
        <p:spPr>
          <a:xfrm>
            <a:off x="53340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系统起草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1" name="圆角矩形 490"/>
          <p:cNvSpPr/>
          <p:nvPr/>
        </p:nvSpPr>
        <p:spPr>
          <a:xfrm>
            <a:off x="52006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2" name="文本框 491" descr="{&quot;isTemplate&quot;:true,&quot;type&quot;:&quot;text&quot;}"/>
          <p:cNvSpPr txBox="1"/>
          <p:nvPr/>
        </p:nvSpPr>
        <p:spPr>
          <a:xfrm>
            <a:off x="53340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责任人补全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3" name="圆角矩形 492"/>
          <p:cNvSpPr/>
          <p:nvPr/>
        </p:nvSpPr>
        <p:spPr>
          <a:xfrm>
            <a:off x="52006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494" name="文本框 493" descr="{&quot;isTemplate&quot;:true,&quot;type&quot;:&quot;text&quot;}"/>
          <p:cNvSpPr txBox="1"/>
          <p:nvPr/>
        </p:nvSpPr>
        <p:spPr>
          <a:xfrm>
            <a:off x="53340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待发布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495" name="圆角矩形 494"/>
          <p:cNvSpPr/>
          <p:nvPr/>
        </p:nvSpPr>
        <p:spPr>
          <a:xfrm>
            <a:off x="5200650" y="5419725"/>
            <a:ext cx="819150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6" name="文本框 495" descr="{&quot;isTemplate&quot;:true,&quot;type&quot;:&quot;text&quot;}"/>
          <p:cNvSpPr txBox="1"/>
          <p:nvPr/>
        </p:nvSpPr>
        <p:spPr>
          <a:xfrm>
            <a:off x="5314950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仅限草稿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497" name="图片 496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53250" y="3562350"/>
            <a:ext cx="171450" cy="171450"/>
          </a:xfrm>
          <a:prstGeom prst="rect">
            <a:avLst/>
          </a:prstGeom>
        </p:spPr>
      </p:pic>
      <p:sp>
        <p:nvSpPr>
          <p:cNvPr id="498" name="圆角矩形 497"/>
          <p:cNvSpPr/>
          <p:nvPr/>
        </p:nvSpPr>
        <p:spPr>
          <a:xfrm>
            <a:off x="7181850" y="1428750"/>
            <a:ext cx="1876425" cy="4438650"/>
          </a:xfrm>
          <a:prstGeom prst="roundRect">
            <a:avLst>
              <a:gd name="adj" fmla="val 710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499" name="圆角矩形 498"/>
          <p:cNvSpPr/>
          <p:nvPr/>
        </p:nvSpPr>
        <p:spPr>
          <a:xfrm>
            <a:off x="7372350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00" name="文本框 499" descr="{&quot;isTemplate&quot;:true,&quot;type&quot;:&quot;text&quot;}"/>
          <p:cNvSpPr txBox="1"/>
          <p:nvPr/>
        </p:nvSpPr>
        <p:spPr>
          <a:xfrm>
            <a:off x="7486650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04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01" name="文本框 500" descr="{&quot;isTemplate&quot;:true,&quot;type&quot;:&quot;text&quot;}"/>
          <p:cNvSpPr txBox="1"/>
          <p:nvPr/>
        </p:nvSpPr>
        <p:spPr>
          <a:xfrm>
            <a:off x="7372350" y="2247900"/>
            <a:ext cx="149542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发布退役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02" name="矩形 501"/>
          <p:cNvSpPr/>
          <p:nvPr/>
        </p:nvSpPr>
        <p:spPr>
          <a:xfrm>
            <a:off x="7372350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03" name="文本框 502" descr="{&quot;isTemplate&quot;:true,&quot;type&quot;:&quot;text&quot;}"/>
          <p:cNvSpPr txBox="1"/>
          <p:nvPr/>
        </p:nvSpPr>
        <p:spPr>
          <a:xfrm>
            <a:off x="7372350" y="2724150"/>
            <a:ext cx="149542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发布后方可检索。修订发新条，旧条留档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04" name="圆角矩形 503"/>
          <p:cNvSpPr/>
          <p:nvPr/>
        </p:nvSpPr>
        <p:spPr>
          <a:xfrm>
            <a:off x="7372350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5" name="文本框 504" descr="{&quot;isTemplate&quot;:true,&quot;type&quot;:&quot;text&quot;}"/>
          <p:cNvSpPr txBox="1"/>
          <p:nvPr/>
        </p:nvSpPr>
        <p:spPr>
          <a:xfrm>
            <a:off x="7505700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发布新条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6" name="圆角矩形 505"/>
          <p:cNvSpPr/>
          <p:nvPr/>
        </p:nvSpPr>
        <p:spPr>
          <a:xfrm>
            <a:off x="7372350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7" name="文本框 506" descr="{&quot;isTemplate&quot;:true,&quot;type&quot;:&quot;text&quot;}"/>
          <p:cNvSpPr txBox="1"/>
          <p:nvPr/>
        </p:nvSpPr>
        <p:spPr>
          <a:xfrm>
            <a:off x="7505700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退役旧条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08" name="圆角矩形 507"/>
          <p:cNvSpPr/>
          <p:nvPr/>
        </p:nvSpPr>
        <p:spPr>
          <a:xfrm>
            <a:off x="7372350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09" name="文本框 508" descr="{&quot;isTemplate&quot;:true,&quot;type&quot;:&quot;text&quot;}"/>
          <p:cNvSpPr txBox="1"/>
          <p:nvPr/>
        </p:nvSpPr>
        <p:spPr>
          <a:xfrm>
            <a:off x="7505700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旧条留档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10" name="圆角矩形 509"/>
          <p:cNvSpPr/>
          <p:nvPr/>
        </p:nvSpPr>
        <p:spPr>
          <a:xfrm>
            <a:off x="7372350" y="5419725"/>
            <a:ext cx="1057275" cy="238125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1" name="文本框 510" descr="{&quot;isTemplate&quot;:true,&quot;type&quot;:&quot;text&quot;}"/>
          <p:cNvSpPr txBox="1"/>
          <p:nvPr/>
        </p:nvSpPr>
        <p:spPr>
          <a:xfrm>
            <a:off x="7486650" y="5467350"/>
            <a:ext cx="8286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发布后可查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pic>
        <p:nvPicPr>
          <p:cNvPr id="512" name="图片 511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15425" y="3562350"/>
            <a:ext cx="171450" cy="171450"/>
          </a:xfrm>
          <a:prstGeom prst="rect">
            <a:avLst/>
          </a:prstGeom>
        </p:spPr>
      </p:pic>
      <p:sp>
        <p:nvSpPr>
          <p:cNvPr id="513" name="圆角矩形 512"/>
          <p:cNvSpPr/>
          <p:nvPr/>
        </p:nvSpPr>
        <p:spPr>
          <a:xfrm>
            <a:off x="9344025" y="1428750"/>
            <a:ext cx="2162175" cy="4438650"/>
          </a:xfrm>
          <a:prstGeom prst="roundRect">
            <a:avLst>
              <a:gd name="adj" fmla="val 6167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514" name="圆角矩形 513"/>
          <p:cNvSpPr/>
          <p:nvPr/>
        </p:nvSpPr>
        <p:spPr>
          <a:xfrm>
            <a:off x="9534525" y="1657350"/>
            <a:ext cx="419100" cy="419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sp>
        <p:nvSpPr>
          <p:cNvPr id="515" name="文本框 514" descr="{&quot;isTemplate&quot;:true,&quot;type&quot;:&quot;text&quot;}"/>
          <p:cNvSpPr txBox="1"/>
          <p:nvPr/>
        </p:nvSpPr>
        <p:spPr>
          <a:xfrm>
            <a:off x="9648825" y="1762125"/>
            <a:ext cx="2000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81322"/>
                </a:solidFill>
                <a:latin typeface="Inter"/>
                <a:ea typeface="Inter"/>
              </a:rPr>
              <a:t>05</a:t>
            </a:r>
            <a:endParaRPr lang="en-US" sz="1350" b="1">
              <a:solidFill>
                <a:srgbClr val="081322"/>
              </a:solidFill>
              <a:latin typeface="Inter"/>
              <a:ea typeface="Inter"/>
            </a:endParaRPr>
          </a:p>
        </p:txBody>
      </p:sp>
      <p:sp>
        <p:nvSpPr>
          <p:cNvPr id="516" name="文本框 515" descr="{&quot;isTemplate&quot;:true,&quot;type&quot;:&quot;text&quot;}"/>
          <p:cNvSpPr txBox="1"/>
          <p:nvPr/>
        </p:nvSpPr>
        <p:spPr>
          <a:xfrm>
            <a:off x="9534525" y="2247900"/>
            <a:ext cx="1781175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-22">
                <a:solidFill>
                  <a:srgbClr val="EAF2F8"/>
                </a:solidFill>
                <a:latin typeface="PingFang SC"/>
                <a:ea typeface="PingFang SC"/>
              </a:rPr>
              <a:t>出处问答</a:t>
            </a:r>
            <a:endParaRPr lang="zh-CN" sz="15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517" name="矩形 516"/>
          <p:cNvSpPr/>
          <p:nvPr/>
        </p:nvSpPr>
        <p:spPr>
          <a:xfrm>
            <a:off x="9534525" y="2590800"/>
            <a:ext cx="247650" cy="19050"/>
          </a:xfrm>
          <a:prstGeom prst="rect">
            <a:avLst/>
          </a:prstGeom>
          <a:solidFill>
            <a:srgbClr val="8FD8E8">
              <a:alpha val="35000"/>
            </a:srgbClr>
          </a:solidFill>
        </p:spPr>
        <p:txBody>
          <a:bodyPr/>
          <a:p/>
        </p:txBody>
      </p:sp>
      <p:sp>
        <p:nvSpPr>
          <p:cNvPr id="518" name="文本框 517" descr="{&quot;isTemplate&quot;:true,&quot;type&quot;:&quot;text&quot;}"/>
          <p:cNvSpPr txBox="1"/>
          <p:nvPr/>
        </p:nvSpPr>
        <p:spPr>
          <a:xfrm>
            <a:off x="9534525" y="2724150"/>
            <a:ext cx="1781175" cy="63817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sz="1125">
                <a:solidFill>
                  <a:srgbClr val="9FB4C6"/>
                </a:solidFill>
                <a:latin typeface="PingFang SC"/>
                <a:ea typeface="PingFang SC"/>
              </a:rPr>
              <a:t>对不上就说明未覆盖，不拿文首凑答案</a:t>
            </a:r>
            <a:endParaRPr lang="zh-CN" sz="1125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519" name="圆角矩形 518"/>
          <p:cNvSpPr/>
          <p:nvPr/>
        </p:nvSpPr>
        <p:spPr>
          <a:xfrm>
            <a:off x="9534525" y="359092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0" name="文本框 519" descr="{&quot;isTemplate&quot;:true,&quot;type&quot;:&quot;text&quot;}"/>
          <p:cNvSpPr txBox="1"/>
          <p:nvPr/>
        </p:nvSpPr>
        <p:spPr>
          <a:xfrm>
            <a:off x="9667875" y="353377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返回条目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1" name="圆角矩形 520"/>
          <p:cNvSpPr/>
          <p:nvPr/>
        </p:nvSpPr>
        <p:spPr>
          <a:xfrm>
            <a:off x="9534525" y="3867150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2" name="文本框 521" descr="{&quot;isTemplate&quot;:true,&quot;type&quot;:&quot;text&quot;}"/>
          <p:cNvSpPr txBox="1"/>
          <p:nvPr/>
        </p:nvSpPr>
        <p:spPr>
          <a:xfrm>
            <a:off x="9667875" y="3810000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定位原件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3" name="圆角矩形 522"/>
          <p:cNvSpPr/>
          <p:nvPr/>
        </p:nvSpPr>
        <p:spPr>
          <a:xfrm>
            <a:off x="9534525" y="4143375"/>
            <a:ext cx="47625" cy="47625"/>
          </a:xfrm>
          <a:prstGeom prst="roundRect">
            <a:avLst>
              <a:gd name="adj" fmla="val 50000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524" name="文本框 523" descr="{&quot;isTemplate&quot;:true,&quot;type&quot;:&quot;text&quot;}"/>
          <p:cNvSpPr txBox="1"/>
          <p:nvPr/>
        </p:nvSpPr>
        <p:spPr>
          <a:xfrm>
            <a:off x="9667875" y="4086225"/>
            <a:ext cx="5334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BDA"/>
                </a:solidFill>
                <a:latin typeface="PingFang SC"/>
                <a:ea typeface="PingFang SC"/>
              </a:rPr>
              <a:t>说明未覆盖</a:t>
            </a:r>
            <a:endParaRPr lang="zh-CN" sz="105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525" name="圆角矩形 524"/>
          <p:cNvSpPr/>
          <p:nvPr/>
        </p:nvSpPr>
        <p:spPr>
          <a:xfrm>
            <a:off x="9534525" y="5419725"/>
            <a:ext cx="995045" cy="238760"/>
          </a:xfrm>
          <a:prstGeom prst="roundRect">
            <a:avLst>
              <a:gd name="adj" fmla="val 3996000"/>
            </a:avLst>
          </a:prstGeom>
          <a:solidFill>
            <a:srgbClr val="5BC8C8">
              <a:alpha val="9000"/>
            </a:srgbClr>
          </a:solidFill>
          <a:ln w="12700">
            <a:solidFill>
              <a:srgbClr val="8FD8E8">
                <a:alpha val="24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6" name="文本框 525" descr="{&quot;isTemplate&quot;:true,&quot;type&quot;:&quot;text&quot;}"/>
          <p:cNvSpPr txBox="1"/>
          <p:nvPr/>
        </p:nvSpPr>
        <p:spPr>
          <a:xfrm>
            <a:off x="9648825" y="5467350"/>
            <a:ext cx="59055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FD8E8"/>
                </a:solidFill>
                <a:latin typeface="PingFang SC"/>
                <a:ea typeface="PingFang SC"/>
              </a:rPr>
              <a:t>不生成无据意见</a:t>
            </a:r>
            <a:endParaRPr lang="zh-CN" sz="90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527" name="任意多边形 52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528" name="文本框 52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529" name="文本框 52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17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1" name="" descr="// B · 05 内容页 · 核心理念 — 四宫格（玻璃卡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340, top: 140, width: 560, height: 400, borderRadius: 28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核心理念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CORE VALUES&lt;/Text&gt;&#10;        &lt;Box style={{ flex: 1 }} /&gt;&#10;        &lt;Text style={{ fontSize: 14, color: '#8FA6BC' }}&gt;四条原则，决定我们怎么做项目&lt;/Text&gt;&#10;    &lt;/Box&gt;&#10;&#10;    {/* B · 内容区 */}&#10;    &lt;Box style={{ flex: 1, flexDirection: 'row', flexWrap: 'wrap', gap: 24, paddingTop: 28, paddingBottom: 24 }}&gt;&#10;        {[&#10;            { icon: 'users', title: '以客户为中心', en: 'CLIENT FIRST', desc: '从客户的目标与约束出发设计方案，不以方法论套用代替业务判断。', act: '先问目标，再谈方案' },&#10;            { icon: 'chart-line', title: '以结果为导向', en: 'RESULT DRIVEN', desc: '每个阶段都定义可衡量的指标，用数据说明价值，而不是用篇幅说明努力。', act: '每阶段定义验收指标' },&#10;            { icon: 'file-text', title: '以方法为沉淀', en: 'METHOD BASED', desc: '把经验结构化为流程、模板与语料，让能力留存在组织而不是个人身上。', act: '项目结束即产出模板' },&#10;            { icon: 'clock', title: '以长期为承诺', en: 'LONG TERM', desc: '不交付一份报告就结束，陪跑到动作改变、指标改善并能够自我循环。', act: '季度复盘与持续迭代' }&#10;        ].map((c, idx) =&gt; (&#10;            &lt;Box key={idx} style={{ width: 556, height: 228, flexDirection: 'column', background: 'rgba(255,255,255,0.045)', border: '1px solid rgba(143,216,232,0.18)', borderRadius: 16, padding: '22px 28px 20px', boxShadow: '0 10px 34px rgba(0,0,0,0.36)' }}&gt;&#10;                &lt;Box style={{ flexDirection: 'row', alignItems: 'center', gap: 16 }}&gt;&#10;                    &lt;Box style={{ width: 54, height: 54, borderRadius: 16, background: 'linear-gradient(135deg, #8FD8E8 0%, #3FA8BF 100%)', justifyContent: 'center', alignItems: 'center', boxShadow: '0 6px 18px rgba(91,200,200,0.32)' }}&gt;&#10;                        &lt;FAIcon name={c.icon} style={{ fill: '#081322', width: 25, height: 25 }} /&gt;&#10;                    &lt;/Box&gt;&#10;                    &lt;Box style={{ flexDirection: 'column', gap: 6 }}&gt;&#10;                        &lt;Text style={{ fontSize: 24, fontWeight: 'bold', color: '#EAF2F8', letterSpacing: -0.3 }}&gt;{c.title}&lt;/Text&gt;&#10;                        &lt;Text style={{ fontSize: 12, color: '#5E7590', letterSpacing: 2.5, fontFamily: '&quot;Inter&quot;,&quot;Helvetica Neue&quot;,Arial,sans-serif' }}&gt;{c.en}&lt;/Text&gt;&#10;                    &lt;/Box&gt;&#10;                &lt;/Box&gt;&#10;                &lt;Text style={{ fontSize: 16, color: '#9FB4C6', lineHeight: 1.85, marginTop: 18 }}&gt;&#10;                    {c.desc}&#10;                &lt;/Text&gt;&#10;                &lt;Box style={{ marginTop: 'auto', flexDirection: 'row', alignItems: 'center', gap: 10, paddingTop: 12 }}&gt;&#10;                    &lt;Box style={{ width: 18, height: 2, background: 'linear-gradient(135deg, #8FD8E8 0%, #3FA8BF 100%)', borderRadius: 1 }} /&gt;&#10;                    &lt;Text style={{ fontSize: 14, color: '#8FD8E8' }}&gt;行动准则：{c.act}&lt;/Text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05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矩形 34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343" name="任意多边形 342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344" name="圆角矩形 343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345" name="文本框 344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知识能力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46" name="矩形 345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347" name="文本框 346" descr="{&quot;isTemplate&quot;:true,&quot;type&quot;:&quot;text&quot;}"/>
          <p:cNvSpPr txBox="1"/>
          <p:nvPr/>
        </p:nvSpPr>
        <p:spPr>
          <a:xfrm>
            <a:off x="2381250" y="590550"/>
            <a:ext cx="11715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CAPABILITY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348" name="文本框 347" descr="{&quot;isTemplate&quot;:true,&quot;type&quot;:&quot;text&quot;}"/>
          <p:cNvSpPr txBox="1"/>
          <p:nvPr/>
        </p:nvSpPr>
        <p:spPr>
          <a:xfrm>
            <a:off x="9639300" y="58102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仅召回已发布规则，未命中即未覆盖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349" name="圆角矩形 348"/>
          <p:cNvSpPr/>
          <p:nvPr/>
        </p:nvSpPr>
        <p:spPr>
          <a:xfrm>
            <a:off x="6858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0" name="圆角矩形 349"/>
          <p:cNvSpPr/>
          <p:nvPr/>
        </p:nvSpPr>
        <p:spPr>
          <a:xfrm>
            <a:off x="9525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1" name="图片 350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375" y="1762125"/>
            <a:ext cx="238125" cy="238125"/>
          </a:xfrm>
          <a:prstGeom prst="rect">
            <a:avLst/>
          </a:prstGeom>
        </p:spPr>
      </p:pic>
      <p:sp>
        <p:nvSpPr>
          <p:cNvPr id="352" name="文本框 351" descr="{&quot;isTemplate&quot;:true,&quot;type&quot;:&quot;text&quot;}"/>
          <p:cNvSpPr txBox="1"/>
          <p:nvPr/>
        </p:nvSpPr>
        <p:spPr>
          <a:xfrm>
            <a:off x="16192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检索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53" name="文本框 352" descr="{&quot;isTemplate&quot;:true,&quot;type&quot;:&quot;text&quot;}"/>
          <p:cNvSpPr txBox="1"/>
          <p:nvPr/>
        </p:nvSpPr>
        <p:spPr>
          <a:xfrm>
            <a:off x="16192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RETRIEVE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54" name="文本框 353" descr="{&quot;isTemplate&quot;:true,&quot;type&quot;:&quot;text&quot;}"/>
          <p:cNvSpPr txBox="1"/>
          <p:nvPr/>
        </p:nvSpPr>
        <p:spPr>
          <a:xfrm>
            <a:off x="9525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语义检索与关键词检索并行执行，重排序后返回规则正文、适用场景及出处。草稿与已退役条目不参与召回。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55" name="圆角矩形 354"/>
          <p:cNvSpPr/>
          <p:nvPr/>
        </p:nvSpPr>
        <p:spPr>
          <a:xfrm>
            <a:off x="9525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56" name="文本框 355" descr="{&quot;isTemplate&quot;:true,&quot;type&quot;:&quot;text&quot;}"/>
          <p:cNvSpPr txBox="1"/>
          <p:nvPr/>
        </p:nvSpPr>
        <p:spPr>
          <a:xfrm>
            <a:off x="12192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草稿不参与召回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57" name="圆角矩形 356"/>
          <p:cNvSpPr/>
          <p:nvPr/>
        </p:nvSpPr>
        <p:spPr>
          <a:xfrm>
            <a:off x="6210300" y="14097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58" name="圆角矩形 357"/>
          <p:cNvSpPr/>
          <p:nvPr/>
        </p:nvSpPr>
        <p:spPr>
          <a:xfrm>
            <a:off x="6477000" y="16192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59" name="图片 35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9875" y="1762125"/>
            <a:ext cx="238125" cy="238125"/>
          </a:xfrm>
          <a:prstGeom prst="rect">
            <a:avLst/>
          </a:prstGeom>
        </p:spPr>
      </p:pic>
      <p:sp>
        <p:nvSpPr>
          <p:cNvPr id="360" name="文本框 359" descr="{&quot;isTemplate&quot;:true,&quot;type&quot;:&quot;text&quot;}"/>
          <p:cNvSpPr txBox="1"/>
          <p:nvPr/>
        </p:nvSpPr>
        <p:spPr>
          <a:xfrm>
            <a:off x="7143750" y="16383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未覆盖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1" name="文本框 360" descr="{&quot;isTemplate&quot;:true,&quot;type&quot;:&quot;text&quot;}"/>
          <p:cNvSpPr txBox="1"/>
          <p:nvPr/>
        </p:nvSpPr>
        <p:spPr>
          <a:xfrm>
            <a:off x="7143750" y="19716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MISS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6477000" y="23050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未匹配到已发布规则，或重排序得分未达阈值时，结果为未覆盖。不以原文起始段、相邻条文或模型生成内容作为依据。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63" name="圆角矩形 362"/>
          <p:cNvSpPr/>
          <p:nvPr/>
        </p:nvSpPr>
        <p:spPr>
          <a:xfrm>
            <a:off x="6477000" y="33051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64" name="文本框 363" descr="{&quot;isTemplate&quot;:true,&quot;type&quot;:&quot;text&quot;}"/>
          <p:cNvSpPr txBox="1"/>
          <p:nvPr/>
        </p:nvSpPr>
        <p:spPr>
          <a:xfrm>
            <a:off x="6743700" y="32289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未达阈值即未覆盖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65" name="圆角矩形 364"/>
          <p:cNvSpPr/>
          <p:nvPr/>
        </p:nvSpPr>
        <p:spPr>
          <a:xfrm>
            <a:off x="6858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66" name="圆角矩形 365"/>
          <p:cNvSpPr/>
          <p:nvPr/>
        </p:nvSpPr>
        <p:spPr>
          <a:xfrm>
            <a:off x="9525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67" name="图片 366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5375" y="4162425"/>
            <a:ext cx="238125" cy="238125"/>
          </a:xfrm>
          <a:prstGeom prst="rect">
            <a:avLst/>
          </a:prstGeom>
        </p:spPr>
      </p:pic>
      <p:sp>
        <p:nvSpPr>
          <p:cNvPr id="368" name="文本框 367" descr="{&quot;isTemplate&quot;:true,&quot;type&quot;:&quot;text&quot;}"/>
          <p:cNvSpPr txBox="1"/>
          <p:nvPr/>
        </p:nvSpPr>
        <p:spPr>
          <a:xfrm>
            <a:off x="16192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资产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69" name="文本框 368" descr="{&quot;isTemplate&quot;:true,&quot;type&quot;:&quot;text&quot;}"/>
          <p:cNvSpPr txBox="1"/>
          <p:nvPr/>
        </p:nvSpPr>
        <p:spPr>
          <a:xfrm>
            <a:off x="16192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ASSET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0" name="文本框 369" descr="{&quot;isTemplate&quot;:true,&quot;type&quot;:&quot;text&quot;}"/>
          <p:cNvSpPr txBox="1"/>
          <p:nvPr/>
        </p:nvSpPr>
        <p:spPr>
          <a:xfrm>
            <a:off x="9525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规则正文、原件与索引分库存放。模型更换或索引重建仅重算索引，不改写已发布正文；修订则发布新版本并退役旧版本。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1" name="圆角矩形 370"/>
          <p:cNvSpPr/>
          <p:nvPr/>
        </p:nvSpPr>
        <p:spPr>
          <a:xfrm>
            <a:off x="9525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72" name="文本框 371" descr="{&quot;isTemplate&quot;:true,&quot;type&quot;:&quot;text&quot;}"/>
          <p:cNvSpPr txBox="1"/>
          <p:nvPr/>
        </p:nvSpPr>
        <p:spPr>
          <a:xfrm>
            <a:off x="12192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索引重建不改写正文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73" name="圆角矩形 372"/>
          <p:cNvSpPr/>
          <p:nvPr/>
        </p:nvSpPr>
        <p:spPr>
          <a:xfrm>
            <a:off x="6210300" y="3810000"/>
            <a:ext cx="5295900" cy="2171700"/>
          </a:xfrm>
          <a:prstGeom prst="roundRect">
            <a:avLst>
              <a:gd name="adj" fmla="val 701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6000"/>
              </a:srgbClr>
            </a:outerShdw>
          </a:effectLst>
        </p:spPr>
        <p:txBody>
          <a:bodyPr/>
          <a:p/>
        </p:txBody>
      </p:sp>
      <p:sp>
        <p:nvSpPr>
          <p:cNvPr id="374" name="圆角矩形 373"/>
          <p:cNvSpPr/>
          <p:nvPr/>
        </p:nvSpPr>
        <p:spPr>
          <a:xfrm>
            <a:off x="6477000" y="4019550"/>
            <a:ext cx="514350" cy="514350"/>
          </a:xfrm>
          <a:prstGeom prst="roundRect">
            <a:avLst>
              <a:gd name="adj" fmla="val 2963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  <a:effectLst>
            <a:outerShdw blurRad="171450" dist="57150" dir="5400000">
              <a:srgbClr val="5BC8C8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375" name="图片 374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19875" y="4162425"/>
            <a:ext cx="238125" cy="238125"/>
          </a:xfrm>
          <a:prstGeom prst="rect">
            <a:avLst/>
          </a:prstGeom>
        </p:spPr>
      </p:pic>
      <p:sp>
        <p:nvSpPr>
          <p:cNvPr id="376" name="文本框 375" descr="{&quot;isTemplate&quot;:true,&quot;type&quot;:&quot;text&quot;}"/>
          <p:cNvSpPr txBox="1"/>
          <p:nvPr/>
        </p:nvSpPr>
        <p:spPr>
          <a:xfrm>
            <a:off x="7143750" y="4038600"/>
            <a:ext cx="13620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 spc="-22">
                <a:solidFill>
                  <a:srgbClr val="EAF2F8"/>
                </a:solidFill>
                <a:latin typeface="PingFang SC"/>
                <a:ea typeface="PingFang SC"/>
              </a:rPr>
              <a:t>管理</a:t>
            </a:r>
            <a:endParaRPr lang="zh-CN" sz="1800" b="1" spc="-22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377" name="文本框 376" descr="{&quot;isTemplate&quot;:true,&quot;type&quot;:&quot;text&quot;}"/>
          <p:cNvSpPr txBox="1"/>
          <p:nvPr/>
        </p:nvSpPr>
        <p:spPr>
          <a:xfrm>
            <a:off x="7143750" y="4371975"/>
            <a:ext cx="136207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188">
                <a:solidFill>
                  <a:srgbClr val="5E7590"/>
                </a:solidFill>
                <a:latin typeface="Inter"/>
                <a:ea typeface="Inter"/>
              </a:rPr>
              <a:t>ADMIN</a:t>
            </a:r>
            <a:endParaRPr lang="en-US" sz="900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78" name="文本框 377" descr="{&quot;isTemplate&quot;:true,&quot;type&quot;:&quot;text&quot;}"/>
          <p:cNvSpPr txBox="1"/>
          <p:nvPr/>
        </p:nvSpPr>
        <p:spPr>
          <a:xfrm>
            <a:off x="6477000" y="4705350"/>
            <a:ext cx="4762500" cy="822960"/>
          </a:xfrm>
          <a:prstGeom prst="rect">
            <a:avLst/>
          </a:prstGeom>
        </p:spPr>
        <p:txBody>
          <a:bodyPr wrap="square" lIns="0" tIns="0" rIns="0" bIns="0"/>
          <a:p>
            <a:pPr>
              <a:lnSpc>
                <a:spcPct val="185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按集合管理原件入库、草稿、发布与退役，并支持检索预览，用于核验召回结果。未经发布的草稿不纳入检索范围。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379" name="圆角矩形 378"/>
          <p:cNvSpPr/>
          <p:nvPr/>
        </p:nvSpPr>
        <p:spPr>
          <a:xfrm>
            <a:off x="6477000" y="5705475"/>
            <a:ext cx="171450" cy="1905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380" name="文本框 379" descr="{&quot;isTemplate&quot;:true,&quot;type&quot;:&quot;text&quot;}"/>
          <p:cNvSpPr txBox="1"/>
          <p:nvPr/>
        </p:nvSpPr>
        <p:spPr>
          <a:xfrm>
            <a:off x="6743700" y="5629275"/>
            <a:ext cx="18669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边界：</a:t>
            </a:r>
            <a:r>
              <a:rPr lang="zh-CN" sz="1050">
                <a:solidFill>
                  <a:srgbClr val="8FD8E8"/>
                </a:solidFill>
                <a:latin typeface="PingFang SC"/>
                <a:ea typeface="PingFang SC"/>
              </a:rPr>
              <a:t>未发布不纳入检索</a:t>
            </a:r>
            <a:endParaRPr lang="zh-CN" sz="1050">
              <a:solidFill>
                <a:srgbClr val="8FD8E8"/>
              </a:solidFill>
              <a:latin typeface="PingFang SC"/>
              <a:ea typeface="PingFang SC"/>
            </a:endParaRPr>
          </a:p>
        </p:txBody>
      </p:sp>
      <p:sp>
        <p:nvSpPr>
          <p:cNvPr id="381" name="任意多边形 380"/>
          <p:cNvSpPr/>
          <p:nvPr/>
        </p:nvSpPr>
        <p:spPr>
          <a:xfrm>
            <a:off x="685800" y="62103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382" name="文本框 381" descr="{&quot;isTemplate&quot;:true,&quot;type&quot;:&quot;text&quot;}"/>
          <p:cNvSpPr txBox="1"/>
          <p:nvPr/>
        </p:nvSpPr>
        <p:spPr>
          <a:xfrm>
            <a:off x="685800" y="64293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383" name="文本框 382" descr="{&quot;isTemplate&quot;:true,&quot;type&quot;:&quot;text&quot;}"/>
          <p:cNvSpPr txBox="1"/>
          <p:nvPr/>
        </p:nvSpPr>
        <p:spPr>
          <a:xfrm>
            <a:off x="11087100" y="64198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18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84" name="圆角矩形 383"/>
          <p:cNvSpPr/>
          <p:nvPr/>
        </p:nvSpPr>
        <p:spPr>
          <a:xfrm>
            <a:off x="3238500" y="1333500"/>
            <a:ext cx="5334000" cy="3810000"/>
          </a:xfrm>
          <a:prstGeom prst="roundRect">
            <a:avLst>
              <a:gd name="adj" fmla="val 70000"/>
            </a:avLst>
          </a:prstGeom>
          <a:gradFill>
            <a:gsLst>
              <a:gs pos="0">
                <a:srgbClr val="5BC8C8">
                  <a:alpha val="9000"/>
                </a:srgbClr>
              </a:gs>
              <a:gs pos="70000">
                <a:srgbClr val="081322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txBody>
          <a:bodyPr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4" name="" descr="// B · 14 内容页 · 方法论体系 — 四层列表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20, top: 180, width: 520, height: 360, borderRadius: 260, background: 'radial-gradient(circle, rgba(91,200,200,0.09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方法论体系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METHODOLOGY&lt;/Text&gt;&#10;        &lt;Box style={{ flex: 1 }} /&gt;&#10;        &lt;Text style={{ fontSize: 14, color: '#8FA6BC' }}&gt;四层工具，从战略到执行的闭环&lt;/Text&gt;&#10;    &lt;/Box&gt;&#10;&#10;    {/* B · 内容区 */}&#10;    &lt;Box style={{ flex: 1, flexDirection: 'column', justifyContent: 'center', paddingBottom: 20 }}&gt;&#10;        {[&#10;            { no: '01', zh: '战略层', en: 'STRATEGY', items: ['市场规划', '客户规划', '商机规划', '目标分解与达标'] },&#10;            { no: '02', zh: '流程层', en: 'PROCESS', items: ['LTC 全流程', '6W 拜访流程', '销售流程标准化'] },&#10;            { no: '03', zh: '评估层', en: 'ASSESSMENT', items: ['C139 商机质量评估', 'WINNER 客户评估', '漏斗健康度诊断'] },&#10;            { no: '04', zh: '赋能层', en: 'ENABLEMENT', items: ['分层课程体系', '教练式辅导', '项目复盘与迭代'] }&#10;        ].map((r, idx) =&gt; (&#10;            &lt;Box key={idx} style={{ flexDirection: 'row', alignItems: 'center', paddingTop: 24, paddingBottom: 24, borderBottom: idx &lt; 3 ? '1px dashed rgba(143,216,232,0.18)' : 'none' }}&gt;&#10;                &lt;Box style={{ width: 300, flexDirection: 'row', alignItems: 'center', gap: 16 }}&gt;&#10;                    &lt;Text style={{ fontSize: 22, fontWeight: 'bold', color: '#5BC8C8', fontFamily: '&quot;Inter&quot;,&quot;Helvetica Neue&quot;,Arial,sans-serif', letterSpacing: -1 }}&gt;{r.no}&lt;/Text&gt;&#10;                    &lt;Box style={{ width: 1, height: 40, background: 'rgba(143,216,232,0.25)' }} /&gt;&#10;                    &lt;Box style={{ flexDirection: 'column', gap: 7 }}&gt;&#10;                        &lt;Text style={{ fontSize: 22, fontWeight: 'bold', color: '#EAF2F8', letterSpacing: -0.3 }}&gt;{r.zh}&lt;/Text&gt;&#10;                        &lt;Text style={{ fontSize: 11, color: '#5E7590', letterSpacing: 2.5, fontFamily: '&quot;Inter&quot;,&quot;Helvetica Neue&quot;,Arial,sans-serif' }}&gt;{r.en}&lt;/Text&gt;&#10;                    &lt;/Box&gt;&#10;                &lt;/Box&gt;&#10;                &lt;Box style={{ flex: 1, flexDirection: 'row', flexWrap: 'wrap', gap: 10 }}&gt;&#10;                    {r.items.map((it, i) =&gt; (&#10;                        &lt;Box key={i} style={{ padding: '8px 15px', borderRadius: 999, background: 'rgba(91,200,200,0.09)', border: '1px solid rgba(143,216,232,0.22)' }}&gt;&#10;                            &lt;Text style={{ fontSize: 15, color: '#8FD8E8' }}&gt;{it}&lt;/Text&gt;&#10;                        &lt;/Box&gt;&#10;                    ))}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4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矩形 15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156" name="任意多边形 155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157" name="圆角矩形 156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158" name="文本框 157" descr="{&quot;isTemplate&quot;:true,&quot;type&quot;:&quot;text&quot;}"/>
          <p:cNvSpPr txBox="1"/>
          <p:nvPr/>
        </p:nvSpPr>
        <p:spPr>
          <a:xfrm>
            <a:off x="866775" y="476250"/>
            <a:ext cx="2338705" cy="422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2400" b="1" spc="-37">
                <a:solidFill>
                  <a:srgbClr val="EAF2F8"/>
                </a:solidFill>
                <a:latin typeface="PingFang SC"/>
                <a:ea typeface="宋体" charset="0"/>
              </a:rPr>
              <a:t>知识库管理平台</a:t>
            </a:r>
            <a:endParaRPr lang="zh-CN" altLang="en-US" sz="2400" b="1" spc="-37">
              <a:solidFill>
                <a:srgbClr val="EAF2F8"/>
              </a:solidFill>
              <a:latin typeface="PingFang SC"/>
              <a:ea typeface="宋体" charset="0"/>
            </a:endParaRPr>
          </a:p>
        </p:txBody>
      </p:sp>
      <p:sp>
        <p:nvSpPr>
          <p:cNvPr id="159" name="矩形 158"/>
          <p:cNvSpPr/>
          <p:nvPr/>
        </p:nvSpPr>
        <p:spPr>
          <a:xfrm>
            <a:off x="25241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3362325" y="600075"/>
            <a:ext cx="2268220" cy="139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AGENTFORGE KNOWLEDGE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161" name="文本框 160" descr="{&quot;isTemplate&quot;:true,&quot;type&quot;:&quot;text&quot;}"/>
          <p:cNvSpPr txBox="1"/>
          <p:nvPr/>
        </p:nvSpPr>
        <p:spPr>
          <a:xfrm>
            <a:off x="9956165" y="608330"/>
            <a:ext cx="1550035" cy="14414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050">
                <a:solidFill>
                  <a:srgbClr val="8FA6BC"/>
                </a:solidFill>
                <a:latin typeface="PingFang SC"/>
                <a:ea typeface="宋体" charset="0"/>
              </a:rPr>
              <a:t>知识卡片发布与检索预览</a:t>
            </a:r>
            <a:endParaRPr lang="zh-CN" altLang="en-US" sz="1050">
              <a:solidFill>
                <a:srgbClr val="8FA6BC"/>
              </a:solidFill>
              <a:latin typeface="PingFang SC"/>
              <a:ea typeface="宋体" charset="0"/>
            </a:endParaRPr>
          </a:p>
        </p:txBody>
      </p:sp>
      <p:sp>
        <p:nvSpPr>
          <p:cNvPr id="207" name="任意多边形 206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11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362" name="文本框 361" descr="{&quot;isTemplate&quot;:true,&quot;type&quot;:&quot;text&quot;}"/>
          <p:cNvSpPr txBox="1"/>
          <p:nvPr/>
        </p:nvSpPr>
        <p:spPr>
          <a:xfrm>
            <a:off x="944880" y="5682615"/>
            <a:ext cx="4686300" cy="50736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lang="zh-CN" altLang="en-US" sz="1200">
                <a:solidFill>
                  <a:srgbClr val="9FB4C6"/>
                </a:solidFill>
                <a:latin typeface="PingFang SC"/>
                <a:ea typeface="宋体" charset="0"/>
              </a:rPr>
              <a:t>原件归档，提纯萃取发布后才能检索，显性知识</a:t>
            </a:r>
            <a:r>
              <a:rPr lang="en-US" altLang="zh-CN" sz="1200">
                <a:solidFill>
                  <a:srgbClr val="9FB4C6"/>
                </a:solidFill>
                <a:latin typeface="PingFang SC"/>
                <a:ea typeface="宋体" charset="0"/>
              </a:rPr>
              <a:t>+</a:t>
            </a:r>
            <a:r>
              <a:rPr lang="zh-CN" altLang="en-US" sz="1200">
                <a:solidFill>
                  <a:srgbClr val="9FB4C6"/>
                </a:solidFill>
                <a:latin typeface="PingFang SC"/>
                <a:ea typeface="宋体" charset="0"/>
              </a:rPr>
              <a:t>隐性经验与知识沉淀</a:t>
            </a:r>
            <a:endParaRPr lang="zh-CN" altLang="en-US" sz="1200">
              <a:solidFill>
                <a:srgbClr val="9FB4C6"/>
              </a:solidFill>
              <a:latin typeface="PingFang SC"/>
              <a:ea typeface="宋体" charset="0"/>
            </a:endParaRPr>
          </a:p>
        </p:txBody>
      </p:sp>
      <p:sp>
        <p:nvSpPr>
          <p:cNvPr id="3" name="文本框 2" descr="{&quot;isTemplate&quot;:true,&quot;type&quot;:&quot;text&quot;}"/>
          <p:cNvSpPr txBox="1"/>
          <p:nvPr/>
        </p:nvSpPr>
        <p:spPr>
          <a:xfrm>
            <a:off x="7246620" y="5668010"/>
            <a:ext cx="3298190" cy="320040"/>
          </a:xfrm>
          <a:prstGeom prst="rect">
            <a:avLst/>
          </a:prstGeom>
        </p:spPr>
        <p:txBody>
          <a:bodyPr wrap="square" lIns="0" tIns="0" rIns="0" bIns="0">
            <a:normAutofit lnSpcReduction="10000"/>
          </a:bodyPr>
          <a:p>
            <a:pPr>
              <a:lnSpc>
                <a:spcPct val="185000"/>
              </a:lnSpc>
            </a:pPr>
            <a:r>
              <a:rPr lang="zh-CN" altLang="en-US" sz="1200">
                <a:solidFill>
                  <a:srgbClr val="9FB4C6"/>
                </a:solidFill>
                <a:latin typeface="PingFang SC"/>
                <a:ea typeface="宋体" charset="0"/>
              </a:rPr>
              <a:t>专家隐性经验与知识沉淀可结构化，可行业定制</a:t>
            </a:r>
            <a:endParaRPr lang="zh-CN" altLang="en-US" sz="1200">
              <a:solidFill>
                <a:srgbClr val="9FB4C6"/>
              </a:solidFill>
              <a:latin typeface="PingFang SC"/>
              <a:ea typeface="宋体" charset="0"/>
            </a:endParaRPr>
          </a:p>
        </p:txBody>
      </p:sp>
      <p:pic>
        <p:nvPicPr>
          <p:cNvPr id="5" name="图片 4" descr="知识卡片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270" y="1312545"/>
            <a:ext cx="5392420" cy="4355465"/>
          </a:xfrm>
          <a:prstGeom prst="rect">
            <a:avLst/>
          </a:prstGeom>
        </p:spPr>
      </p:pic>
      <p:pic>
        <p:nvPicPr>
          <p:cNvPr id="6" name="图片 5" descr="知识经验模版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450" y="1312545"/>
            <a:ext cx="5473700" cy="44215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2" name="" descr="// B · 13 内容页 · 服务档位 — 三档卡（中间推荐）&#10;&lt;Slide style={{ width: 1280, height: 720, background: '#081322', position: 'relative', overflow: 'hidden', fontFamily: '&quot;PingFang SC&quot;,&quot;Source Han Sans SC&quot;,&quot;Microsoft YaHei&quot;,sans-serif', padding: '20px 72px', display: 'flex', flexDirection: 'column' }}&gt;&#10;&#10;    {/* 装饰：背景辉光 */}&#10;    &lt;Box style={{ position: 'absolute', left: 400, top: 130, width: 520, height: 380, borderRadius: 260, background: 'radial-gradient(circle, rgba(91,200,200,0.11) 0%, rgba(8,19,34,0) 70%)' }} /&gt;&#10;&#10;    {/* A · 标题块 */}&#10;    &lt;Box style={{ height: 100, flexDirection: 'row', alignItems: 'center', borderBottom: '1px solid rgba(143,216,232,0.15)' }}&gt;&#10;        &lt;Box style={{ width: 3, height: 28, background: '#5BC8C8', borderRadius: 2, marginRight: 16 }} /&gt;&#10;        &lt;Text style={{ fontSize: 32, fontWeight: 'bold', color: '#EAF2F8', letterSpacing: -0.5 }}&gt;服务档位&lt;/Text&gt;&#10;        &lt;Box style={{ width: 1, height: 18, background: 'rgba(199,169,107,0.5)', marginLeft: 16, marginRight: 16 }} /&gt;&#10;        &lt;Text style={{ fontSize: 13, color: '#C7A96B', letterSpacing: 3, fontFamily: '&quot;Inter&quot;,&quot;Helvetica Neue&quot;,Arial,sans-serif' }}&gt;ENGAGEMENT MODELS&lt;/Text&gt;&#10;        &lt;Box style={{ flex: 1 }} /&gt;&#10;        &lt;Text style={{ fontSize: 14, color: '#8FA6BC' }}&gt;按问题复杂度选择合作方式&lt;/Text&gt;&#10;    &lt;/Box&gt;&#10;&#10;    {/* B · 内容区 */}&#10;    &lt;Box style={{ flex: 1, flexDirection: 'row', gap: 24, paddingTop: 30, paddingBottom: 26 }}&gt;&#10;        {[&#10;            { name: '轻咨询', sub: '诊断工作坊', en: 'WORKSHOP', fit: '单点问题快速诊断', items: ['2 天诊断工作坊', '体系体检报告', '改进建议清单'], cycle: '2 – 3 周', hot: false },&#10;            { name: '标准咨询', sub: '体系重建', en: 'CONSULTING', fit: '销售体系整体升级', items: ['三层规划与流程设计', '制度与 SOP 落地', '关键岗位赋能'], cycle: '8 – 12 周', hot: true },&#10;            { name: '深度陪跑', sub: '智能化落地', en: 'PARTNERSHIP', fit: '长期共建与落地', items: ['智能化蓝图与中台', '知识萃取与语料库', '季度陪跑与复盘'], cycle: '6 – 12 个月', hot: false }&#10;        ].map((c, idx) =&gt; (&#10;            &lt;Box key={idx} style={{ flex: 1, flexDirection: 'column', borderRadius: 16, overflow: 'hidden', background: c.hot ? 'rgba(91,200,200,0.10)' : 'rgba(255,255,255,0.045)', border: c.hot ? '1.5px solid #5BC8C8' : '1px solid rgba(143,216,232,0.18)', boxShadow: c.hot ? '0 16px 40px rgba(0,0,0,0.46)' : '0 10px 34px rgba(0,0,0,0.34)' }}&gt;&#10;                &lt;Box style={{ height: 4, width: '100%', background: c.hot ? 'linear-gradient(90deg, #8FD8E8 0%, #3FA8BF 100%)' : 'rgba(143,216,232,0.22)' }} /&gt;&#10;                &lt;Box style={{ flex: 1, flexDirection: 'column', padding: '26px 26px 24px' }}&gt;&#10;                    &lt;Box style={{ flexDirection: 'row', alignItems: 'center' }}&gt;&#10;                        &lt;Text style={{ fontSize: 26, fontWeight: 'bold', color: '#EAF2F8', letterSpacing: -0.5 }}&gt;{c.name}&lt;/Text&gt;&#10;                        &lt;Box style={{ flex: 1 }} /&gt;&#10;                        {c.hot &amp;&amp; (&#10;                            &lt;Box style={{ padding: '4px 12px', borderRadius: 999, background: 'linear-gradient(135deg, #8FD8E8 0%, #3FA8BF 100%)' }}&gt;&#10;                                &lt;Text style={{ fontSize: 12, fontWeight: 'bold', color: '#081322' }}&gt;推荐&lt;/Text&gt;&#10;                            &lt;/Box&gt;&#10;                        )}&#10;                    &lt;/Box&gt;&#10;                    &lt;Text style={{ fontSize: 16, color: '#9FB4C6', marginTop: 8 }}&gt;{c.sub}&lt;/Text&gt;&#10;                    &lt;Text style={{ fontSize: 11, color: '#5E7590', letterSpacing: 2.5, marginTop: 10, fontFamily: '&quot;Inter&quot;,&quot;Helvetica Neue&quot;,Arial,sans-serif' }}&gt;{c.en}&lt;/Text&gt;&#10;&#10;                    &lt;Box style={{ flexDirection: 'row', alignItems: 'center', gap: 10, marginTop: 20 }}&gt;&#10;                        &lt;FAIcon name='users' style={{ fill: '#5BC8C8', width: 15, height: 15 }} /&gt;&#10;                        &lt;Text style={{ fontSize: 14, color: '#8FA6BC' }}&gt;适用：{c.fit}&lt;/Text&gt;&#10;                    &lt;/Box&gt;&#10;&#10;                    &lt;Box style={{ flexDirection: 'column', gap: 14, marginTop: 20, paddingTop: 20, borderTop: '1px dashed rgba(143,216,232,0.18)' }}&gt;&#10;                        {c.items.map((it, i) =&gt; (&#10;                            &lt;Box key={i} style={{ flexDirection: 'row', alignItems: 'center', gap: 11 }}&gt;&#10;                                &lt;FAIcon name='check-circle' style={{ fill: '#5BC8C8', width: 16, height: 16 }} /&gt;&#10;                                &lt;Text style={{ fontSize: 16, color: '#B9CBDA' }}&gt;{it}&lt;/Text&gt;&#10;                            &lt;/Box&gt;&#10;                        ))}&#10;                    &lt;/Box&gt;&#10;&#10;                    &lt;Box style={{ marginTop: 'auto', flexDirection: 'row', alignItems: 'center', paddingTop: 20 }}&gt;&#10;                        &lt;Text style={{ fontSize: 13, color: '#5E7590', letterSpacing: 1.5, fontFamily: '&quot;Inter&quot;,&quot;PingFang SC&quot;,sans-serif' }}&gt;交付周期&lt;/Text&gt;&#10;                        &lt;Box style={{ flex: 1 }} /&gt;&#10;                        &lt;Text style={{ fontSize: 17, fontWeight: 'bold', color: c.hot ? '#8FD8E8' : '#EAF2F8', fontFamily: '&quot;Inter&quot;,&quot;PingFang SC&quot;,sans-serif' }}&gt;{c.cycle}&lt;/Text&gt;&#10;                    &lt;/Box&gt;&#10;                &lt;/Box&gt;&#10;            &lt;/Box&gt;&#10;        ))}&#10;    &lt;/Box&gt;&#10;&#10;    {/* C · 页脚条 */}&#10;    &lt;Box style={{ height: 60, flexDirection: 'row', alignItems: 'center', borderTop: '1px solid rgba(199,169,107,0.22)' }}&gt;&#10;        &lt;Text style={{ fontSize: 12, color: '#5E7590' }}&gt;涤生咨询 · DISHENG CONSULTING&lt;/Text&gt;&#10;        &lt;Box style={{ flex: 1 }} /&gt;&#10;        &lt;Text style={{ fontSize: 14, color: '#5E7590', fontFamily: '&quot;Inter&quot;,&quot;Helvetica Neue&quot;,Arial,sans-serif' }}&gt;13 / 16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 9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322"/>
          </a:solidFill>
        </p:spPr>
        <p:txBody>
          <a:bodyPr/>
          <a:p/>
        </p:txBody>
      </p:sp>
      <p:sp>
        <p:nvSpPr>
          <p:cNvPr id="94" name="任意多边形 93"/>
          <p:cNvSpPr/>
          <p:nvPr/>
        </p:nvSpPr>
        <p:spPr>
          <a:xfrm>
            <a:off x="685800" y="190500"/>
            <a:ext cx="10820400" cy="952500"/>
          </a:xfrm>
          <a:custGeom>
            <a:avLst/>
            <a:gdLst/>
            <a:ahLst/>
            <a:cxnLst/>
            <a:pathLst>
              <a:path w="1136" h="100">
                <a:moveTo>
                  <a:pt x="0" y="99"/>
                </a:moveTo>
                <a:lnTo>
                  <a:pt x="1136" y="99"/>
                </a:lnTo>
                <a:lnTo>
                  <a:pt x="1136" y="100"/>
                </a:lnTo>
                <a:lnTo>
                  <a:pt x="0" y="100"/>
                </a:lnTo>
                <a:close/>
              </a:path>
            </a:pathLst>
          </a:custGeom>
          <a:solidFill>
            <a:srgbClr val="8FD8E8">
              <a:alpha val="15000"/>
            </a:srgbClr>
          </a:solidFill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685800" y="533400"/>
            <a:ext cx="28575" cy="266700"/>
          </a:xfrm>
          <a:prstGeom prst="roundRect">
            <a:avLst>
              <a:gd name="adj" fmla="val 66667"/>
            </a:avLst>
          </a:prstGeom>
          <a:solidFill>
            <a:srgbClr val="5BC8C8"/>
          </a:solidFill>
        </p:spPr>
        <p:txBody>
          <a:bodyPr/>
          <a:p/>
        </p:txBody>
      </p:sp>
      <p:sp>
        <p:nvSpPr>
          <p:cNvPr id="96" name="文本框 95" descr="{&quot;isTemplate&quot;:true,&quot;type&quot;:&quot;text&quot;}"/>
          <p:cNvSpPr txBox="1"/>
          <p:nvPr/>
        </p:nvSpPr>
        <p:spPr>
          <a:xfrm>
            <a:off x="866775" y="476250"/>
            <a:ext cx="1200150" cy="3714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 spc="-37">
                <a:solidFill>
                  <a:srgbClr val="EAF2F8"/>
                </a:solidFill>
                <a:latin typeface="PingFang SC"/>
                <a:ea typeface="PingFang SC"/>
              </a:rPr>
              <a:t>实施边界</a:t>
            </a:r>
            <a:endParaRPr lang="zh-CN" sz="240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97" name="矩形 96"/>
          <p:cNvSpPr/>
          <p:nvPr/>
        </p:nvSpPr>
        <p:spPr>
          <a:xfrm>
            <a:off x="2219325" y="581025"/>
            <a:ext cx="9525" cy="171450"/>
          </a:xfrm>
          <a:prstGeom prst="rect">
            <a:avLst/>
          </a:prstGeom>
          <a:solidFill>
            <a:srgbClr val="C7A96B">
              <a:alpha val="50000"/>
            </a:srgbClr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/>
        </p:nvSpPr>
        <p:spPr>
          <a:xfrm>
            <a:off x="2381250" y="590550"/>
            <a:ext cx="1895475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225">
                <a:solidFill>
                  <a:srgbClr val="C7A96B"/>
                </a:solidFill>
                <a:latin typeface="Inter"/>
                <a:ea typeface="Inter"/>
              </a:rPr>
              <a:t>SCOPE</a:t>
            </a:r>
            <a:endParaRPr lang="en-US" sz="975" spc="225">
              <a:solidFill>
                <a:srgbClr val="C7A96B"/>
              </a:solidFill>
              <a:latin typeface="Inter"/>
              <a:ea typeface="Inter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/>
        </p:nvSpPr>
        <p:spPr>
          <a:xfrm>
            <a:off x="9906000" y="581025"/>
            <a:ext cx="16002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本期交付、人工保留与后续事项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00" name="圆角矩形 99"/>
          <p:cNvSpPr/>
          <p:nvPr/>
        </p:nvSpPr>
        <p:spPr>
          <a:xfrm>
            <a:off x="685800" y="1428750"/>
            <a:ext cx="3457575" cy="4419600"/>
          </a:xfrm>
          <a:prstGeom prst="roundRect">
            <a:avLst>
              <a:gd name="adj" fmla="val 440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4000"/>
              </a:srgbClr>
            </a:outerShdw>
          </a:effectLst>
        </p:spPr>
        <p:txBody>
          <a:bodyPr/>
          <a:p/>
        </p:txBody>
      </p:sp>
      <p:sp>
        <p:nvSpPr>
          <p:cNvPr id="101" name="任意多边形 100"/>
          <p:cNvSpPr/>
          <p:nvPr/>
        </p:nvSpPr>
        <p:spPr>
          <a:xfrm>
            <a:off x="685800" y="1428750"/>
            <a:ext cx="3457575" cy="38100"/>
          </a:xfrm>
          <a:custGeom>
            <a:avLst/>
            <a:gdLst/>
            <a:ahLst/>
            <a:cxnLst/>
            <a:pathLst>
              <a:path w="363" h="4">
                <a:moveTo>
                  <a:pt x="347" y="0"/>
                </a:moveTo>
                <a:cubicBezTo>
                  <a:pt x="351" y="0"/>
                  <a:pt x="355" y="2"/>
                  <a:pt x="358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8FD8E8">
              <a:alpha val="22000"/>
            </a:srgbClr>
          </a:solidFill>
        </p:spPr>
        <p:txBody>
          <a:bodyPr/>
          <a:p/>
        </p:txBody>
      </p:sp>
      <p:sp>
        <p:nvSpPr>
          <p:cNvPr id="102" name="文本框 101" descr="{&quot;isTemplate&quot;:true,&quot;type&quot;:&quot;text&quot;}"/>
          <p:cNvSpPr txBox="1"/>
          <p:nvPr/>
        </p:nvSpPr>
        <p:spPr>
          <a:xfrm>
            <a:off x="933450" y="1714500"/>
            <a:ext cx="733425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本期交付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03" name="文本框 102" descr="{&quot;isTemplate&quot;:true,&quot;type&quot;:&quot;text&quot;}"/>
          <p:cNvSpPr txBox="1"/>
          <p:nvPr/>
        </p:nvSpPr>
        <p:spPr>
          <a:xfrm>
            <a:off x="933450" y="2095500"/>
            <a:ext cx="2962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录入与评审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04" name="文本框 103" descr="{&quot;isTemplate&quot;:true,&quot;type&quot;:&quot;text&quot;}"/>
          <p:cNvSpPr txBox="1"/>
          <p:nvPr/>
        </p:nvSpPr>
        <p:spPr>
          <a:xfrm>
            <a:off x="933450" y="23812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SCOPE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05" name="图片 10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3450" y="2714625"/>
            <a:ext cx="142875" cy="142875"/>
          </a:xfrm>
          <a:prstGeom prst="rect">
            <a:avLst/>
          </a:prstGeom>
        </p:spPr>
      </p:pic>
      <p:sp>
        <p:nvSpPr>
          <p:cNvPr id="106" name="文本框 105" descr="{&quot;isTemplate&quot;:true,&quot;type&quot;:&quot;text&quot;}"/>
          <p:cNvSpPr txBox="1"/>
          <p:nvPr/>
        </p:nvSpPr>
        <p:spPr>
          <a:xfrm>
            <a:off x="1171575" y="2705100"/>
            <a:ext cx="1466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合同创建录入与评审辅助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07" name="任意多边形 106"/>
          <p:cNvSpPr/>
          <p:nvPr/>
        </p:nvSpPr>
        <p:spPr>
          <a:xfrm>
            <a:off x="933450" y="3057525"/>
            <a:ext cx="2962275" cy="1047750"/>
          </a:xfrm>
          <a:custGeom>
            <a:avLst/>
            <a:gdLst/>
            <a:ahLst/>
            <a:cxnLst/>
            <a:pathLst>
              <a:path w="311" h="110">
                <a:moveTo>
                  <a:pt x="0" y="0"/>
                </a:moveTo>
                <a:lnTo>
                  <a:pt x="311" y="0"/>
                </a:lnTo>
                <a:lnTo>
                  <a:pt x="311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08" name="图片 10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276600"/>
            <a:ext cx="152400" cy="152400"/>
          </a:xfrm>
          <a:prstGeom prst="rect">
            <a:avLst/>
          </a:prstGeom>
        </p:spPr>
      </p:pic>
      <p:sp>
        <p:nvSpPr>
          <p:cNvPr id="109" name="文本框 108" descr="{&quot;isTemplate&quot;:true,&quot;type&quot;:&quot;text&quot;}"/>
          <p:cNvSpPr txBox="1"/>
          <p:nvPr/>
        </p:nvSpPr>
        <p:spPr>
          <a:xfrm>
            <a:off x="1190625" y="3257550"/>
            <a:ext cx="1057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B9CBDA"/>
                </a:solidFill>
                <a:latin typeface="PingFang SC"/>
                <a:ea typeface="PingFang SC"/>
              </a:rPr>
              <a:t>评审卡按环节汇编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10" name="图片 10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600450"/>
            <a:ext cx="152400" cy="152400"/>
          </a:xfrm>
          <a:prstGeom prst="rect">
            <a:avLst/>
          </a:prstGeom>
        </p:spPr>
      </p:pic>
      <p:sp>
        <p:nvSpPr>
          <p:cNvPr id="111" name="文本框 110" descr="{&quot;isTemplate&quot;:true,&quot;type&quot;:&quot;text&quot;}"/>
          <p:cNvSpPr txBox="1"/>
          <p:nvPr/>
        </p:nvSpPr>
        <p:spPr>
          <a:xfrm>
            <a:off x="1190625" y="358140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依据条目同步发布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12" name="图片 1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" y="3924300"/>
            <a:ext cx="152400" cy="152400"/>
          </a:xfrm>
          <a:prstGeom prst="rect">
            <a:avLst/>
          </a:prstGeom>
        </p:spPr>
      </p:pic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1190625" y="390525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高频依据先行发布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933450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同步事项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3238500" y="5419725"/>
            <a:ext cx="65722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8"/>
                </a:solidFill>
                <a:latin typeface="Inter"/>
                <a:ea typeface="Inter"/>
              </a:rPr>
              <a:t>同步</a:t>
            </a:r>
            <a:r>
              <a:rPr lang="zh-CN" sz="1275" b="1">
                <a:solidFill>
                  <a:srgbClr val="EAF2F8"/>
                </a:solidFill>
                <a:latin typeface="Inter"/>
                <a:ea typeface="Inter"/>
              </a:rPr>
              <a:t>发布</a:t>
            </a:r>
            <a:endParaRPr lang="zh-CN" sz="1275" b="1">
              <a:solidFill>
                <a:srgbClr val="EAF2F8"/>
              </a:solidFill>
              <a:latin typeface="Inter"/>
              <a:ea typeface="Inter"/>
            </a:endParaRPr>
          </a:p>
        </p:txBody>
      </p:sp>
      <p:sp>
        <p:nvSpPr>
          <p:cNvPr id="116" name="圆角矩形 115"/>
          <p:cNvSpPr/>
          <p:nvPr/>
        </p:nvSpPr>
        <p:spPr>
          <a:xfrm>
            <a:off x="4371975" y="1428750"/>
            <a:ext cx="3448050" cy="4419600"/>
          </a:xfrm>
          <a:prstGeom prst="roundRect">
            <a:avLst>
              <a:gd name="adj" fmla="val 4420"/>
            </a:avLst>
          </a:prstGeom>
          <a:solidFill>
            <a:srgbClr val="5BC8C8">
              <a:alpha val="10000"/>
            </a:srgbClr>
          </a:solidFill>
          <a:ln w="19050">
            <a:solidFill>
              <a:srgbClr val="5BC8C8"/>
            </a:solidFill>
            <a:prstDash val="solid"/>
          </a:ln>
          <a:effectLst>
            <a:outerShdw blurRad="381000" dist="152400" dir="5400000">
              <a:srgbClr val="000000">
                <a:alpha val="46000"/>
              </a:srgbClr>
            </a:outerShdw>
          </a:effectLst>
        </p:spPr>
        <p:txBody>
          <a:bodyPr/>
          <a:p/>
        </p:txBody>
      </p:sp>
      <p:sp>
        <p:nvSpPr>
          <p:cNvPr id="117" name="任意多边形 116"/>
          <p:cNvSpPr/>
          <p:nvPr/>
        </p:nvSpPr>
        <p:spPr>
          <a:xfrm>
            <a:off x="4371975" y="1428750"/>
            <a:ext cx="3448050" cy="38100"/>
          </a:xfrm>
          <a:custGeom>
            <a:avLst/>
            <a:gdLst/>
            <a:ahLst/>
            <a:cxnLst/>
            <a:pathLst>
              <a:path w="362" h="4">
                <a:moveTo>
                  <a:pt x="346" y="0"/>
                </a:moveTo>
                <a:cubicBezTo>
                  <a:pt x="350" y="0"/>
                  <a:pt x="354" y="2"/>
                  <a:pt x="357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6" y="0"/>
                </a:lnTo>
                <a:close/>
              </a:path>
            </a:pathLst>
          </a:cu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0" scaled="1"/>
          </a:gradFill>
        </p:spPr>
        <p:txBody>
          <a:bodyPr/>
          <a:p/>
        </p:txBody>
      </p:sp>
      <p:sp>
        <p:nvSpPr>
          <p:cNvPr id="118" name="文本框 117" descr="{&quot;isTemplate&quot;:true,&quot;type&quot;:&quot;text&quot;}"/>
          <p:cNvSpPr txBox="1"/>
          <p:nvPr/>
        </p:nvSpPr>
        <p:spPr>
          <a:xfrm>
            <a:off x="4619625" y="1714500"/>
            <a:ext cx="9715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人工保留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19" name="圆角矩形 118"/>
          <p:cNvSpPr/>
          <p:nvPr/>
        </p:nvSpPr>
        <p:spPr>
          <a:xfrm>
            <a:off x="7038340" y="1762125"/>
            <a:ext cx="690880" cy="257175"/>
          </a:xfrm>
          <a:prstGeom prst="roundRect">
            <a:avLst>
              <a:gd name="adj" fmla="val 4343478"/>
            </a:avLst>
          </a:prstGeom>
          <a:gradFill>
            <a:gsLst>
              <a:gs pos="0">
                <a:srgbClr val="8FD8E8"/>
              </a:gs>
              <a:gs pos="100000">
                <a:srgbClr val="3FA8BF"/>
              </a:gs>
            </a:gsLst>
            <a:lin ang="2700000" scaled="1"/>
          </a:gradFill>
        </p:spPr>
        <p:txBody>
          <a:bodyPr/>
          <a:p/>
        </p:txBody>
      </p:sp>
      <p:sp>
        <p:nvSpPr>
          <p:cNvPr id="120" name="文本框 119" descr="{&quot;isTemplate&quot;:true,&quot;type&quot;:&quot;text&quot;}"/>
          <p:cNvSpPr txBox="1"/>
          <p:nvPr/>
        </p:nvSpPr>
        <p:spPr>
          <a:xfrm>
            <a:off x="7159625" y="1800225"/>
            <a:ext cx="228600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>
                <a:solidFill>
                  <a:srgbClr val="081322"/>
                </a:solidFill>
                <a:latin typeface="PingFang SC"/>
                <a:ea typeface="PingFang SC"/>
              </a:rPr>
              <a:t>不可替代</a:t>
            </a:r>
            <a:endParaRPr lang="zh-CN" sz="900" b="1">
              <a:solidFill>
                <a:srgbClr val="081322"/>
              </a:solidFill>
              <a:latin typeface="PingFang SC"/>
              <a:ea typeface="PingFang SC"/>
            </a:endParaRPr>
          </a:p>
        </p:txBody>
      </p:sp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4619625" y="2095500"/>
            <a:ext cx="295275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签署定责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4619625" y="2381250"/>
            <a:ext cx="2952750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SIGN-OFF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23" name="图片 122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19625" y="2714625"/>
            <a:ext cx="142875" cy="142875"/>
          </a:xfrm>
          <a:prstGeom prst="rect">
            <a:avLst/>
          </a:prstGeom>
        </p:spPr>
      </p:pic>
      <p:sp>
        <p:nvSpPr>
          <p:cNvPr id="124" name="文本框 123" descr="{&quot;isTemplate&quot;:true,&quot;type&quot;:&quot;text&quot;}"/>
          <p:cNvSpPr txBox="1"/>
          <p:nvPr/>
        </p:nvSpPr>
        <p:spPr>
          <a:xfrm>
            <a:off x="4857750" y="2705100"/>
            <a:ext cx="146685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签署、盖章、建单与定责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25" name="任意多边形 124"/>
          <p:cNvSpPr/>
          <p:nvPr/>
        </p:nvSpPr>
        <p:spPr>
          <a:xfrm>
            <a:off x="4619625" y="3057525"/>
            <a:ext cx="2952750" cy="1047750"/>
          </a:xfrm>
          <a:custGeom>
            <a:avLst/>
            <a:gdLst/>
            <a:ahLst/>
            <a:cxnLst/>
            <a:pathLst>
              <a:path w="310" h="110">
                <a:moveTo>
                  <a:pt x="0" y="0"/>
                </a:moveTo>
                <a:lnTo>
                  <a:pt x="310" y="0"/>
                </a:lnTo>
                <a:lnTo>
                  <a:pt x="310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26" name="图片 12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276600"/>
            <a:ext cx="152400" cy="152400"/>
          </a:xfrm>
          <a:prstGeom prst="rect">
            <a:avLst/>
          </a:prstGeom>
        </p:spPr>
      </p:pic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4876800" y="3257550"/>
            <a:ext cx="13716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授权是否超限由人判断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28" name="图片 12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600450"/>
            <a:ext cx="152400" cy="152400"/>
          </a:xfrm>
          <a:prstGeom prst="rect">
            <a:avLst/>
          </a:prstGeom>
        </p:spPr>
      </p:pic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4876800" y="3581400"/>
            <a:ext cx="11811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不判断方案是否合格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30" name="图片 12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19625" y="3924300"/>
            <a:ext cx="152400" cy="152400"/>
          </a:xfrm>
          <a:prstGeom prst="rect">
            <a:avLst/>
          </a:prstGeom>
        </p:spPr>
      </p:pic>
      <p:sp>
        <p:nvSpPr>
          <p:cNvPr id="131" name="文本框 130" descr="{&quot;isTemplate&quot;:true,&quot;type&quot;:&quot;text&quot;}"/>
          <p:cNvSpPr txBox="1"/>
          <p:nvPr/>
        </p:nvSpPr>
        <p:spPr>
          <a:xfrm>
            <a:off x="4876800" y="3905250"/>
            <a:ext cx="914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知识发布须负责人签核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4619625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责任归属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6848475" y="5419725"/>
            <a:ext cx="7239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8FD8E8"/>
                </a:solidFill>
                <a:latin typeface="Inter"/>
                <a:ea typeface="Inter"/>
              </a:rPr>
              <a:t>人工</a:t>
            </a:r>
            <a:r>
              <a:rPr lang="zh-CN" sz="1275" b="1">
                <a:solidFill>
                  <a:srgbClr val="8FD8E8"/>
                </a:solidFill>
                <a:latin typeface="Inter"/>
                <a:ea typeface="Inter"/>
              </a:rPr>
              <a:t>完成</a:t>
            </a:r>
            <a:endParaRPr lang="zh-CN" sz="1275" b="1">
              <a:solidFill>
                <a:srgbClr val="8FD8E8"/>
              </a:solidFill>
              <a:latin typeface="Inter"/>
              <a:ea typeface="Inter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8048625" y="1428750"/>
            <a:ext cx="3457575" cy="4419600"/>
          </a:xfrm>
          <a:prstGeom prst="roundRect">
            <a:avLst>
              <a:gd name="adj" fmla="val 4408"/>
            </a:avLst>
          </a:prstGeom>
          <a:solidFill>
            <a:srgbClr val="FFFFFF">
              <a:alpha val="4500"/>
            </a:srgbClr>
          </a:solidFill>
          <a:ln w="12700">
            <a:solidFill>
              <a:srgbClr val="8FD8E8">
                <a:alpha val="18000"/>
              </a:srgbClr>
            </a:solidFill>
            <a:prstDash val="solid"/>
          </a:ln>
          <a:effectLst>
            <a:outerShdw blurRad="323850" dist="95250" dir="5400000">
              <a:srgbClr val="000000">
                <a:alpha val="34000"/>
              </a:srgbClr>
            </a:outerShdw>
          </a:effectLst>
        </p:spPr>
        <p:txBody>
          <a:bodyPr/>
          <a:p/>
        </p:txBody>
      </p:sp>
      <p:sp>
        <p:nvSpPr>
          <p:cNvPr id="135" name="任意多边形 134"/>
          <p:cNvSpPr/>
          <p:nvPr/>
        </p:nvSpPr>
        <p:spPr>
          <a:xfrm>
            <a:off x="8048625" y="1428750"/>
            <a:ext cx="3457575" cy="38100"/>
          </a:xfrm>
          <a:custGeom>
            <a:avLst/>
            <a:gdLst/>
            <a:ahLst/>
            <a:cxnLst/>
            <a:pathLst>
              <a:path w="363" h="4">
                <a:moveTo>
                  <a:pt x="347" y="0"/>
                </a:moveTo>
                <a:cubicBezTo>
                  <a:pt x="351" y="0"/>
                  <a:pt x="355" y="2"/>
                  <a:pt x="358" y="4"/>
                </a:cubicBezTo>
                <a:lnTo>
                  <a:pt x="5" y="4"/>
                </a:lnTo>
                <a:cubicBezTo>
                  <a:pt x="8" y="1"/>
                  <a:pt x="12" y="0"/>
                  <a:pt x="16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8FD8E8">
              <a:alpha val="22000"/>
            </a:srgbClr>
          </a:solidFill>
        </p:spPr>
        <p:txBody>
          <a:bodyPr/>
          <a:p/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8296275" y="1714500"/>
            <a:ext cx="9715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-37">
                <a:solidFill>
                  <a:srgbClr val="EAF2F8"/>
                </a:solidFill>
                <a:latin typeface="PingFang SC"/>
                <a:ea typeface="PingFang SC"/>
              </a:rPr>
              <a:t>后续事项</a:t>
            </a:r>
            <a:endParaRPr lang="zh-CN" sz="1950" b="1" spc="-37">
              <a:solidFill>
                <a:srgbClr val="EAF2F8"/>
              </a:solidFill>
              <a:latin typeface="PingFang SC"/>
              <a:ea typeface="PingFang SC"/>
            </a:endParaRPr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8296275" y="2095500"/>
            <a:ext cx="2962275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9FB4C6"/>
                </a:solidFill>
                <a:latin typeface="PingFang SC"/>
                <a:ea typeface="PingFang SC"/>
              </a:rPr>
              <a:t>不纳入本期</a:t>
            </a:r>
            <a:endParaRPr lang="zh-CN" sz="1200">
              <a:solidFill>
                <a:srgbClr val="9FB4C6"/>
              </a:solidFill>
              <a:latin typeface="PingFang SC"/>
              <a:ea typeface="PingFang SC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8296275" y="2381250"/>
            <a:ext cx="2962275" cy="1333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spc="188">
                <a:solidFill>
                  <a:srgbClr val="5E7590"/>
                </a:solidFill>
                <a:latin typeface="Inter"/>
                <a:ea typeface="Inter"/>
              </a:rPr>
              <a:t>LATER</a:t>
            </a:r>
            <a:endParaRPr lang="en-US" sz="825" spc="188">
              <a:solidFill>
                <a:srgbClr val="5E7590"/>
              </a:solidFill>
              <a:latin typeface="Inter"/>
              <a:ea typeface="Inter"/>
            </a:endParaRPr>
          </a:p>
        </p:txBody>
      </p:sp>
      <p:pic>
        <p:nvPicPr>
          <p:cNvPr id="139" name="图片 13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96275" y="2714625"/>
            <a:ext cx="142875" cy="142875"/>
          </a:xfrm>
          <a:prstGeom prst="rect">
            <a:avLst/>
          </a:prstGeom>
        </p:spPr>
      </p:pic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8534400" y="2705100"/>
            <a:ext cx="13335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范围：</a:t>
            </a:r>
            <a:r>
              <a:rPr lang="zh-CN" sz="1050">
                <a:solidFill>
                  <a:srgbClr val="8FA6BC"/>
                </a:solidFill>
                <a:latin typeface="PingFang SC"/>
                <a:ea typeface="PingFang SC"/>
              </a:rPr>
              <a:t>资信前移与销售管理联动</a:t>
            </a:r>
            <a:endParaRPr lang="zh-CN" sz="1050">
              <a:solidFill>
                <a:srgbClr val="8FA6BC"/>
              </a:solidFill>
              <a:latin typeface="PingFang SC"/>
              <a:ea typeface="PingFang SC"/>
            </a:endParaRPr>
          </a:p>
        </p:txBody>
      </p:sp>
      <p:sp>
        <p:nvSpPr>
          <p:cNvPr id="141" name="任意多边形 140"/>
          <p:cNvSpPr/>
          <p:nvPr/>
        </p:nvSpPr>
        <p:spPr>
          <a:xfrm>
            <a:off x="8296275" y="3057525"/>
            <a:ext cx="2962275" cy="1047750"/>
          </a:xfrm>
          <a:custGeom>
            <a:avLst/>
            <a:gdLst/>
            <a:ahLst/>
            <a:cxnLst/>
            <a:pathLst>
              <a:path w="311" h="110">
                <a:moveTo>
                  <a:pt x="0" y="0"/>
                </a:moveTo>
                <a:lnTo>
                  <a:pt x="311" y="0"/>
                </a:lnTo>
                <a:lnTo>
                  <a:pt x="311" y="1"/>
                </a:lnTo>
                <a:lnTo>
                  <a:pt x="0" y="1"/>
                </a:lnTo>
                <a:close/>
              </a:path>
            </a:pathLst>
          </a:custGeom>
          <a:solidFill>
            <a:srgbClr val="8FD8E8">
              <a:alpha val="18000"/>
            </a:srgbClr>
          </a:solidFill>
        </p:spPr>
        <p:txBody>
          <a:bodyPr/>
          <a:p/>
        </p:txBody>
      </p:sp>
      <p:pic>
        <p:nvPicPr>
          <p:cNvPr id="142" name="图片 14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276600"/>
            <a:ext cx="152400" cy="152400"/>
          </a:xfrm>
          <a:prstGeom prst="rect">
            <a:avLst/>
          </a:prstGeom>
        </p:spPr>
      </p:pic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8553450" y="3257550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销售教练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44" name="图片 14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600450"/>
            <a:ext cx="152400" cy="152400"/>
          </a:xfrm>
          <a:prstGeom prst="rect">
            <a:avLst/>
          </a:prstGeom>
        </p:spPr>
      </p:pic>
      <p:sp>
        <p:nvSpPr>
          <p:cNvPr id="145" name="文本框 144" descr="{&quot;isTemplate&quot;:true,&quot;type&quot;:&quot;text&quot;}"/>
          <p:cNvSpPr txBox="1"/>
          <p:nvPr/>
        </p:nvSpPr>
        <p:spPr>
          <a:xfrm>
            <a:off x="8553450" y="3581400"/>
            <a:ext cx="12192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商机复盘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pic>
        <p:nvPicPr>
          <p:cNvPr id="146" name="图片 14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96275" y="3924300"/>
            <a:ext cx="152400" cy="152400"/>
          </a:xfrm>
          <a:prstGeom prst="rect">
            <a:avLst/>
          </a:prstGeom>
        </p:spPr>
      </p:pic>
      <p:sp>
        <p:nvSpPr>
          <p:cNvPr id="147" name="文本框 146" descr="{&quot;isTemplate&quot;:true,&quot;type&quot;:&quot;text&quot;}"/>
          <p:cNvSpPr txBox="1"/>
          <p:nvPr/>
        </p:nvSpPr>
        <p:spPr>
          <a:xfrm>
            <a:off x="8553450" y="3905250"/>
            <a:ext cx="10668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B9CBDA"/>
                </a:solidFill>
                <a:latin typeface="PingFang SC"/>
                <a:ea typeface="PingFang SC"/>
              </a:rPr>
              <a:t>拜访结构化</a:t>
            </a:r>
            <a:endParaRPr lang="zh-CN" sz="1200">
              <a:solidFill>
                <a:srgbClr val="B9CBDA"/>
              </a:solidFill>
              <a:latin typeface="PingFang SC"/>
              <a:ea typeface="PingFang SC"/>
            </a:endParaRPr>
          </a:p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8296275" y="5448300"/>
            <a:ext cx="552450" cy="1524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13">
                <a:solidFill>
                  <a:srgbClr val="5E7590"/>
                </a:solidFill>
                <a:latin typeface="Inter"/>
                <a:ea typeface="Inter"/>
              </a:rPr>
              <a:t>立项方式</a:t>
            </a:r>
            <a:endParaRPr lang="zh-CN" sz="975" spc="113">
              <a:solidFill>
                <a:srgbClr val="5E7590"/>
              </a:solidFill>
              <a:latin typeface="Inter"/>
              <a:ea typeface="Inter"/>
            </a:endParaRPr>
          </a:p>
        </p:txBody>
      </p:sp>
      <p:sp>
        <p:nvSpPr>
          <p:cNvPr id="149" name="文本框 148" descr="{&quot;isTemplate&quot;:true,&quot;type&quot;:&quot;text&quot;}"/>
          <p:cNvSpPr txBox="1"/>
          <p:nvPr/>
        </p:nvSpPr>
        <p:spPr>
          <a:xfrm>
            <a:off x="10372725" y="5419725"/>
            <a:ext cx="885825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EAF2F8"/>
                </a:solidFill>
                <a:latin typeface="Inter"/>
                <a:ea typeface="Inter"/>
              </a:rPr>
              <a:t>单独</a:t>
            </a:r>
            <a:r>
              <a:rPr lang="zh-CN" sz="1275" b="1">
                <a:solidFill>
                  <a:srgbClr val="EAF2F8"/>
                </a:solidFill>
                <a:latin typeface="Inter"/>
                <a:ea typeface="Inter"/>
              </a:rPr>
              <a:t>立项</a:t>
            </a:r>
            <a:endParaRPr lang="zh-CN" sz="1275" b="1">
              <a:solidFill>
                <a:srgbClr val="EAF2F8"/>
              </a:solidFill>
              <a:latin typeface="Inter"/>
              <a:ea typeface="Inter"/>
            </a:endParaRPr>
          </a:p>
        </p:txBody>
      </p:sp>
      <p:sp>
        <p:nvSpPr>
          <p:cNvPr id="150" name="任意多边形 149"/>
          <p:cNvSpPr/>
          <p:nvPr/>
        </p:nvSpPr>
        <p:spPr>
          <a:xfrm>
            <a:off x="685800" y="6096000"/>
            <a:ext cx="10820400" cy="571500"/>
          </a:xfrm>
          <a:custGeom>
            <a:avLst/>
            <a:gdLst/>
            <a:ahLst/>
            <a:cxnLst/>
            <a:pathLst>
              <a:path w="1136" h="60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C7A96B">
              <a:alpha val="22000"/>
            </a:srgbClr>
          </a:solidFill>
        </p:spPr>
        <p:txBody>
          <a:bodyPr/>
          <a:p/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685800" y="6315075"/>
            <a:ext cx="1876425" cy="1428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E7590"/>
                </a:solidFill>
                <a:latin typeface="PingFang SC"/>
                <a:ea typeface="PingFang SC"/>
              </a:rPr>
              <a:t>涤生咨询</a:t>
            </a:r>
            <a:r>
              <a:rPr lang="en-US" sz="900">
                <a:solidFill>
                  <a:srgbClr val="5E7590"/>
                </a:solidFill>
                <a:latin typeface="PingFang SC"/>
                <a:ea typeface="PingFang SC"/>
              </a:rPr>
              <a:t> · DISHENG CONSULTING</a:t>
            </a:r>
            <a:endParaRPr lang="en-US" sz="900">
              <a:solidFill>
                <a:srgbClr val="5E7590"/>
              </a:solidFill>
              <a:latin typeface="PingFang SC"/>
              <a:ea typeface="PingFang SC"/>
            </a:endParaRPr>
          </a:p>
        </p:txBody>
      </p:sp>
      <p:sp>
        <p:nvSpPr>
          <p:cNvPr id="152" name="文本框 151" descr="{&quot;isTemplate&quot;:true,&quot;type&quot;:&quot;text&quot;}"/>
          <p:cNvSpPr txBox="1"/>
          <p:nvPr/>
        </p:nvSpPr>
        <p:spPr>
          <a:xfrm>
            <a:off x="11087100" y="6305550"/>
            <a:ext cx="419100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E7590"/>
                </a:solidFill>
                <a:latin typeface="Inter"/>
                <a:ea typeface="Inter"/>
              </a:rPr>
              <a:t>21 / 21</a:t>
            </a:r>
            <a:endParaRPr lang="en-US" sz="1050">
              <a:solidFill>
                <a:srgbClr val="5E7590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3908</Words>
  <Application>WPS 演示</Application>
  <PresentationFormat/>
  <Paragraphs>944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7" baseType="lpstr">
      <vt:lpstr>Arial</vt:lpstr>
      <vt:lpstr>宋体</vt:lpstr>
      <vt:lpstr>Wingdings</vt:lpstr>
      <vt:lpstr>DejaVu Sans</vt:lpstr>
      <vt:lpstr>PingFang SC</vt:lpstr>
      <vt:lpstr>Gubbi</vt:lpstr>
      <vt:lpstr>Inter</vt:lpstr>
      <vt:lpstr>微软雅黑</vt:lpstr>
      <vt:lpstr>Calibri</vt:lpstr>
      <vt:lpstr>宋体</vt:lpstr>
      <vt:lpstr>Noto Serif CJK SC</vt:lpstr>
      <vt:lpstr>微软雅黑</vt:lpstr>
      <vt:lpstr>Droid Sans Fallback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pan</cp:lastModifiedBy>
  <cp:revision>31</cp:revision>
  <dcterms:created xsi:type="dcterms:W3CDTF">2026-10-28T09:22:02Z</dcterms:created>
  <dcterms:modified xsi:type="dcterms:W3CDTF">2026-10-28T09:22:02Z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{"AIGC":{"Label":"1","ContentProducer":"00119111010856365494821B355","ProduceID":"01a132f2348c7471af3fbadbfc8c6e7e","ReservedCode1":"","ContentPropagator":"00119111010856365494821B355","PropagateID":"01a132f2348c7471af3fbadbfc8c6e7e","ReservedCode2":""}}</vt:lpwstr>
  </property>
  <property fmtid="{D5CDD505-2E9C-101B-9397-08002B2CF9AE}" pid="3" name="ICV">
    <vt:lpwstr>A8C90D1AB6642C59BA53E06A66E1D7EF_42</vt:lpwstr>
  </property>
  <property fmtid="{D5CDD505-2E9C-101B-9397-08002B2CF9AE}" pid="4" name="KSOProductBuildVer">
    <vt:lpwstr>2052-12.1.2.25838</vt:lpwstr>
  </property>
</Properties>
</file>