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1" r:id="rId3"/>
    <p:sldId id="402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2" r:id="rId15"/>
    <p:sldId id="413" r:id="rId16"/>
    <p:sldId id="414" r:id="rId17"/>
    <p:sldId id="415" r:id="rId18"/>
    <p:sldId id="416" r:id="rId19"/>
    <p:sldId id="417" r:id="rId20"/>
    <p:sldId id="41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两项目标：合同环节做辅助提效与风险提示，知识库把依据做成当前有效、可引用的业务规则。不替代人工终审。不展开定价与竞品。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上半场讲合同，下半场讲知识库。企业级能力在两条线里各出现一次：一次对应合同写回，一次对应知识发布与检索。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合同部分依据《雨中情AI合同需求》。定位是辅助提效与风险提示。客户原文中的「5 层递进式审查」是举例，评审卡按基础核对、技术、商务、法务汇编，不写成固定五层。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流程以客户确认稿为准：创建登记、初审、技术评审、商务评审、法务评审，其后客户盖章与归档。报价是合同的充分非必要条件：权限内可直接创建合同，特价超授权走报价审批。另有提前发货、合同变更、补充协议、退换货，本页不展开。合同模块在销售易上做了结构化表单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30 分钟以上、审核数天至一周，是客户交流中的现状，不是本期承诺。客户曾预期初审量由每天 50 单提升到 200 单，该数字不作为方案目标，被问及时说明待现场核对。客户资信评审目前集中在签署前，本期不纳入授信决策。部分风险点需销售补充管控方案，例如账期与历史合作方式，本页不展开个案。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本期从创建录入与评审辅助切入。预填单与评审卡的写回都要人工确认。发货排产、补充协议、退换货只作提醒。物料名称与编码规则由双方共同厘定，不承诺全量自动匹配。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客户材料记载扫描件识别率，不作为本期承诺，不写上页面。低置信度字段提交人工确认，不使用「标黄」等实现用语。缺失信息不自行补录。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论分三类。依据要求记载而合同未记载，为待补。合同已经写明具体标准号且无法对应，为无法判断。这是对客户原文「未覆盖即写无法判断」的收窄，避免把没有依据的题目写成结论。技术标注不判定方案是否合格。商务标注不判断授权是否超限。法务提示不下达责任结论，也不给出可签或不可签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合同评审要用的技术、商务、法务依据，就是知识库要发布的当前有效规则。无对应条目的事项不列入评审卡。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企业级来自《Agent Forge 企业产品介绍》：审批、审计可验真、熔断、隔离，另加稳定可靠。稳定可靠在合同侧是指每个环节有可复核的交付物，中断后记录仍在，不依赖单次对话生成结论。角色分为管理员、运维、审批人、只读。被问及定价、部署形态、竞品或第三方效益时，说明见企业产品介绍，本页不承诺金额、可用性百分比，也不引用其他企业的效率数字。部署可按数据边界选择单机、内网或全离线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四个环节在同一底座：构建把岗位配成可交付的角色，运行在单据进入后启动，治理把人工确认设为写回前置，观测可以回看一次处理的输入、依据与确认。不以整份合同的单次阅读代替分段校验与人工签署。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知识库现状与痛点依据需求整理中的知识库章节。建设路径依据 agent-forge-knowledge 的方法论：检索对象是一条当前有效的业务规则，原件、规则与索引分开，草稿不可检索，修订采用发布新条与退役旧条。不把内部层级编号印在页面上。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销售易知识库偏文件目录，OA 另有一套。企业微信问答将文档直接导入，回答质量不足。人资、行政知识库调用率低。优秀经验尚未成为组织知识资产。密级分为全员、区域、机密，放在下一页的共享机制里讲。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权威版本由业务责任人裁定，不由系统自行确定。平台按团队、知识库、文件夹划分权限，页面用全员、区域、机密表达密级，不展开平台菜单名称。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五步是方法论，不是把整篇文档上传后再分类。首期验证销售高频问题，以及合同评审所需的技术、商务、法务依据，确认引用的是当前有效条目。客户判断「几百条覆盖约 80% 常见问题」，该比例不作为承诺。企业微信入口、分诊、贡献激励不纳入这五步。知识运营与审核责任人需要客户指定。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稳定可靠在知识库侧是：原件与已发布条目保持不变，检索索引可重建；更换模型只重算索引，不改写已发布正文；服务重启不丢失原件与已发布条目。数据留存客户环境，材料不进入服务方电脑。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知识库提供依据。合同结论、签署与定责仍由合同流程中的责任人完成。合同评审与销售问答共用同一套已发布条目。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线同步推进。本期优先交付合同创建录入与评审辅助，并同步发布合同评审所需依据。签署、盖章、建单、定责与知识发布仍由人工完成。客户资信前移、销售教练、商机复盘、拜访记录结构化列为后续，不纳入本期。灰度方式是人工与系统双线并行，达标后再扩大范围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// B · 01 封面 — 左文右图，辉光右侧出血&#10;&lt;Slide style={{ width: 1280, height: 720, background: '#081322', position: 'relative', overflow: 'hidden', fontFamily: '&quot;PingFang SC&quot;,&quot;Source Han Sans SC&quot;,&quot;Microsoft YaHei&quot;,sans-serif' }}&gt;&#10;&#10;    {/* 右侧主视觉 */}&#10;    &lt;Box style={{ position: 'absolute', right: 0, top: 0, width: 700, height: 720 }}&gt;&#10;        &lt;Image src=&quot;assets/cover_visual.png&quot; style={{ width: 700, height: 720, objectFit: 'cover' }} /&gt;&#10;        &lt;Box style={{ position: 'absolute', left: 0, top: 0, width: 700, height: 720, background: 'rgba(8,19,34,0.16)' }} /&gt;&#10;        &lt;Box style={{ position: 'absolute', left: 0, top: 0, width: 300, height: 720, background: 'linear-gradient(90deg, #081322 0%, rgba(8,19,34,0) 100%)' }} /&gt;&#10;        &lt;Box style={{ position: 'absolute', right: 0, top: 0, width: 700, height: 160, background: 'linear-gradient(180deg, #081322 0%, rgba(8,19,34,0) 100%)' }} /&gt;&#10;        &lt;Box style={{ position: 'absolute', right: 0, bottom: 0, width: 700, height: 180, background: 'linear-gradient(0deg, #081322 0%, rgba(8,19,34,0) 100%)' }} /&gt;&#10;    &lt;/Box&gt;&#10;&#10;    {/* 左侧文字 */}&#10;    &lt;Box style={{ position: 'absolute', left: 72, top: 20, width: 600, height: 680, flexDirection: 'column' }}&gt;&#10;&#10;        {/* 品牌锁标 */}&#10;        &lt;Box style={{ flexDirection: 'row', alignItems: 'center', gap: 14, height: 52 }}&gt;&#10;            &lt;Image src=&quot;assets/badge.png&quot; style={{ width: 47, height: 52 }} /&gt;&#10;            &lt;Box style={{ flexDirection: 'column', gap: 2 }}&gt;&#10;                &lt;Image src=&quot;assets/logo_zh_light.png&quot; style={{ width: 152, height: 35 }} /&gt;&#10;                &lt;Image src=&quot;assets/logo_en_light.png&quot; style={{ width: 152, height: 15 }} /&gt;&#10;            &lt;/Box&gt;&#10;        &lt;/Box&gt;&#10;&#10;        &lt;Box style={{ flex: 1 }} /&gt;&#10;&#10;        {/* 主标题 */}&#10;        &lt;Box style={{ flexDirection: 'column' }}&gt;&#10;            &lt;Text style={{ fontSize: 76, fontWeight: 'bold', color: '#EAF2F8', lineHeight: 1.16, letterSpacing: -1.5 }}&gt;&#10;                销售智能化升级&#10;            &lt;/Text&gt;&#10;            &lt;Text style={{ fontSize: 76, fontWeight: 'bold', lineHeight: 1.16, letterSpacing: -1.5, backgroundImage: 'linear-gradient(135deg, #8FD8E8 0%, #3FA8BF 100%)', backgroundClip: 'text', color: 'transparent' }}&gt;&#10;                解决方案&#10;            &lt;/Text&gt;&#10;            &lt;Box style={{ width: 68, height: 4, background: 'linear-gradient(135deg, #8FD8E8 0%, #3FA8BF 100%)', borderRadius: 2, marginTop: 22 }} /&gt;&#10;            &lt;Text style={{ fontSize: 20, color: '#8FA6BC', lineHeight: 1.7, marginTop: 18, letterSpacing: 0.5 }}&gt;&#10;                助力中国企业销售管理领先世界&#10;            &lt;/Text&gt;&#10;        &lt;/Box&gt;&#10;&#10;        &lt;Box style={{ flex: 1 }} /&gt;&#10;&#10;        {/* 落款 */}&#10;        &lt;Box style={{ flexDirection: 'row', alignItems: 'center', gap: 14 }}&gt;&#10;            &lt;Box style={{ width: 22, height: 1, background: 'rgba(199,169,107,0.85)' }} /&gt;&#10;            &lt;Text style={{ fontSize: 14, color: '#8FA6BC' }}&gt;北京企盛求索信息科技有限公司&lt;/Text&gt;&#10;            &lt;Box style={{ width: 1, height: 12, background: 'rgba(143,166,188,0.35)' }} /&gt;&#10;            &lt;Text style={{ fontSize: 14, color: '#8FA6BC', letterSpacing: 1 }}&gt;2026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8513" r="18513"/>
          <a:stretch>
            <a:fillRect/>
          </a:stretch>
        </p:blipFill>
        <p:spPr>
          <a:xfrm>
            <a:off x="5524500" y="0"/>
            <a:ext cx="66675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24500" y="0"/>
            <a:ext cx="6667500" cy="6858000"/>
          </a:xfrm>
          <a:prstGeom prst="rect">
            <a:avLst/>
          </a:prstGeom>
          <a:solidFill>
            <a:srgbClr val="081322">
              <a:alpha val="16000"/>
            </a:srgbClr>
          </a:soli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5524500" y="0"/>
            <a:ext cx="2857500" cy="6858000"/>
          </a:xfrm>
          <a:prstGeom prst="rect">
            <a:avLst/>
          </a:prstGeom>
          <a:gradFill>
            <a:gsLst>
              <a:gs pos="0">
                <a:srgbClr val="081322"/>
              </a:gs>
              <a:gs pos="100000">
                <a:srgbClr val="081322">
                  <a:alpha val="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5524500" y="0"/>
            <a:ext cx="6667500" cy="1524000"/>
          </a:xfrm>
          <a:prstGeom prst="rect">
            <a:avLst/>
          </a:prstGeom>
          <a:gradFill>
            <a:gsLst>
              <a:gs pos="0">
                <a:srgbClr val="081322"/>
              </a:gs>
              <a:gs pos="100000">
                <a:srgbClr val="081322">
                  <a:alpha val="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7" name="矩形 6"/>
          <p:cNvSpPr/>
          <p:nvPr/>
        </p:nvSpPr>
        <p:spPr>
          <a:xfrm>
            <a:off x="5524500" y="5143500"/>
            <a:ext cx="6667500" cy="1714500"/>
          </a:xfrm>
          <a:prstGeom prst="rect">
            <a:avLst/>
          </a:prstGeom>
          <a:gradFill>
            <a:gsLst>
              <a:gs pos="0">
                <a:srgbClr val="081322"/>
              </a:gs>
              <a:gs pos="100000">
                <a:srgbClr val="081322">
                  <a:alpha val="0"/>
                </a:srgbClr>
              </a:gs>
            </a:gsLst>
            <a:lin ang="16200000" scaled="1"/>
          </a:gradFill>
        </p:spPr>
        <p:txBody>
          <a:bodyPr/>
          <a:p/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55" r="155"/>
          <a:stretch>
            <a:fillRect/>
          </a:stretch>
        </p:blipFill>
        <p:spPr>
          <a:xfrm>
            <a:off x="685800" y="190500"/>
            <a:ext cx="447675" cy="495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331" b="331"/>
          <a:stretch>
            <a:fillRect/>
          </a:stretch>
        </p:blipFill>
        <p:spPr>
          <a:xfrm>
            <a:off x="1266825" y="190500"/>
            <a:ext cx="1447800" cy="3333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l="211" r="211"/>
          <a:stretch>
            <a:fillRect/>
          </a:stretch>
        </p:blipFill>
        <p:spPr>
          <a:xfrm>
            <a:off x="1266825" y="542925"/>
            <a:ext cx="1447800" cy="142875"/>
          </a:xfrm>
          <a:prstGeom prst="rect">
            <a:avLst/>
          </a:prstGeom>
        </p:spPr>
      </p:pic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85800" y="2181225"/>
            <a:ext cx="5715000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6000"/>
              </a:lnSpc>
            </a:pPr>
            <a:r>
              <a:rPr lang="zh-CN" sz="5700" b="1" spc="-112">
                <a:solidFill>
                  <a:srgbClr val="EAF2F8"/>
                </a:solidFill>
                <a:latin typeface="PingFang SC"/>
                <a:ea typeface="PingFang SC"/>
              </a:rPr>
              <a:t>雨中情 AI 合同</a:t>
            </a:r>
            <a:endParaRPr lang="zh-CN" sz="5700" b="1" spc="-11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85800" y="3190875"/>
            <a:ext cx="5715000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6000"/>
              </a:lnSpc>
            </a:pPr>
            <a:r>
              <a:rPr lang="zh-CN" sz="5700" b="1" spc="-112">
                <a:gradFill>
                  <a:gsLst>
                    <a:gs pos="0">
                      <a:srgbClr val="8FD8E8"/>
                    </a:gs>
                    <a:gs pos="100000">
                      <a:srgbClr val="3FA8BF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与知识库解决方案</a:t>
            </a:r>
            <a:endParaRPr lang="zh-CN" sz="5700" b="1" spc="-112">
              <a:gradFill>
                <a:gsLst>
                  <a:gs pos="0">
                    <a:srgbClr val="8FD8E8"/>
                  </a:gs>
                  <a:gs pos="100000">
                    <a:srgbClr val="3FA8BF"/>
                  </a:gs>
                </a:gsLst>
                <a:lin ang="2700000" scaled="1"/>
              </a:gradFill>
              <a:latin typeface="PingFang SC"/>
              <a:ea typeface="PingFang SC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85800" y="4410075"/>
            <a:ext cx="6477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685800" y="4619625"/>
            <a:ext cx="57150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 spc="38">
                <a:solidFill>
                  <a:srgbClr val="8FA6BC"/>
                </a:solidFill>
                <a:latin typeface="PingFang SC"/>
                <a:ea typeface="PingFang SC"/>
              </a:rPr>
              <a:t>辅助提效与风险提示，人工终审予以保留</a:t>
            </a:r>
            <a:endParaRPr lang="zh-CN" sz="1500" spc="38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5800" y="6581775"/>
            <a:ext cx="209550" cy="9525"/>
          </a:xfrm>
          <a:prstGeom prst="rect">
            <a:avLst/>
          </a:prstGeom>
          <a:solidFill>
            <a:srgbClr val="C7A96B">
              <a:alpha val="85000"/>
            </a:srgbClr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028700" y="65055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北京企盛求索信息科技有限公司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028950" y="6534150"/>
            <a:ext cx="9525" cy="114300"/>
          </a:xfrm>
          <a:prstGeom prst="rect">
            <a:avLst/>
          </a:prstGeom>
          <a:solidFill>
            <a:srgbClr val="8FA6BC">
              <a:alpha val="35000"/>
            </a:srgbClr>
          </a:solidFill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3171825" y="6505575"/>
            <a:ext cx="36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FA6BC"/>
                </a:solidFill>
                <a:latin typeface="PingFang SC"/>
                <a:ea typeface="PingFang SC"/>
              </a:rPr>
              <a:t>2026</a:t>
            </a:r>
            <a:endParaRPr lang="en-US" sz="1050" spc="75">
              <a:solidFill>
                <a:srgbClr val="8FA6B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" descr="// B · 02 目录 — 金色编号条目&#10;&lt;Slide style={{ width: 1280, height: 720, background: '#081322', fontFamily: '&quot;PingFang SC&quot;,&quot;Source Han Sans SC&quot;,&quot;Microsoft YaHei&quot;,sans-serif', padding: '20px 72px', display: 'flex', flexDirection: 'column', overflow: 'hidden' }}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目录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NTENTS&lt;/Text&gt;&#10;        &lt;Box style={{ flex: 1 }} /&gt;&#10;        &lt;Text style={{ fontSize: 14, color: '#8FA6BC' }}&gt;全篇 16 页 · 四大板块&lt;/Text&gt;&#10;    &lt;/Box&gt;&#10;&#10;    {/* B · 内容区 */}&#10;    &lt;Box style={{ flex: 1, flexDirection: 'column', justifyContent: 'center' }}&gt;&#10;        {[&#10;            { no: '01', zh: '公司简介', desc: '定位 · 核心理念 · 发展历程', en: 'COMPANY PROFILE', pg: 'P.03 — 06' },&#10;            { no: '02', zh: '服务体系', desc: '服务流程 · 业务范围 · 交付成效 · 服务档位', en: 'SERVICE SYSTEM', pg: 'P.07 — 13' },&#10;            { no: '03', zh: '方法论体系', desc: '战略 · 流程 · 评估 · 赋能四层', en: 'METHODOLOGY', pg: 'P.14' },&#10;            { no: '04', zh: '结语与联系', desc: '核心主张与合作方式', en: 'CLOSING', pg: 'P.15 — 16' }&#10;        ].map((item, idx) =&gt; (&#10;            &lt;Box key={idx} style={{ height: 118, flexDirection: 'row', alignItems: 'center', borderBottom: idx &lt; 3 ? '1px solid rgba(143,216,232,0.09)' : 'none' }}&gt;&#10;                &lt;Text style={{ width: 78, fontSize: 30, fontWeight: 'bold', color: '#C7A96B', fontFamily: '&quot;Inter&quot;,&quot;Helvetica Neue&quot;,Arial,sans-serif', letterSpacing: -1 }}&gt;{item.no}&lt;/Text&gt;&#10;                &lt;Box style={{ width: 1, height: 48, background: 'rgba(143,216,232,0.25)', marginRight: 28 }} /&gt;&#10;                &lt;Box style={{ flexDirection: 'column', gap: 8 }}&gt;&#10;                    &lt;Text style={{ fontSize: 26, fontWeight: 'bold', color: '#EAF2F8', letterSpacing: -0.3 }}&gt;{item.zh}&lt;/Text&gt;&#10;                    &lt;Text style={{ fontSize: 16, color: '#8FA6BC' }}&gt;{item.desc}&lt;/Text&gt;&#10;                &lt;/Box&gt;&#10;                &lt;Box style={{ flex: 1 }} /&gt;&#10;                &lt;Box style={{ flexDirection: 'column', alignItems: 'flex-end', gap: 7 }}&gt;&#10;                    &lt;Text style={{ fontSize: 13, color: '#5E7590', letterSpacing: 2.5, fontFamily: '&quot;Inter&quot;,&quot;Helvetica Neue&quot;,Arial,sans-serif' }}&gt;{item.en}&lt;/Text&gt;&#10;                    &lt;Text style={{ fontSize: 12, color: '#8FA6BC', letterSpacing: 1.2, fontFamily: '&quot;Inter&quot;,&quot;Helvetica Neue&quot;,Arial,sans-serif' }}&gt;{item.pg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 2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250" name="任意多边形 249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251" name="圆角矩形 250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866775" y="476250"/>
            <a:ext cx="6000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目录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1619250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1781175" y="590550"/>
            <a:ext cx="895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CONTENTS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56" name="任意多边形 255"/>
          <p:cNvSpPr/>
          <p:nvPr/>
        </p:nvSpPr>
        <p:spPr>
          <a:xfrm>
            <a:off x="685800" y="1371600"/>
            <a:ext cx="10820400" cy="1123950"/>
          </a:xfrm>
          <a:custGeom>
            <a:avLst/>
            <a:gdLst/>
            <a:ahLst/>
            <a:cxnLst/>
            <a:pathLst>
              <a:path w="1136" h="118">
                <a:moveTo>
                  <a:pt x="0" y="117"/>
                </a:moveTo>
                <a:lnTo>
                  <a:pt x="1136" y="117"/>
                </a:lnTo>
                <a:lnTo>
                  <a:pt x="113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8FD8E8">
              <a:alpha val="9000"/>
            </a:srgbClr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685800" y="176212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1428750" y="170497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1704975" y="1647825"/>
            <a:ext cx="18859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合同现状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704975" y="2028825"/>
            <a:ext cx="1885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业务流程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痛点分析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优化方向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9982200" y="1752600"/>
            <a:ext cx="1524000" cy="1524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CONTRACT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10858500" y="1971675"/>
            <a:ext cx="64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P.04 — 05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  <p:sp>
        <p:nvSpPr>
          <p:cNvPr id="263" name="任意多边形 262"/>
          <p:cNvSpPr/>
          <p:nvPr/>
        </p:nvSpPr>
        <p:spPr>
          <a:xfrm>
            <a:off x="685800" y="2495550"/>
            <a:ext cx="10820400" cy="1123950"/>
          </a:xfrm>
          <a:custGeom>
            <a:avLst/>
            <a:gdLst/>
            <a:ahLst/>
            <a:cxnLst/>
            <a:pathLst>
              <a:path w="1136" h="118">
                <a:moveTo>
                  <a:pt x="0" y="117"/>
                </a:moveTo>
                <a:lnTo>
                  <a:pt x="1136" y="117"/>
                </a:lnTo>
                <a:lnTo>
                  <a:pt x="113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8FD8E8">
              <a:alpha val="9000"/>
            </a:srgbClr>
          </a:solidFill>
        </p:spPr>
        <p:txBody>
          <a:bodyPr/>
          <a:p/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85800" y="288607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65" name="矩形 264"/>
          <p:cNvSpPr/>
          <p:nvPr/>
        </p:nvSpPr>
        <p:spPr>
          <a:xfrm>
            <a:off x="1428750" y="282892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1704975" y="2771775"/>
            <a:ext cx="297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合同落地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1704975" y="3152775"/>
            <a:ext cx="297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预填单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评审卡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依据条目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人工确认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0125075" y="2876550"/>
            <a:ext cx="1381125" cy="1524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SOLUTION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0858500" y="3095625"/>
            <a:ext cx="64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P.06 — 09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  <p:sp>
        <p:nvSpPr>
          <p:cNvPr id="270" name="任意多边形 269"/>
          <p:cNvSpPr/>
          <p:nvPr/>
        </p:nvSpPr>
        <p:spPr>
          <a:xfrm>
            <a:off x="685800" y="3619500"/>
            <a:ext cx="10820400" cy="1123950"/>
          </a:xfrm>
          <a:custGeom>
            <a:avLst/>
            <a:gdLst/>
            <a:ahLst/>
            <a:cxnLst/>
            <a:pathLst>
              <a:path w="1136" h="118">
                <a:moveTo>
                  <a:pt x="0" y="117"/>
                </a:moveTo>
                <a:lnTo>
                  <a:pt x="1136" y="117"/>
                </a:lnTo>
                <a:lnTo>
                  <a:pt x="113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8FD8E8">
              <a:alpha val="9000"/>
            </a:srgbClr>
          </a:solidFill>
        </p:spPr>
        <p:txBody>
          <a:bodyPr/>
          <a:p/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85800" y="401002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72" name="矩形 271"/>
          <p:cNvSpPr/>
          <p:nvPr/>
        </p:nvSpPr>
        <p:spPr>
          <a:xfrm>
            <a:off x="1428750" y="395287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1704975" y="3895725"/>
            <a:ext cx="20574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知识库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1704975" y="4276725"/>
            <a:ext cx="2057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现状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痛点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规则资产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发布检索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0287000" y="4000500"/>
            <a:ext cx="1219200" cy="1524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KNOWLEDGE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85800" y="513397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04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1428750" y="507682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704975" y="5019675"/>
            <a:ext cx="1371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企业级底座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1704975" y="5400675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审批、审计、熔断、隔离与稳定可靠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595610" y="5124450"/>
            <a:ext cx="910590" cy="17335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PLATFORM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10858500" y="5343525"/>
            <a:ext cx="64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P.10 — 17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  <p:sp>
        <p:nvSpPr>
          <p:cNvPr id="283" name="任意多边形 282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02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10858500" y="4215765"/>
            <a:ext cx="761365" cy="15049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P.13 — 15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6" name="" descr="// B · 03 章节过渡 — 巨型编号 + 底部辉光&#10;&lt;Slide style={{ width: 1280, height: 720, background: '#081322', position: 'relative', overflow: 'hidden', fontFamily: '&quot;PingFang SC&quot;,&quot;Source Han Sans SC&quot;,&quot;Microsoft YaHei&quot;,sans-serif' }}&gt;&#10;&#10;    {/* 装饰：底部辉光 */}&#10;    &lt;Box style={{ position: 'absolute', left: 160, bottom: -300, width: 960, height: 560, borderRadius: 480, background: 'radial-gradient(circle, rgba(91,200,200,0.24) 0%, rgba(8,19,34,0) 70%)' }} /&gt;&#10;    {/* 装饰：同心细环 */}&#10;    &lt;Box style={{ position: 'absolute', right: -200, top: -140, width: 640, height: 640, borderRadius: 320, background: 'radial-gradient(circle, rgba(143,216,232,0) 60%, rgba(143,216,232,0.16) 62%, rgba(143,216,232,0.16) 63%, rgba(143,216,232,0) 65%)' }} /&gt;&#10;    &lt;Box style={{ position: 'absolute', right: -80, top: -20, width: 440, height: 440, borderRadius: 220, background: 'radial-gradient(circle, rgba(199,169,107,0) 60%, rgba(199,169,107,0.18) 62%, rgba(199,169,107,0.18) 63%, rgba(199,169,107,0) 65%)' }} /&gt;&#10;&#10;    {/* 顶部品牌 */}&#10;    &lt;Box style={{ position: 'absolute', left: 72, top: 54, flexDirection: 'row', alignItems: 'center', gap: 14 }}&gt;&#10;        &lt;Image src=&quot;assets/badge.png&quot; style={{ width: 36, height: 40 }} /&gt;&#10;        &lt;Box style={{ flexDirection: 'column', gap: 2 }}&gt;&#10;            &lt;Image src=&quot;assets/logo_zh_light.png&quot; style={{ width: 158, height: 36 }} /&gt;&#10;            &lt;Image src=&quot;assets/logo_en_light.png&quot; style={{ width: 158, height: 16 }} /&gt;&#10;        &lt;/Box&gt;&#10;    &lt;/Box&gt;&#10;&#10;    {/* 巨型编号 */}&#10;    &lt;Text style={{ position: 'absolute', right: 60, top: 336, fontSize: 220, fontWeight: 'bold', color: 'rgba(143,216,232,0.22)', lineHeight: 1, letterSpacing: -12, fontFamily: '&quot;Inter&quot;,&quot;Helvetica Neue&quot;,Arial,sans-serif' }}&gt;&#10;        01&#10;    &lt;/Text&gt;&#10;&#10;    {/* 章节信息 */}&#10;    &lt;Box style={{ position: 'absolute', left: 72, top: 272, flexDirection: 'column' }}&gt;&#10;        &lt;Text style={{ fontSize: 14, fontWeight: 'bold', color: '#C7A96B', letterSpacing: 5, fontFamily: '&quot;Inter&quot;,&quot;Helvetica Neue&quot;,Arial,sans-serif' }}&gt;&#10;            PART 01&#10;        &lt;/Text&gt;&#10;        &lt;Text style={{ fontSize: 64, fontWeight: 'bold', color: '#EAF2F8', lineHeight: 1.15, letterSpacing: -1, marginTop: 18 }}&gt;&#10;            公司简介&#10;        &lt;/Text&gt;&#10;        &lt;Box style={{ width: 64, height: 4, background: 'linear-gradient(135deg, #8FD8E8 0%, #3FA8BF 100%)', borderRadius: 2, marginTop: 24 }} /&gt;&#10;        &lt;Text style={{ fontSize: 20, color: '#8FA6BC', lineHeight: 1.6, marginTop: 22 }}&gt;&#10;            从定位到使命，认识一家把销售管理做深的咨询公司&#10;        &lt;/Text&gt;&#10;    &lt;/Box&gt;&#10;&#10;    {/* 底部锚点 */}&#10;    &lt;Box style={{ position: 'absolute', left: 72, bottom: 56, flexDirection: 'row', alignItems: 'center', gap: 14 }}&gt;&#10;        &lt;Box style={{ width: 28, height: 1, background: 'rgba(199,169,107,0.7)' }} /&gt;&#10;        &lt;Text style={{ fontSize: 13, color: '#6E86A0', letterSpacing: 3, fontFamily: '&quot;Inter&quot;,&quot;Helvetica Neue&quot;,Arial,sans-serif' }}&gt;&#10;            DISHENG CONSULTING · 202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矩形 2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288" name="任意多边形 287"/>
          <p:cNvSpPr/>
          <p:nvPr/>
        </p:nvSpPr>
        <p:spPr>
          <a:xfrm>
            <a:off x="1524000" y="4381500"/>
            <a:ext cx="9144000" cy="5334000"/>
          </a:xfrm>
          <a:custGeom>
            <a:avLst/>
            <a:gdLst/>
            <a:ahLst/>
            <a:cxnLst/>
            <a:pathLst>
              <a:path w="960" h="560">
                <a:moveTo>
                  <a:pt x="687" y="0"/>
                </a:moveTo>
                <a:lnTo>
                  <a:pt x="694" y="0"/>
                </a:lnTo>
                <a:lnTo>
                  <a:pt x="702" y="1"/>
                </a:lnTo>
                <a:lnTo>
                  <a:pt x="709" y="1"/>
                </a:lnTo>
                <a:lnTo>
                  <a:pt x="716" y="2"/>
                </a:lnTo>
                <a:lnTo>
                  <a:pt x="723" y="3"/>
                </a:lnTo>
                <a:lnTo>
                  <a:pt x="730" y="4"/>
                </a:lnTo>
                <a:lnTo>
                  <a:pt x="736" y="6"/>
                </a:lnTo>
                <a:lnTo>
                  <a:pt x="743" y="7"/>
                </a:lnTo>
                <a:lnTo>
                  <a:pt x="750" y="9"/>
                </a:lnTo>
                <a:lnTo>
                  <a:pt x="757" y="11"/>
                </a:lnTo>
                <a:lnTo>
                  <a:pt x="763" y="13"/>
                </a:lnTo>
                <a:lnTo>
                  <a:pt x="770" y="15"/>
                </a:lnTo>
                <a:lnTo>
                  <a:pt x="776" y="17"/>
                </a:lnTo>
                <a:lnTo>
                  <a:pt x="783" y="19"/>
                </a:lnTo>
                <a:lnTo>
                  <a:pt x="789" y="22"/>
                </a:lnTo>
                <a:lnTo>
                  <a:pt x="795" y="25"/>
                </a:lnTo>
                <a:lnTo>
                  <a:pt x="801" y="28"/>
                </a:lnTo>
                <a:lnTo>
                  <a:pt x="807" y="31"/>
                </a:lnTo>
                <a:lnTo>
                  <a:pt x="813" y="34"/>
                </a:lnTo>
                <a:lnTo>
                  <a:pt x="819" y="37"/>
                </a:lnTo>
                <a:lnTo>
                  <a:pt x="825" y="41"/>
                </a:lnTo>
                <a:lnTo>
                  <a:pt x="831" y="44"/>
                </a:lnTo>
                <a:lnTo>
                  <a:pt x="837" y="48"/>
                </a:lnTo>
                <a:lnTo>
                  <a:pt x="842" y="52"/>
                </a:lnTo>
                <a:lnTo>
                  <a:pt x="847" y="56"/>
                </a:lnTo>
                <a:lnTo>
                  <a:pt x="853" y="60"/>
                </a:lnTo>
                <a:lnTo>
                  <a:pt x="858" y="64"/>
                </a:lnTo>
                <a:lnTo>
                  <a:pt x="863" y="68"/>
                </a:lnTo>
                <a:lnTo>
                  <a:pt x="868" y="73"/>
                </a:lnTo>
                <a:lnTo>
                  <a:pt x="873" y="77"/>
                </a:lnTo>
                <a:lnTo>
                  <a:pt x="878" y="82"/>
                </a:lnTo>
                <a:lnTo>
                  <a:pt x="883" y="87"/>
                </a:lnTo>
                <a:lnTo>
                  <a:pt x="887" y="92"/>
                </a:lnTo>
                <a:lnTo>
                  <a:pt x="892" y="97"/>
                </a:lnTo>
                <a:lnTo>
                  <a:pt x="896" y="102"/>
                </a:lnTo>
                <a:lnTo>
                  <a:pt x="900" y="107"/>
                </a:lnTo>
                <a:lnTo>
                  <a:pt x="904" y="113"/>
                </a:lnTo>
                <a:lnTo>
                  <a:pt x="908" y="118"/>
                </a:lnTo>
                <a:lnTo>
                  <a:pt x="912" y="123"/>
                </a:lnTo>
                <a:lnTo>
                  <a:pt x="916" y="129"/>
                </a:lnTo>
                <a:lnTo>
                  <a:pt x="919" y="135"/>
                </a:lnTo>
                <a:lnTo>
                  <a:pt x="923" y="141"/>
                </a:lnTo>
                <a:lnTo>
                  <a:pt x="926" y="147"/>
                </a:lnTo>
                <a:lnTo>
                  <a:pt x="929" y="153"/>
                </a:lnTo>
                <a:lnTo>
                  <a:pt x="932" y="159"/>
                </a:lnTo>
                <a:lnTo>
                  <a:pt x="935" y="165"/>
                </a:lnTo>
                <a:lnTo>
                  <a:pt x="938" y="171"/>
                </a:lnTo>
                <a:lnTo>
                  <a:pt x="941" y="177"/>
                </a:lnTo>
                <a:lnTo>
                  <a:pt x="943" y="184"/>
                </a:lnTo>
                <a:lnTo>
                  <a:pt x="945" y="190"/>
                </a:lnTo>
                <a:lnTo>
                  <a:pt x="947" y="197"/>
                </a:lnTo>
                <a:lnTo>
                  <a:pt x="949" y="203"/>
                </a:lnTo>
                <a:lnTo>
                  <a:pt x="951" y="210"/>
                </a:lnTo>
                <a:lnTo>
                  <a:pt x="953" y="217"/>
                </a:lnTo>
                <a:lnTo>
                  <a:pt x="954" y="224"/>
                </a:lnTo>
                <a:lnTo>
                  <a:pt x="956" y="230"/>
                </a:lnTo>
                <a:lnTo>
                  <a:pt x="957" y="237"/>
                </a:lnTo>
                <a:lnTo>
                  <a:pt x="958" y="244"/>
                </a:lnTo>
                <a:lnTo>
                  <a:pt x="959" y="251"/>
                </a:lnTo>
                <a:lnTo>
                  <a:pt x="959" y="258"/>
                </a:lnTo>
                <a:lnTo>
                  <a:pt x="959" y="260"/>
                </a:lnTo>
                <a:lnTo>
                  <a:pt x="1" y="260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4" y="147"/>
                </a:lnTo>
                <a:lnTo>
                  <a:pt x="37" y="141"/>
                </a:lnTo>
                <a:lnTo>
                  <a:pt x="41" y="135"/>
                </a:lnTo>
                <a:lnTo>
                  <a:pt x="44" y="129"/>
                </a:lnTo>
                <a:lnTo>
                  <a:pt x="48" y="123"/>
                </a:lnTo>
                <a:lnTo>
                  <a:pt x="52" y="118"/>
                </a:lnTo>
                <a:lnTo>
                  <a:pt x="56" y="113"/>
                </a:lnTo>
                <a:lnTo>
                  <a:pt x="60" y="107"/>
                </a:lnTo>
                <a:lnTo>
                  <a:pt x="64" y="102"/>
                </a:lnTo>
                <a:lnTo>
                  <a:pt x="68" y="97"/>
                </a:lnTo>
                <a:lnTo>
                  <a:pt x="73" y="92"/>
                </a:lnTo>
                <a:lnTo>
                  <a:pt x="77" y="87"/>
                </a:lnTo>
                <a:lnTo>
                  <a:pt x="82" y="82"/>
                </a:lnTo>
                <a:lnTo>
                  <a:pt x="87" y="77"/>
                </a:lnTo>
                <a:lnTo>
                  <a:pt x="92" y="73"/>
                </a:lnTo>
                <a:lnTo>
                  <a:pt x="97" y="68"/>
                </a:lnTo>
                <a:lnTo>
                  <a:pt x="102" y="64"/>
                </a:lnTo>
                <a:lnTo>
                  <a:pt x="107" y="60"/>
                </a:lnTo>
                <a:lnTo>
                  <a:pt x="113" y="56"/>
                </a:lnTo>
                <a:lnTo>
                  <a:pt x="118" y="52"/>
                </a:lnTo>
                <a:lnTo>
                  <a:pt x="123" y="48"/>
                </a:lnTo>
                <a:lnTo>
                  <a:pt x="129" y="44"/>
                </a:lnTo>
                <a:lnTo>
                  <a:pt x="135" y="41"/>
                </a:lnTo>
                <a:lnTo>
                  <a:pt x="141" y="37"/>
                </a:lnTo>
                <a:lnTo>
                  <a:pt x="147" y="34"/>
                </a:lnTo>
                <a:lnTo>
                  <a:pt x="153" y="31"/>
                </a:lnTo>
                <a:lnTo>
                  <a:pt x="159" y="28"/>
                </a:lnTo>
                <a:lnTo>
                  <a:pt x="165" y="25"/>
                </a:lnTo>
                <a:lnTo>
                  <a:pt x="171" y="22"/>
                </a:lnTo>
                <a:lnTo>
                  <a:pt x="177" y="19"/>
                </a:lnTo>
                <a:lnTo>
                  <a:pt x="184" y="17"/>
                </a:lnTo>
                <a:lnTo>
                  <a:pt x="190" y="15"/>
                </a:lnTo>
                <a:lnTo>
                  <a:pt x="197" y="13"/>
                </a:lnTo>
                <a:lnTo>
                  <a:pt x="203" y="11"/>
                </a:lnTo>
                <a:lnTo>
                  <a:pt x="210" y="9"/>
                </a:lnTo>
                <a:lnTo>
                  <a:pt x="217" y="7"/>
                </a:lnTo>
                <a:lnTo>
                  <a:pt x="224" y="6"/>
                </a:lnTo>
                <a:lnTo>
                  <a:pt x="230" y="4"/>
                </a:lnTo>
                <a:lnTo>
                  <a:pt x="237" y="3"/>
                </a:lnTo>
                <a:lnTo>
                  <a:pt x="244" y="2"/>
                </a:lnTo>
                <a:lnTo>
                  <a:pt x="251" y="1"/>
                </a:lnTo>
                <a:lnTo>
                  <a:pt x="258" y="1"/>
                </a:lnTo>
                <a:lnTo>
                  <a:pt x="266" y="0"/>
                </a:lnTo>
                <a:lnTo>
                  <a:pt x="273" y="0"/>
                </a:lnTo>
                <a:lnTo>
                  <a:pt x="280" y="0"/>
                </a:lnTo>
                <a:lnTo>
                  <a:pt x="680" y="0"/>
                </a:lnTo>
                <a:close/>
              </a:path>
            </a:pathLst>
          </a:custGeom>
          <a:gradFill>
            <a:gsLst>
              <a:gs pos="0">
                <a:srgbClr val="5BC8C8">
                  <a:alpha val="24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289" name="任意多边形 288"/>
          <p:cNvSpPr/>
          <p:nvPr/>
        </p:nvSpPr>
        <p:spPr>
          <a:xfrm>
            <a:off x="8001000" y="-1333500"/>
            <a:ext cx="6096000" cy="6096000"/>
          </a:xfrm>
          <a:custGeom>
            <a:avLst/>
            <a:gdLst/>
            <a:ahLst/>
            <a:cxnLst/>
            <a:pathLst>
              <a:path w="640" h="640">
                <a:moveTo>
                  <a:pt x="440" y="617"/>
                </a:move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6" y="154"/>
                </a:lnTo>
                <a:lnTo>
                  <a:pt x="50" y="148"/>
                </a:lnTo>
                <a:lnTo>
                  <a:pt x="55" y="141"/>
                </a:lnTo>
                <a:lnTo>
                  <a:pt x="55" y="140"/>
                </a:lnTo>
                <a:lnTo>
                  <a:pt x="440" y="140"/>
                </a:lnTo>
                <a:close/>
              </a:path>
            </a:pathLst>
          </a:custGeom>
          <a:gradFill>
            <a:gsLst>
              <a:gs pos="60000">
                <a:srgbClr val="8FD8E8">
                  <a:alpha val="0"/>
                </a:srgbClr>
              </a:gs>
              <a:gs pos="62000">
                <a:srgbClr val="8FD8E8">
                  <a:alpha val="16000"/>
                </a:srgbClr>
              </a:gs>
              <a:gs pos="63000">
                <a:srgbClr val="8FD8E8">
                  <a:alpha val="16000"/>
                </a:srgbClr>
              </a:gs>
              <a:gs pos="65000">
                <a:srgbClr val="8FD8E8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290" name="任意多边形 289"/>
          <p:cNvSpPr/>
          <p:nvPr/>
        </p:nvSpPr>
        <p:spPr>
          <a:xfrm>
            <a:off x="8763000" y="-190500"/>
            <a:ext cx="4191000" cy="4191000"/>
          </a:xfrm>
          <a:custGeom>
            <a:avLst/>
            <a:gdLst/>
            <a:ahLst/>
            <a:cxnLst/>
            <a:pathLst>
              <a:path w="440" h="440">
                <a:moveTo>
                  <a:pt x="315" y="22"/>
                </a:move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0" y="50"/>
                </a:lnTo>
                <a:lnTo>
                  <a:pt x="360" y="390"/>
                </a:lnTo>
                <a:lnTo>
                  <a:pt x="360" y="390"/>
                </a:lnTo>
                <a:lnTo>
                  <a:pt x="356" y="393"/>
                </a:lnTo>
                <a:lnTo>
                  <a:pt x="352" y="396"/>
                </a:lnTo>
                <a:lnTo>
                  <a:pt x="347" y="399"/>
                </a:lnTo>
                <a:lnTo>
                  <a:pt x="343" y="402"/>
                </a:lnTo>
                <a:lnTo>
                  <a:pt x="339" y="405"/>
                </a:lnTo>
                <a:lnTo>
                  <a:pt x="334" y="408"/>
                </a:lnTo>
                <a:lnTo>
                  <a:pt x="329" y="411"/>
                </a:lnTo>
                <a:lnTo>
                  <a:pt x="325" y="413"/>
                </a:lnTo>
                <a:lnTo>
                  <a:pt x="320" y="416"/>
                </a:lnTo>
                <a:lnTo>
                  <a:pt x="315" y="418"/>
                </a:lnTo>
                <a:lnTo>
                  <a:pt x="311" y="421"/>
                </a:lnTo>
                <a:lnTo>
                  <a:pt x="306" y="423"/>
                </a:lnTo>
                <a:lnTo>
                  <a:pt x="301" y="425"/>
                </a:lnTo>
                <a:lnTo>
                  <a:pt x="296" y="427"/>
                </a:lnTo>
                <a:lnTo>
                  <a:pt x="291" y="428"/>
                </a:lnTo>
                <a:lnTo>
                  <a:pt x="285" y="430"/>
                </a:lnTo>
                <a:lnTo>
                  <a:pt x="280" y="432"/>
                </a:lnTo>
                <a:lnTo>
                  <a:pt x="275" y="433"/>
                </a:lnTo>
                <a:lnTo>
                  <a:pt x="270" y="434"/>
                </a:lnTo>
                <a:lnTo>
                  <a:pt x="264" y="436"/>
                </a:lnTo>
                <a:lnTo>
                  <a:pt x="259" y="437"/>
                </a:lnTo>
                <a:lnTo>
                  <a:pt x="253" y="437"/>
                </a:lnTo>
                <a:lnTo>
                  <a:pt x="248" y="438"/>
                </a:lnTo>
                <a:lnTo>
                  <a:pt x="242" y="439"/>
                </a:lnTo>
                <a:lnTo>
                  <a:pt x="237" y="439"/>
                </a:lnTo>
                <a:lnTo>
                  <a:pt x="231" y="440"/>
                </a:lnTo>
                <a:lnTo>
                  <a:pt x="226" y="440"/>
                </a:lnTo>
                <a:lnTo>
                  <a:pt x="220" y="440"/>
                </a:lnTo>
                <a:lnTo>
                  <a:pt x="214" y="440"/>
                </a:lnTo>
                <a:lnTo>
                  <a:pt x="209" y="440"/>
                </a:lnTo>
                <a:lnTo>
                  <a:pt x="203" y="439"/>
                </a:lnTo>
                <a:lnTo>
                  <a:pt x="198" y="439"/>
                </a:lnTo>
                <a:lnTo>
                  <a:pt x="192" y="438"/>
                </a:lnTo>
                <a:lnTo>
                  <a:pt x="187" y="437"/>
                </a:lnTo>
                <a:lnTo>
                  <a:pt x="181" y="437"/>
                </a:lnTo>
                <a:lnTo>
                  <a:pt x="176" y="436"/>
                </a:lnTo>
                <a:lnTo>
                  <a:pt x="170" y="434"/>
                </a:lnTo>
                <a:lnTo>
                  <a:pt x="165" y="433"/>
                </a:lnTo>
                <a:lnTo>
                  <a:pt x="160" y="432"/>
                </a:lnTo>
                <a:lnTo>
                  <a:pt x="155" y="430"/>
                </a:lnTo>
                <a:lnTo>
                  <a:pt x="149" y="428"/>
                </a:lnTo>
                <a:lnTo>
                  <a:pt x="144" y="427"/>
                </a:lnTo>
                <a:lnTo>
                  <a:pt x="139" y="425"/>
                </a:lnTo>
                <a:lnTo>
                  <a:pt x="134" y="423"/>
                </a:lnTo>
                <a:lnTo>
                  <a:pt x="129" y="421"/>
                </a:lnTo>
                <a:lnTo>
                  <a:pt x="125" y="418"/>
                </a:lnTo>
                <a:lnTo>
                  <a:pt x="120" y="416"/>
                </a:lnTo>
                <a:lnTo>
                  <a:pt x="115" y="413"/>
                </a:lnTo>
                <a:lnTo>
                  <a:pt x="111" y="411"/>
                </a:lnTo>
                <a:lnTo>
                  <a:pt x="106" y="408"/>
                </a:lnTo>
                <a:lnTo>
                  <a:pt x="101" y="405"/>
                </a:lnTo>
                <a:lnTo>
                  <a:pt x="97" y="402"/>
                </a:lnTo>
                <a:lnTo>
                  <a:pt x="93" y="399"/>
                </a:lnTo>
                <a:lnTo>
                  <a:pt x="88" y="396"/>
                </a:lnTo>
                <a:lnTo>
                  <a:pt x="84" y="393"/>
                </a:lnTo>
                <a:lnTo>
                  <a:pt x="80" y="390"/>
                </a:lnTo>
                <a:lnTo>
                  <a:pt x="76" y="386"/>
                </a:lnTo>
                <a:lnTo>
                  <a:pt x="72" y="383"/>
                </a:lnTo>
                <a:lnTo>
                  <a:pt x="68" y="379"/>
                </a:lnTo>
                <a:lnTo>
                  <a:pt x="64" y="376"/>
                </a:lnTo>
                <a:lnTo>
                  <a:pt x="61" y="372"/>
                </a:lnTo>
                <a:lnTo>
                  <a:pt x="57" y="368"/>
                </a:lnTo>
                <a:lnTo>
                  <a:pt x="54" y="364"/>
                </a:lnTo>
                <a:lnTo>
                  <a:pt x="50" y="360"/>
                </a:lnTo>
                <a:lnTo>
                  <a:pt x="47" y="356"/>
                </a:lnTo>
                <a:lnTo>
                  <a:pt x="44" y="352"/>
                </a:lnTo>
                <a:lnTo>
                  <a:pt x="41" y="347"/>
                </a:lnTo>
                <a:lnTo>
                  <a:pt x="38" y="343"/>
                </a:lnTo>
                <a:lnTo>
                  <a:pt x="35" y="339"/>
                </a:lnTo>
                <a:lnTo>
                  <a:pt x="32" y="334"/>
                </a:lnTo>
                <a:lnTo>
                  <a:pt x="29" y="329"/>
                </a:lnTo>
                <a:lnTo>
                  <a:pt x="27" y="325"/>
                </a:lnTo>
                <a:lnTo>
                  <a:pt x="24" y="320"/>
                </a:lnTo>
                <a:lnTo>
                  <a:pt x="22" y="315"/>
                </a:lnTo>
                <a:lnTo>
                  <a:pt x="19" y="311"/>
                </a:lnTo>
                <a:lnTo>
                  <a:pt x="17" y="306"/>
                </a:lnTo>
                <a:lnTo>
                  <a:pt x="15" y="301"/>
                </a:lnTo>
                <a:lnTo>
                  <a:pt x="13" y="296"/>
                </a:lnTo>
                <a:lnTo>
                  <a:pt x="12" y="291"/>
                </a:lnTo>
                <a:lnTo>
                  <a:pt x="10" y="285"/>
                </a:lnTo>
                <a:lnTo>
                  <a:pt x="8" y="280"/>
                </a:lnTo>
                <a:lnTo>
                  <a:pt x="7" y="275"/>
                </a:lnTo>
                <a:lnTo>
                  <a:pt x="6" y="270"/>
                </a:lnTo>
                <a:lnTo>
                  <a:pt x="4" y="264"/>
                </a:lnTo>
                <a:lnTo>
                  <a:pt x="3" y="259"/>
                </a:lnTo>
                <a:lnTo>
                  <a:pt x="3" y="253"/>
                </a:lnTo>
                <a:lnTo>
                  <a:pt x="2" y="248"/>
                </a:lnTo>
                <a:lnTo>
                  <a:pt x="1" y="242"/>
                </a:lnTo>
                <a:lnTo>
                  <a:pt x="1" y="237"/>
                </a:lnTo>
                <a:lnTo>
                  <a:pt x="0" y="231"/>
                </a:lnTo>
                <a:lnTo>
                  <a:pt x="0" y="226"/>
                </a:lnTo>
                <a:lnTo>
                  <a:pt x="0" y="220"/>
                </a:lnTo>
                <a:lnTo>
                  <a:pt x="0" y="214"/>
                </a:lnTo>
                <a:lnTo>
                  <a:pt x="0" y="209"/>
                </a:lnTo>
                <a:lnTo>
                  <a:pt x="1" y="203"/>
                </a:lnTo>
                <a:lnTo>
                  <a:pt x="1" y="198"/>
                </a:lnTo>
                <a:lnTo>
                  <a:pt x="2" y="192"/>
                </a:lnTo>
                <a:lnTo>
                  <a:pt x="3" y="187"/>
                </a:lnTo>
                <a:lnTo>
                  <a:pt x="3" y="181"/>
                </a:lnTo>
                <a:lnTo>
                  <a:pt x="4" y="176"/>
                </a:lnTo>
                <a:lnTo>
                  <a:pt x="6" y="170"/>
                </a:lnTo>
                <a:lnTo>
                  <a:pt x="7" y="165"/>
                </a:lnTo>
                <a:lnTo>
                  <a:pt x="8" y="160"/>
                </a:lnTo>
                <a:lnTo>
                  <a:pt x="10" y="155"/>
                </a:lnTo>
                <a:lnTo>
                  <a:pt x="12" y="149"/>
                </a:lnTo>
                <a:lnTo>
                  <a:pt x="13" y="144"/>
                </a:lnTo>
                <a:lnTo>
                  <a:pt x="15" y="139"/>
                </a:lnTo>
                <a:lnTo>
                  <a:pt x="17" y="134"/>
                </a:lnTo>
                <a:lnTo>
                  <a:pt x="19" y="129"/>
                </a:lnTo>
                <a:lnTo>
                  <a:pt x="22" y="125"/>
                </a:lnTo>
                <a:lnTo>
                  <a:pt x="24" y="120"/>
                </a:lnTo>
                <a:lnTo>
                  <a:pt x="27" y="115"/>
                </a:lnTo>
                <a:lnTo>
                  <a:pt x="29" y="111"/>
                </a:lnTo>
                <a:lnTo>
                  <a:pt x="32" y="106"/>
                </a:lnTo>
                <a:lnTo>
                  <a:pt x="35" y="101"/>
                </a:lnTo>
                <a:lnTo>
                  <a:pt x="38" y="97"/>
                </a:lnTo>
                <a:lnTo>
                  <a:pt x="41" y="93"/>
                </a:lnTo>
                <a:lnTo>
                  <a:pt x="44" y="88"/>
                </a:lnTo>
                <a:lnTo>
                  <a:pt x="47" y="84"/>
                </a:lnTo>
                <a:lnTo>
                  <a:pt x="50" y="80"/>
                </a:lnTo>
                <a:lnTo>
                  <a:pt x="54" y="76"/>
                </a:lnTo>
                <a:lnTo>
                  <a:pt x="57" y="72"/>
                </a:lnTo>
                <a:lnTo>
                  <a:pt x="61" y="68"/>
                </a:lnTo>
                <a:lnTo>
                  <a:pt x="64" y="64"/>
                </a:lnTo>
                <a:lnTo>
                  <a:pt x="68" y="61"/>
                </a:lnTo>
                <a:lnTo>
                  <a:pt x="72" y="57"/>
                </a:lnTo>
                <a:lnTo>
                  <a:pt x="76" y="54"/>
                </a:lnTo>
                <a:lnTo>
                  <a:pt x="80" y="50"/>
                </a:lnTo>
                <a:lnTo>
                  <a:pt x="84" y="47"/>
                </a:lnTo>
                <a:lnTo>
                  <a:pt x="88" y="44"/>
                </a:lnTo>
                <a:lnTo>
                  <a:pt x="93" y="41"/>
                </a:lnTo>
                <a:lnTo>
                  <a:pt x="97" y="38"/>
                </a:lnTo>
                <a:lnTo>
                  <a:pt x="101" y="35"/>
                </a:lnTo>
                <a:lnTo>
                  <a:pt x="106" y="32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8" y="20"/>
                </a:lnTo>
                <a:lnTo>
                  <a:pt x="312" y="20"/>
                </a:lnTo>
                <a:close/>
              </a:path>
            </a:pathLst>
          </a:custGeom>
          <a:gradFill>
            <a:gsLst>
              <a:gs pos="60000">
                <a:srgbClr val="C7A96B">
                  <a:alpha val="0"/>
                </a:srgbClr>
              </a:gs>
              <a:gs pos="62000">
                <a:srgbClr val="C7A96B">
                  <a:alpha val="18000"/>
                </a:srgbClr>
              </a:gs>
              <a:gs pos="63000">
                <a:srgbClr val="C7A96B">
                  <a:alpha val="18000"/>
                </a:srgbClr>
              </a:gs>
              <a:gs pos="65000">
                <a:srgbClr val="C7A96B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pic>
        <p:nvPicPr>
          <p:cNvPr id="291" name="图片 290"/>
          <p:cNvPicPr>
            <a:picLocks noChangeAspect="1"/>
          </p:cNvPicPr>
          <p:nvPr/>
        </p:nvPicPr>
        <p:blipFill>
          <a:blip r:embed="rId1"/>
          <a:srcRect l="367" r="367"/>
          <a:stretch>
            <a:fillRect/>
          </a:stretch>
        </p:blipFill>
        <p:spPr>
          <a:xfrm>
            <a:off x="685800" y="581025"/>
            <a:ext cx="342900" cy="381000"/>
          </a:xfrm>
          <a:prstGeom prst="rect">
            <a:avLst/>
          </a:prstGeom>
        </p:spPr>
      </p:pic>
      <p:pic>
        <p:nvPicPr>
          <p:cNvPr id="292" name="图片 291"/>
          <p:cNvPicPr>
            <a:picLocks noChangeAspect="1"/>
          </p:cNvPicPr>
          <p:nvPr/>
        </p:nvPicPr>
        <p:blipFill>
          <a:blip r:embed="rId2"/>
          <a:srcRect t="852" b="852"/>
          <a:stretch>
            <a:fillRect/>
          </a:stretch>
        </p:blipFill>
        <p:spPr>
          <a:xfrm>
            <a:off x="1162050" y="514350"/>
            <a:ext cx="1504950" cy="342900"/>
          </a:xfrm>
          <a:prstGeom prst="rect">
            <a:avLst/>
          </a:prstGeom>
        </p:spPr>
      </p:pic>
      <p:pic>
        <p:nvPicPr>
          <p:cNvPr id="293" name="图片 292"/>
          <p:cNvPicPr>
            <a:picLocks noChangeAspect="1"/>
          </p:cNvPicPr>
          <p:nvPr/>
        </p:nvPicPr>
        <p:blipFill>
          <a:blip r:embed="rId3"/>
          <a:srcRect l="1481" r="1481"/>
          <a:stretch>
            <a:fillRect/>
          </a:stretch>
        </p:blipFill>
        <p:spPr>
          <a:xfrm>
            <a:off x="1162050" y="876300"/>
            <a:ext cx="1504950" cy="152400"/>
          </a:xfrm>
          <a:prstGeom prst="rect">
            <a:avLst/>
          </a:prstGeom>
        </p:spPr>
      </p:pic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9515475" y="3200400"/>
            <a:ext cx="2105025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 spc="-900">
                <a:solidFill>
                  <a:srgbClr val="8FD8E8">
                    <a:alpha val="22000"/>
                  </a:srgbClr>
                </a:solidFill>
                <a:latin typeface="Inter"/>
                <a:ea typeface="Inter"/>
              </a:rPr>
              <a:t>01</a:t>
            </a:r>
            <a:endParaRPr lang="en-US" sz="16500" b="1" spc="-900">
              <a:solidFill>
                <a:srgbClr val="8FD8E8">
                  <a:alpha val="22000"/>
                </a:srgbClr>
              </a:solidFill>
              <a:latin typeface="Inter"/>
              <a:ea typeface="Inter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685800" y="2590800"/>
            <a:ext cx="4381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C7A96B"/>
                </a:solidFill>
                <a:latin typeface="Inter"/>
                <a:ea typeface="Inter"/>
              </a:rPr>
              <a:t>PART 01</a:t>
            </a:r>
            <a:endParaRPr lang="en-US" sz="1050" b="1" spc="3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685800" y="2924175"/>
            <a:ext cx="4381500" cy="847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800" b="1" spc="-75">
                <a:solidFill>
                  <a:srgbClr val="EAF2F8"/>
                </a:solidFill>
                <a:latin typeface="PingFang SC"/>
                <a:ea typeface="PingFang SC"/>
              </a:rPr>
              <a:t>合同智能</a:t>
            </a:r>
            <a:endParaRPr lang="zh-CN" sz="4800" b="1" spc="-75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685800" y="4000500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685800" y="4248150"/>
            <a:ext cx="43815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8FA6BC"/>
                </a:solidFill>
                <a:latin typeface="PingFang SC"/>
                <a:ea typeface="PingFang SC"/>
              </a:rPr>
              <a:t>业务流程、痛点分析与本期落地方案</a:t>
            </a:r>
            <a:endParaRPr lang="zh-CN" sz="15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685800" y="6248400"/>
            <a:ext cx="266700" cy="9525"/>
          </a:xfrm>
          <a:prstGeom prst="rect">
            <a:avLst/>
          </a:prstGeom>
          <a:solidFill>
            <a:srgbClr val="C7A96B">
              <a:alpha val="70000"/>
            </a:srgbClr>
          </a:solidFill>
        </p:spPr>
        <p:txBody>
          <a:bodyPr/>
          <a:p/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1085850" y="6172200"/>
            <a:ext cx="247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6E86A0"/>
                </a:solidFill>
                <a:latin typeface="Inter"/>
                <a:ea typeface="Inter"/>
              </a:rPr>
              <a:t>DISHENG CONSULTING · 2026</a:t>
            </a:r>
            <a:endParaRPr lang="en-US" sz="975" spc="225">
              <a:solidFill>
                <a:srgbClr val="6E86A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合同现状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STATUS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盖章与归档位于评审之后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创建登记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销售易结构化填单，单份 30 分钟以上。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报价非必须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权限内直建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特价走审批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录入负担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初审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区域专员核对产品、价格与交期等基础信息。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产品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381000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价格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交期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逐项核对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技术评审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对照产品参数、施工方案与技术标准作初步标注。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85635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79920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产品参数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41325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407543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施工方案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4088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3516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技术标准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条款标注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商务评审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权限内由区域商务审核，大系统平台以上由集团商务审核。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8912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83413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付款条件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41675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41103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违约赔偿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44373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38658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宽限期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分层审核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法务评审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识别法务风险并提示修改方向，不替代法务终审。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法律条文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国家标准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人工终审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风险提示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04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30" name="圆角矩形 529"/>
          <p:cNvSpPr/>
          <p:nvPr/>
        </p:nvSpPr>
        <p:spPr>
          <a:xfrm>
            <a:off x="7962265" y="3362325"/>
            <a:ext cx="1886585" cy="3895725"/>
          </a:xfrm>
          <a:prstGeom prst="roundRect">
            <a:avLst>
              <a:gd name="adj" fmla="val 73684"/>
            </a:avLst>
          </a:prstGeom>
          <a:gradFill>
            <a:gsLst>
              <a:gs pos="0">
                <a:srgbClr val="5BC8C8">
                  <a:alpha val="10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 descr="// B · 10 内容页 · 表格 — 传统模式 vs 智能化模式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200, width: 520, height: 340, borderRadius: 26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模式对比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MPARISON&lt;/Text&gt;&#10;        &lt;Box style={{ flex: 1 }} /&gt;&#10;        &lt;Text style={{ fontSize: 14, color: '#8FA6BC' }}&gt;同样一件事，两种做法差别在哪&lt;/Text&gt;&#10;    &lt;/Box&gt;&#10;&#10;    {/* B · 内容区 */}&#10;    &lt;Box style={{ flex: 1, paddingTop: 28, paddingBottom: 24 }}&gt;&#10;        &lt;Table&#10;            style={{ width: '100%', height: '100%' }}&#10;            defaultTextStyle={{ fontSize: 16, textAlign: 'center', color: '#B9CBDA' }}&#10;            defaultCellStyle={{&#10;                border: {&#10;                    left: { width: 1, color: 'rgba(143,216,232,0.16)' },&#10;                    right: { width: 1, color: 'rgba(143,216,232,0.16)' },&#10;                    top: { width: 1, color: 'rgba(143,216,232,0.16)' },&#10;                    bottom: { width: 1, color: 'rgba(143,216,232,0.16)' }&#10;                }&#10;            }}&#10;            cells={[&#10;                [&#10;                    { text: '对比维度', textStyle: { bold: true, color: '#8FD8E8', fontSize: 16, textAlign: 'left' }, cellStyle: { background: { color: '#123248' } } },&#10;                    { text: '传统销售管理', textStyle: { bold: true, color: '#8FD8E8', fontSize: 16 }, cellStyle: { background: { color: '#123248' } } },&#10;                    { text: '智能化销售管理', textStyle: { bold: true, color: '#8FD8E8', fontSize: 16 }, cellStyle: { background: { color: '#123248' } } }&#10;                ],&#10;                [&#10;                    { text: '决策依据', textStyle: { bold: true, color: '#EAF2F8', textAlign: 'left' } },&#10;                    '依赖个人经验与直觉',&#10;                    { text: '数据与算法辅助判断', textStyle: { color: '#5BC8C8', bold: true } }&#10;                ],&#10;                [&#10;                    { text: '知识沉淀', textStyle: { bold: true, color: '#EAF2F8', textAlign: 'left' }, cellStyle: { background: { color: '#0C1A2C' } } },&#10;                    { text: '存于少数骨干脑中', cellStyle: { background: { color: '#0C1A2C' } } },&#10;                    { text: '结构化语料库持续沉淀', textStyle: { color: '#5BC8C8', bold: true }, cellStyle: { background: { color: '#0C1A2C' } } }&#10;                ],&#10;                [&#10;                    { text: '新人成长', textStyle: { bold: true, color: '#EAF2F8', textAlign: 'left' } },&#10;                    '6 – 12 个月摸索期',&#10;                    { text: '3 – 4 周完成上岗', textStyle: { color: '#5BC8C8', bold: true } }&#10;                ],&#10;                [&#10;                    { text: '过程管理', textStyle: { bold: true, color: '#EAF2F8', textAlign: 'left' }, cellStyle: { background: { color: '#0C1A2C' } } },&#10;                    { text: '周会与人工统计', cellStyle: { background: { color: '#0C1A2C' } } },&#10;                    { text: '实时可视与自动预警', textStyle: { color: '#5BC8C8', bold: true }, cellStyle: { background: { color: '#0C1A2C' } } }&#10;                ],&#10;                [&#10;                    { text: '复制能力', textStyle: { bold: true, color: '#EAF2F8', textAlign: 'left' } },&#10;                    '难以规模化复制',&#10;                    { text: '标准化打法快速复制', textStyle: { color: '#5BC8C8', bold: true } }&#10;                ]&#10;            ]}&#10;        /&gt;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0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21" name="任意多边形 20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22" name="圆角矩形 21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痛点分析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2381250" y="590550"/>
            <a:ext cx="1123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GAPS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五项现状及对应优化方向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graphicFrame>
        <p:nvGraphicFramePr>
          <p:cNvPr id="27" name="表格 26"/>
          <p:cNvGraphicFramePr/>
          <p:nvPr/>
        </p:nvGraphicFramePr>
        <p:xfrm>
          <a:off x="685800" y="1409700"/>
          <a:ext cx="10820400" cy="4457700"/>
        </p:xfrm>
        <a:graphic>
          <a:graphicData uri="http://schemas.openxmlformats.org/drawingml/2006/table">
            <a:tbl>
              <a:tblPr/>
              <a:tblGrid>
                <a:gridCol w="2007010"/>
                <a:gridCol w="4188542"/>
                <a:gridCol w="4624848"/>
              </a:tblGrid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8FD8E8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  <a:endParaRPr sz="1200" b="1">
                        <a:solidFill>
                          <a:srgbClr val="8FD8E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24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8FD8E8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  <a:endParaRPr sz="1200" b="1">
                        <a:solidFill>
                          <a:srgbClr val="8FD8E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24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8FD8E8"/>
                          </a:solidFill>
                          <a:latin typeface="微软雅黑"/>
                          <a:ea typeface="微软雅黑"/>
                        </a:rPr>
                        <a:t>优化方向</a:t>
                      </a:r>
                      <a:endParaRPr sz="1200" b="1">
                        <a:solidFill>
                          <a:srgbClr val="8FD8E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248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合同创建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单份 30 分钟以上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字段提取与自动填单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结算条款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付款比例须达 100%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结构化填写并自动校验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收货信息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须与签收单一致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自动比对并提示差异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产品清单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报价与合同多对多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统一名称与编码规则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合同审核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周期数天至一周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风险识别后人工确认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8" name="任意多边形 27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05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4000500" y="1905000"/>
            <a:ext cx="4953000" cy="3238500"/>
          </a:xfrm>
          <a:prstGeom prst="roundRect">
            <a:avLst>
              <a:gd name="adj" fmla="val 76471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1" name="" descr="// B · 09 内容页 · 三卡片 — 业务范围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20, width: 520, height: 380, borderRadius: 26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业务范围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BUSINESS SCOPE&lt;/Text&gt;&#10;        &lt;Box style={{ flex: 1 }} /&gt;&#10;        &lt;Text style={{ fontSize: 14, color: '#8FA6BC' }}&gt;三大板块，覆盖销售管理全链路&lt;/Text&gt;&#10;    &lt;/Box&gt;&#10;&#10;    {/* B · 内容区 */}&#10;    &lt;Box style={{ flex: 1, flexDirection: 'row', gap: 24, paddingTop: 34, paddingBottom: 30 }}&gt;&#10;        {[&#10;            { no: '01', title: '管理咨询', en: 'CONSULTING', desc: '以 PPABC 销售管理体系为主线，完成从市场规划、客户规划到商机规划与达标策略的全链路设计，让目标有清晰的组织承接。', pts: ['市场 · 客户 · 商机三层规划', '销售流程与制度重构', '目标分解与达标策略'], tags: ['销售体系设计', '流程重构', '组织赋能'] },&#10;            { no: '02', title: '销售智能化', en: 'AI ENABLEMENT', desc: '把 LTC 流程、知识与 AI 能力打通，让销售动作可沉淀、可复制、可度量，最终形成企业自己的销售资产。', pts: ['结构化语料库与知识萃取', '智能中台与 Skills 编排', '业务数据双向闭环'], tags: ['智能中台', '知识萃取', '数据闭环'] },&#10;            { no: '03', title: '培训与陪跑', en: 'TRAINING', desc: '从方法论讲授到一线陪跑，用真实商机做复盘与教练式辅导，把方法论变成团队肌肉记忆。', pts: ['方法论分层课程体系', '真实商机复盘与教练', '行为改变跟踪与反馈'], tags: ['实战训练', '商机复盘', '教练辅导'] }&#10;        ].map((c, idx) =&gt; (&#10;            &lt;Box key={idx} style={{ flex: 1, flexDirection: 'column', background: 'rgba(255,255,255,0.045)', border: '1px solid rgba(143,216,232,0.18)', borderRadius: 14, overflow: 'hidden', boxShadow: '0 10px 34px rgba(0,0,0,0.36)' }}&gt;&#10;                &lt;Box style={{ height: 3, width: '100%', background: 'linear-gradient(90deg, #8FD8E8 0%, #3FA8BF 100%)' }} /&gt;&#10;                &lt;Box style={{ flex: 1, flexDirection: 'column', padding: '24px 24px 20px' }}&gt;&#10;                    &lt;Box style={{ flexDirection: 'row', alignItems: 'baseline', gap: 12 }}&gt;&#10;                        &lt;Text style={{ fontSize: 30, fontWeight: 'bold', color: '#5BC8C8', fontFamily: '&quot;Inter&quot;,&quot;Helvetica Neue&quot;,Arial,sans-serif', letterSpacing: -1 }}&gt;{c.no}&lt;/Text&gt;&#10;                        &lt;Text style={{ fontSize: 24, fontWeight: 'bold', color: '#EAF2F8', letterSpacing: -0.3 }}&gt;{c.title}&lt;/Text&gt;&#10;                    &lt;/Box&gt;&#10;                    &lt;Text style={{ fontSize: 11, color: '#5E7590', letterSpacing: 2.5, marginTop: 8, fontFamily: '&quot;Inter&quot;,&quot;Helvetica Neue&quot;,Arial,sans-serif' }}&gt;{c.en}&lt;/Text&gt;&#10;                    &lt;Box style={{ width: 32, height: 2, background: 'rgba(143,216,232,0.35)', marginTop: 14 }} /&gt;&#10;                    &lt;Text style={{ fontSize: 16, color: '#9FB4C6', lineHeight: 1.9, marginTop: 14 }}&gt;&#10;                        {c.desc}&#10;                    &lt;/Text&gt;&#10;                    &lt;Box style={{ flexDirection: 'column', gap: 13, marginTop: 20, paddingTop: 18, borderTop: '1px dashed rgba(143,216,232,0.18)' }}&gt;&#10;                        {c.pts.map((p, i) =&gt; (&#10;                            &lt;Box key={i} style={{ flexDirection: 'row', alignItems: 'center', gap: 10 }}&gt;&#10;                                &lt;Box style={{ width: 6, height: 6, borderRadius: 3, background: '#5BC8C8' }} /&gt;&#10;                                &lt;Text style={{ fontSize: 15, color: '#B9CBDA' }}&gt;{p}&lt;/Text&gt;&#10;                            &lt;/Box&gt;&#10;                        ))}&#10;                    &lt;/Box&gt;&#10;                    &lt;Box style={{ marginTop: 'auto', flexDirection: 'row', flexWrap: 'wrap', gap: 8, paddingTop: 16 }}&gt;&#10;                        {c.tags.map((t, i) =&gt; (&#10;                            &lt;Box key={i} style={{ padding: '5px 11px', borderRadius: 999, background: 'rgba(91,200,200,0.09)', border: '1px solid rgba(143,216,232,0.24)' }}&gt;&#10;                                &lt;Text style={{ fontSize: 12, color: '#8FD8E8' }}&gt;{t}&lt;/Text&gt;&#10;                            &lt;/Box&gt;&#10;                        ))}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矩形 5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533" name="任意多边形 53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534" name="圆角矩形 53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落地方案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36" name="矩形 53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23812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SCOPE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辅助提效与风险提示，不替代人工终审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685800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40" name="任意多边形 539"/>
          <p:cNvSpPr/>
          <p:nvPr/>
        </p:nvSpPr>
        <p:spPr>
          <a:xfrm>
            <a:off x="685800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914400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1333500" y="1724025"/>
            <a:ext cx="9048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预填确认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914400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INTAKE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44" name="矩形 543"/>
          <p:cNvSpPr/>
          <p:nvPr/>
        </p:nvSpPr>
        <p:spPr>
          <a:xfrm>
            <a:off x="914400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14400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系统依据报价单或扫描件生成预填单，抽取字段并标注出处。低置信度字段提交销售确认。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914400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47" name="圆角矩形 546"/>
          <p:cNvSpPr/>
          <p:nvPr/>
        </p:nvSpPr>
        <p:spPr>
          <a:xfrm>
            <a:off x="914400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066800" y="3981450"/>
            <a:ext cx="1762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字段提取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出处标注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人工确认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49" name="圆角矩形 548"/>
          <p:cNvSpPr/>
          <p:nvPr/>
        </p:nvSpPr>
        <p:spPr>
          <a:xfrm>
            <a:off x="914400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066800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未匹配物料提供候选清单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914400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1066800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缺失信息向销售发起补件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3" name="圆角矩形 552"/>
          <p:cNvSpPr/>
          <p:nvPr/>
        </p:nvSpPr>
        <p:spPr>
          <a:xfrm>
            <a:off x="914400" y="5381625"/>
            <a:ext cx="8953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1019175" y="5429250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不自动赋码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1885950" y="5381625"/>
            <a:ext cx="753110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990725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不自行补录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7" name="圆角矩形 556"/>
          <p:cNvSpPr/>
          <p:nvPr/>
        </p:nvSpPr>
        <p:spPr>
          <a:xfrm>
            <a:off x="26638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27686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销售确认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9" name="圆角矩形 558"/>
          <p:cNvSpPr/>
          <p:nvPr/>
        </p:nvSpPr>
        <p:spPr>
          <a:xfrm>
            <a:off x="4371975" y="1466850"/>
            <a:ext cx="3448050" cy="4343400"/>
          </a:xfrm>
          <a:prstGeom prst="roundRect">
            <a:avLst>
              <a:gd name="adj" fmla="val 38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60" name="任意多边形 559"/>
          <p:cNvSpPr/>
          <p:nvPr/>
        </p:nvSpPr>
        <p:spPr>
          <a:xfrm>
            <a:off x="4371975" y="1466850"/>
            <a:ext cx="3448050" cy="28575"/>
          </a:xfrm>
          <a:custGeom>
            <a:avLst/>
            <a:gdLst/>
            <a:ahLst/>
            <a:cxnLst/>
            <a:pathLst>
              <a:path w="362" h="3">
                <a:moveTo>
                  <a:pt x="348" y="0"/>
                </a:moveTo>
                <a:cubicBezTo>
                  <a:pt x="351" y="0"/>
                  <a:pt x="354" y="1"/>
                  <a:pt x="357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8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460057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501967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评审确认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4600575" y="2143125"/>
            <a:ext cx="2990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REVIEW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64" name="矩形 563"/>
          <p:cNvSpPr/>
          <p:nvPr/>
        </p:nvSpPr>
        <p:spPr>
          <a:xfrm>
            <a:off x="460057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4600575" y="2562225"/>
            <a:ext cx="29908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基础核对产品、价格、交期、付款比例与收货一致性。技术、商务、法务对照已发布依据标注。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4600575" y="3800475"/>
            <a:ext cx="2990850" cy="952500"/>
          </a:xfrm>
          <a:custGeom>
            <a:avLst/>
            <a:gdLst/>
            <a:ahLst/>
            <a:cxnLst/>
            <a:pathLst>
              <a:path w="314" h="100">
                <a:moveTo>
                  <a:pt x="0" y="0"/>
                </a:moveTo>
                <a:lnTo>
                  <a:pt x="314" y="0"/>
                </a:lnTo>
                <a:lnTo>
                  <a:pt x="314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67" name="圆角矩形 566"/>
          <p:cNvSpPr/>
          <p:nvPr/>
        </p:nvSpPr>
        <p:spPr>
          <a:xfrm>
            <a:off x="460057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4752975" y="3981450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修改建议须引用依据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460057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4752975" y="4276725"/>
            <a:ext cx="143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未记载则结论为待补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460057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4752975" y="457200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无依据不列入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3" name="圆角矩形 572"/>
          <p:cNvSpPr/>
          <p:nvPr/>
        </p:nvSpPr>
        <p:spPr>
          <a:xfrm>
            <a:off x="46005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47053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待补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5" name="圆角矩形 574"/>
          <p:cNvSpPr/>
          <p:nvPr/>
        </p:nvSpPr>
        <p:spPr>
          <a:xfrm>
            <a:off x="53435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54483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无法判断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6086475" y="5381625"/>
            <a:ext cx="768985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61912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不直接放行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8048625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80" name="任意多边形 579"/>
          <p:cNvSpPr/>
          <p:nvPr/>
        </p:nvSpPr>
        <p:spPr>
          <a:xfrm>
            <a:off x="8048625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827722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69632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执行提醒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8277225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NOTICE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84" name="矩形 583"/>
          <p:cNvSpPr/>
          <p:nvPr/>
        </p:nvSpPr>
        <p:spPr>
          <a:xfrm>
            <a:off x="827722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8277225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发货、补充协议与退换货仅作提醒，不写入单据。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8277225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87" name="圆角矩形 586"/>
          <p:cNvSpPr/>
          <p:nvPr/>
        </p:nvSpPr>
        <p:spPr>
          <a:xfrm>
            <a:off x="827722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8429625" y="398145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不替代签署与盖章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827722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8429625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不替代建单与定责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1" name="圆角矩形 590"/>
          <p:cNvSpPr/>
          <p:nvPr/>
        </p:nvSpPr>
        <p:spPr>
          <a:xfrm>
            <a:off x="827722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429625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方案是否合格由人判断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82772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83820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发货排产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90201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91249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补充协议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7" name="圆角矩形 596"/>
          <p:cNvSpPr/>
          <p:nvPr/>
        </p:nvSpPr>
        <p:spPr>
          <a:xfrm>
            <a:off x="97631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98679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退换货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9" name="任意多边形 598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06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602" name="圆角矩形 601"/>
          <p:cNvSpPr/>
          <p:nvPr/>
        </p:nvSpPr>
        <p:spPr>
          <a:xfrm>
            <a:off x="4000500" y="1143000"/>
            <a:ext cx="4953000" cy="3619500"/>
          </a:xfrm>
          <a:prstGeom prst="roundRect">
            <a:avLst>
              <a:gd name="adj" fmla="val 68421"/>
            </a:avLst>
          </a:prstGeom>
          <a:gradFill>
            <a:gsLst>
              <a:gs pos="0">
                <a:srgbClr val="5BC8C8">
                  <a:alpha val="10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合同录入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INTAKE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销售确认后，预填单方可进入后续环节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接收单据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接收报价单、Word 或扫描件，作为字段提取的来源。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88429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82714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报价单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416052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410337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Word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43674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37959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扫描件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来源可核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字段提取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抽取关键字段并标注出处，低置信度字段提交人工确认。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85635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79920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客户项目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1325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07543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金额付款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088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3516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收货质保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标注出处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物料匹配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已对应的写明内部名称。未匹配的提供候选清单，不自动赋码。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84238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78523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已对应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411861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406146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候选清单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39483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33768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不自动赋码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规则共定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缺失补件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缺失信息向销售发起补件，不自行补录。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质保年限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验收条件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签收信息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不自行补录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销售确认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销售逐项确认预填单。未确认字段不进入后续环节。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逐项确认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确认人留痕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方可流转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人工确认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07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合同评审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REVIEW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评审人确认后，评审卡方可流转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基础核对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核对价格、交期、付款比例与收货。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产品价格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付款比例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收货地址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规则校验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技术标注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对照已发布技术依据标注施工条件。不判定方案是否合格。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93319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87604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配比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20941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15226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厚度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8564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42849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基层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不判定合格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商务标注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标注付款、赔偿、违约与宽限期。修改建议必须引用依据条目。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8912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83413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付款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41675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41103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赔偿违约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44373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38658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宽限期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引用条目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法务提示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提示质保、验收与标准号风险。未记载的为待补，不下达责任结论。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86334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80619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质保年限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413956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408241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验收标准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41579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35864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标准号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待补不定责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确认出卡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同一张评审卡按环节汇编。评审人确认后方可流转。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基础核对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三项标注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人工确认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不直接放行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08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1" name="" descr="// B · 09 内容页 · 三卡片 — 业务范围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20, width: 520, height: 380, borderRadius: 26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业务范围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BUSINESS SCOPE&lt;/Text&gt;&#10;        &lt;Box style={{ flex: 1 }} /&gt;&#10;        &lt;Text style={{ fontSize: 14, color: '#8FA6BC' }}&gt;三大板块，覆盖销售管理全链路&lt;/Text&gt;&#10;    &lt;/Box&gt;&#10;&#10;    {/* B · 内容区 */}&#10;    &lt;Box style={{ flex: 1, flexDirection: 'row', gap: 24, paddingTop: 34, paddingBottom: 30 }}&gt;&#10;        {[&#10;            { no: '01', title: '管理咨询', en: 'CONSULTING', desc: '以 PPABC 销售管理体系为主线，完成从市场规划、客户规划到商机规划与达标策略的全链路设计，让目标有清晰的组织承接。', pts: ['市场 · 客户 · 商机三层规划', '销售流程与制度重构', '目标分解与达标策略'], tags: ['销售体系设计', '流程重构', '组织赋能'] },&#10;            { no: '02', title: '销售智能化', en: 'AI ENABLEMENT', desc: '把 LTC 流程、知识与 AI 能力打通，让销售动作可沉淀、可复制、可度量，最终形成企业自己的销售资产。', pts: ['结构化语料库与知识萃取', '智能中台与 Skills 编排', '业务数据双向闭环'], tags: ['智能中台', '知识萃取', '数据闭环'] },&#10;            { no: '03', title: '培训与陪跑', en: 'TRAINING', desc: '从方法论讲授到一线陪跑，用真实商机做复盘与教练式辅导，把方法论变成团队肌肉记忆。', pts: ['方法论分层课程体系', '真实商机复盘与教练', '行为改变跟踪与反馈'], tags: ['实战训练', '商机复盘', '教练辅导'] }&#10;        ].map((c, idx) =&gt; (&#10;            &lt;Box key={idx} style={{ flex: 1, flexDirection: 'column', background: 'rgba(255,255,255,0.045)', border: '1px solid rgba(143,216,232,0.18)', borderRadius: 14, overflow: 'hidden', boxShadow: '0 10px 34px rgba(0,0,0,0.36)' }}&gt;&#10;                &lt;Box style={{ height: 3, width: '100%', background: 'linear-gradient(90deg, #8FD8E8 0%, #3FA8BF 100%)' }} /&gt;&#10;                &lt;Box style={{ flex: 1, flexDirection: 'column', padding: '24px 24px 20px' }}&gt;&#10;                    &lt;Box style={{ flexDirection: 'row', alignItems: 'baseline', gap: 12 }}&gt;&#10;                        &lt;Text style={{ fontSize: 30, fontWeight: 'bold', color: '#5BC8C8', fontFamily: '&quot;Inter&quot;,&quot;Helvetica Neue&quot;,Arial,sans-serif', letterSpacing: -1 }}&gt;{c.no}&lt;/Text&gt;&#10;                        &lt;Text style={{ fontSize: 24, fontWeight: 'bold', color: '#EAF2F8', letterSpacing: -0.3 }}&gt;{c.title}&lt;/Text&gt;&#10;                    &lt;/Box&gt;&#10;                    &lt;Text style={{ fontSize: 11, color: '#5E7590', letterSpacing: 2.5, marginTop: 8, fontFamily: '&quot;Inter&quot;,&quot;Helvetica Neue&quot;,Arial,sans-serif' }}&gt;{c.en}&lt;/Text&gt;&#10;                    &lt;Box style={{ width: 32, height: 2, background: 'rgba(143,216,232,0.35)', marginTop: 14 }} /&gt;&#10;                    &lt;Text style={{ fontSize: 16, color: '#9FB4C6', lineHeight: 1.9, marginTop: 14 }}&gt;&#10;                        {c.desc}&#10;                    &lt;/Text&gt;&#10;                    &lt;Box style={{ flexDirection: 'column', gap: 13, marginTop: 20, paddingTop: 18, borderTop: '1px dashed rgba(143,216,232,0.18)' }}&gt;&#10;                        {c.pts.map((p, i) =&gt; (&#10;                            &lt;Box key={i} style={{ flexDirection: 'row', alignItems: 'center', gap: 10 }}&gt;&#10;                                &lt;Box style={{ width: 6, height: 6, borderRadius: 3, background: '#5BC8C8' }} /&gt;&#10;                                &lt;Text style={{ fontSize: 15, color: '#B9CBDA' }}&gt;{p}&lt;/Text&gt;&#10;                            &lt;/Box&gt;&#10;                        ))}&#10;                    &lt;/Box&gt;&#10;                    &lt;Box style={{ marginTop: 'auto', flexDirection: 'row', flexWrap: 'wrap', gap: 8, paddingTop: 16 }}&gt;&#10;                        {c.tags.map((t, i) =&gt; (&#10;                            &lt;Box key={i} style={{ padding: '5px 11px', borderRadius: 999, background: 'rgba(91,200,200,0.09)', border: '1px solid rgba(143,216,232,0.24)' }}&gt;&#10;                                &lt;Text style={{ fontSize: 12, color: '#8FD8E8' }}&gt;{t}&lt;/Text&gt;&#10;                            &lt;/Box&gt;&#10;                        ))}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矩形 5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533" name="任意多边形 53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534" name="圆角矩形 53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依据条目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36" name="矩形 53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23812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BASIS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无对应依据条目的事项不列入评审卡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685800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40" name="任意多边形 539"/>
          <p:cNvSpPr/>
          <p:nvPr/>
        </p:nvSpPr>
        <p:spPr>
          <a:xfrm>
            <a:off x="685800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914400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1333500" y="1724025"/>
            <a:ext cx="9048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录入依据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914400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INTAKE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44" name="矩形 543"/>
          <p:cNvSpPr/>
          <p:nvPr/>
        </p:nvSpPr>
        <p:spPr>
          <a:xfrm>
            <a:off x="914400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14400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录入依赖物料别名对照，以及字段是否按要求记载。未形成对照规则的物料，只提供候选清单。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914400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47" name="圆角矩形 546"/>
          <p:cNvSpPr/>
          <p:nvPr/>
        </p:nvSpPr>
        <p:spPr>
          <a:xfrm>
            <a:off x="914400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066800" y="3981450"/>
            <a:ext cx="1762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物料别名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字段完整性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出处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49" name="圆角矩形 548"/>
          <p:cNvSpPr/>
          <p:nvPr/>
        </p:nvSpPr>
        <p:spPr>
          <a:xfrm>
            <a:off x="914400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066800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名称与编码规则由双方厘定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914400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1066800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不承诺全量自动匹配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3" name="圆角矩形 552"/>
          <p:cNvSpPr/>
          <p:nvPr/>
        </p:nvSpPr>
        <p:spPr>
          <a:xfrm>
            <a:off x="914400" y="5381625"/>
            <a:ext cx="8953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1019175" y="5429250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别名对照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1885950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990725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完整性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7" name="圆角矩形 556"/>
          <p:cNvSpPr/>
          <p:nvPr/>
        </p:nvSpPr>
        <p:spPr>
          <a:xfrm>
            <a:off x="2628900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2733675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人工确认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9" name="圆角矩形 558"/>
          <p:cNvSpPr/>
          <p:nvPr/>
        </p:nvSpPr>
        <p:spPr>
          <a:xfrm>
            <a:off x="4371975" y="1466850"/>
            <a:ext cx="3448050" cy="4343400"/>
          </a:xfrm>
          <a:prstGeom prst="roundRect">
            <a:avLst>
              <a:gd name="adj" fmla="val 38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60" name="任意多边形 559"/>
          <p:cNvSpPr/>
          <p:nvPr/>
        </p:nvSpPr>
        <p:spPr>
          <a:xfrm>
            <a:off x="4371975" y="1466850"/>
            <a:ext cx="3448050" cy="28575"/>
          </a:xfrm>
          <a:custGeom>
            <a:avLst/>
            <a:gdLst/>
            <a:ahLst/>
            <a:cxnLst/>
            <a:pathLst>
              <a:path w="362" h="3">
                <a:moveTo>
                  <a:pt x="348" y="0"/>
                </a:moveTo>
                <a:cubicBezTo>
                  <a:pt x="351" y="0"/>
                  <a:pt x="354" y="1"/>
                  <a:pt x="357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8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460057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501967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评审依据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4600575" y="2143125"/>
            <a:ext cx="2990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REVIEW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64" name="矩形 563"/>
          <p:cNvSpPr/>
          <p:nvPr/>
        </p:nvSpPr>
        <p:spPr>
          <a:xfrm>
            <a:off x="460057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4600575" y="2562225"/>
            <a:ext cx="29908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评审依赖结算规则、签收一致性，以及技术、商务、法务已发布条目。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4600575" y="3800475"/>
            <a:ext cx="2990850" cy="952500"/>
          </a:xfrm>
          <a:custGeom>
            <a:avLst/>
            <a:gdLst/>
            <a:ahLst/>
            <a:cxnLst/>
            <a:pathLst>
              <a:path w="314" h="100">
                <a:moveTo>
                  <a:pt x="0" y="0"/>
                </a:moveTo>
                <a:lnTo>
                  <a:pt x="314" y="0"/>
                </a:lnTo>
                <a:lnTo>
                  <a:pt x="314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67" name="圆角矩形 566"/>
          <p:cNvSpPr/>
          <p:nvPr/>
        </p:nvSpPr>
        <p:spPr>
          <a:xfrm>
            <a:off x="460057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4752975" y="3981450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结算规则与签收一致性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460057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4752975" y="4276725"/>
            <a:ext cx="143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技术、商务、法务依据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460057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4752975" y="457200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无条目不列入评审卡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3" name="圆角矩形 572"/>
          <p:cNvSpPr/>
          <p:nvPr/>
        </p:nvSpPr>
        <p:spPr>
          <a:xfrm>
            <a:off x="46005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47053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结算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5" name="圆角矩形 574"/>
          <p:cNvSpPr/>
          <p:nvPr/>
        </p:nvSpPr>
        <p:spPr>
          <a:xfrm>
            <a:off x="53435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54483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签收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60864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61912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条款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8048625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80" name="任意多边形 579"/>
          <p:cNvSpPr/>
          <p:nvPr/>
        </p:nvSpPr>
        <p:spPr>
          <a:xfrm>
            <a:off x="8048625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827722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69632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发布关系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8277225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PUBLISH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84" name="矩形 583"/>
          <p:cNvSpPr/>
          <p:nvPr/>
        </p:nvSpPr>
        <p:spPr>
          <a:xfrm>
            <a:off x="827722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8277225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上述依据即知识库需要发布、并保持当前有效的业务规则。合同评审与销售问答使用同一套已发布条目。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8277225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87" name="圆角矩形 586"/>
          <p:cNvSpPr/>
          <p:nvPr/>
        </p:nvSpPr>
        <p:spPr>
          <a:xfrm>
            <a:off x="827722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8429625" y="398145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当前有效方可引用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827722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8429625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修订采用发布新条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1" name="圆角矩形 590"/>
          <p:cNvSpPr/>
          <p:nvPr/>
        </p:nvSpPr>
        <p:spPr>
          <a:xfrm>
            <a:off x="827722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429625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旧条退役并留档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82772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83820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已发布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90201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91249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可引用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7" name="圆角矩形 596"/>
          <p:cNvSpPr/>
          <p:nvPr/>
        </p:nvSpPr>
        <p:spPr>
          <a:xfrm>
            <a:off x="97631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98679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可回溯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9" name="任意多边形 598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09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602" name="圆角矩形 601"/>
          <p:cNvSpPr/>
          <p:nvPr/>
        </p:nvSpPr>
        <p:spPr>
          <a:xfrm>
            <a:off x="4000500" y="1143000"/>
            <a:ext cx="4953000" cy="3619500"/>
          </a:xfrm>
          <a:prstGeom prst="roundRect">
            <a:avLst>
              <a:gd name="adj" fmla="val 68421"/>
            </a:avLst>
          </a:prstGeom>
          <a:gradFill>
            <a:gsLst>
              <a:gs pos="0">
                <a:srgbClr val="5BC8C8">
                  <a:alpha val="10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企业治理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CONTROL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审批、审计、熔断、隔离，并保证稳定可靠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审批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APPROVAL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预填单须销售确认，评审卡须评审人确认，系统不得自行放行。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不直接放行合同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审计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AUDIT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字段取值、依据条目与确认人可回溯，记录可校验完整性。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责任可追溯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熔断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BREAKER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异常时停用对应角色，既有审批流程继续执行。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先停用再核查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隔离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ISOLATION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按角色区分查阅、办理与审批。合同与报价留存客户环境。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数据不出客户环境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10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3238500" y="1333500"/>
            <a:ext cx="5334000" cy="3810000"/>
          </a:xfrm>
          <a:prstGeom prst="roundRect">
            <a:avLst>
              <a:gd name="adj" fmla="val 70000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 descr="// B · 14 内容页 · 方法论体系 — 四层列表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80, width: 520, height: 360, borderRadius: 26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方法论体系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METHODOLOGY&lt;/Text&gt;&#10;        &lt;Box style={{ flex: 1 }} /&gt;&#10;        &lt;Text style={{ fontSize: 14, color: '#8FA6BC' }}&gt;四层工具，从战略到执行的闭环&lt;/Text&gt;&#10;    &lt;/Box&gt;&#10;&#10;    {/* B · 内容区 */}&#10;    &lt;Box style={{ flex: 1, flexDirection: 'column', justifyContent: 'center', paddingBottom: 20 }}&gt;&#10;        {[&#10;            { no: '01', zh: '战略层', en: 'STRATEGY', items: ['市场规划', '客户规划', '商机规划', '目标分解与达标'] },&#10;            { no: '02', zh: '流程层', en: 'PROCESS', items: ['LTC 全流程', '6W 拜访流程', '销售流程标准化'] },&#10;            { no: '03', zh: '评估层', en: 'ASSESSMENT', items: ['C139 商机质量评估', 'WINNER 客户评估', '漏斗健康度诊断'] },&#10;            { no: '04', zh: '赋能层', en: 'ENABLEMENT', items: ['分层课程体系', '教练式辅导', '项目复盘与迭代'] }&#10;        ].map((r, idx) =&gt; (&#10;            &lt;Box key={idx} style={{ flexDirection: 'row', alignItems: 'center', paddingTop: 24, paddingBottom: 24, borderBottom: idx &lt; 3 ? '1px dashed rgba(143,216,232,0.18)' : 'none' }}&gt;&#10;                &lt;Box style={{ width: 300, flexDirection: 'row', alignItems: 'center', gap: 16 }}&gt;&#10;                    &lt;Text style={{ fontSize: 22, fontWeight: 'bold', color: '#5BC8C8', fontFamily: '&quot;Inter&quot;,&quot;Helvetica Neue&quot;,Arial,sans-serif', letterSpacing: -1 }}&gt;{r.no}&lt;/Text&gt;&#10;                    &lt;Box style={{ width: 1, height: 40, background: 'rgba(143,216,232,0.25)' }} /&gt;&#10;                    &lt;Box style={{ flexDirection: 'column', gap: 7 }}&gt;&#10;                        &lt;Text style={{ fontSize: 22, fontWeight: 'bold', color: '#EAF2F8', letterSpacing: -0.3 }}&gt;{r.zh}&lt;/Text&gt;&#10;                        &lt;Text style={{ fontSize: 11, color: '#5E7590', letterSpacing: 2.5, fontFamily: '&quot;Inter&quot;,&quot;Helvetica Neue&quot;,Arial,sans-serif' }}&gt;{r.en}&lt;/Text&gt;&#10;                    &lt;/Box&gt;&#10;                &lt;/Box&gt;&#10;                &lt;Box style={{ flex: 1, flexDirection: 'row', flexWrap: 'wrap', gap: 10 }}&gt;&#10;                    {r.items.map((it, i) =&gt; (&#10;                        &lt;Box key={i} style={{ padding: '8px 15px', borderRadius: 999, background: 'rgba(91,200,200,0.09)', border: '1px solid rgba(143,216,232,0.22)' }}&gt;&#10;                            &lt;Text style={{ fontSize: 15, color: '#8FD8E8' }}&gt;{it}&lt;/Text&gt;&#10;                        &lt;/Box&gt;&#10;                    ))}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156" name="任意多边形 155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157" name="圆角矩形 156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66775" y="476250"/>
            <a:ext cx="1504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运行底座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25241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2686050" y="590550"/>
            <a:ext cx="127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RUNTIME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构建、运行、治理、观测处于同一底座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62" name="任意多边形 161"/>
          <p:cNvSpPr/>
          <p:nvPr/>
        </p:nvSpPr>
        <p:spPr>
          <a:xfrm>
            <a:off x="685800" y="1190625"/>
            <a:ext cx="10820400" cy="1181100"/>
          </a:xfrm>
          <a:custGeom>
            <a:avLst/>
            <a:gdLst/>
            <a:ahLst/>
            <a:cxnLst/>
            <a:pathLst>
              <a:path w="1136" h="124">
                <a:moveTo>
                  <a:pt x="0" y="123"/>
                </a:moveTo>
                <a:lnTo>
                  <a:pt x="1136" y="123"/>
                </a:lnTo>
                <a:lnTo>
                  <a:pt x="1136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85800" y="1647825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1057275" y="1581150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1219200" y="1419225"/>
            <a:ext cx="73342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构建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1219200" y="1990725"/>
            <a:ext cx="7334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BUILD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3543300" y="1609725"/>
            <a:ext cx="8572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3686175" y="16859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分角色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69" name="圆角矩形 168"/>
          <p:cNvSpPr/>
          <p:nvPr/>
        </p:nvSpPr>
        <p:spPr>
          <a:xfrm>
            <a:off x="4495800" y="1609725"/>
            <a:ext cx="8572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4638675" y="16859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有交付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71" name="圆角矩形 170"/>
          <p:cNvSpPr/>
          <p:nvPr/>
        </p:nvSpPr>
        <p:spPr>
          <a:xfrm>
            <a:off x="5448300" y="1609725"/>
            <a:ext cx="8572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5591175" y="16859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分段核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73" name="圆角矩形 172"/>
          <p:cNvSpPr/>
          <p:nvPr/>
        </p:nvSpPr>
        <p:spPr>
          <a:xfrm>
            <a:off x="6400800" y="1609725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543675" y="1685925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不一次定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75" name="任意多边形 174"/>
          <p:cNvSpPr/>
          <p:nvPr/>
        </p:nvSpPr>
        <p:spPr>
          <a:xfrm>
            <a:off x="685800" y="2362200"/>
            <a:ext cx="10820400" cy="1181100"/>
          </a:xfrm>
          <a:custGeom>
            <a:avLst/>
            <a:gdLst/>
            <a:ahLst/>
            <a:cxnLst/>
            <a:pathLst>
              <a:path w="1136" h="124">
                <a:moveTo>
                  <a:pt x="0" y="123"/>
                </a:moveTo>
                <a:lnTo>
                  <a:pt x="1136" y="123"/>
                </a:lnTo>
                <a:lnTo>
                  <a:pt x="1136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685800" y="2819400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1057275" y="2752725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219200" y="2590800"/>
            <a:ext cx="6667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运行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1219200" y="3162300"/>
            <a:ext cx="666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RUN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3543300" y="2781300"/>
            <a:ext cx="10477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3686175" y="2857500"/>
            <a:ext cx="762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进入后启动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4686300" y="2781300"/>
            <a:ext cx="11239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829175" y="2857500"/>
            <a:ext cx="838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同一路径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5905500" y="2781300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6048375" y="2857500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确认后写回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86" name="任意多边形 185"/>
          <p:cNvSpPr/>
          <p:nvPr/>
        </p:nvSpPr>
        <p:spPr>
          <a:xfrm>
            <a:off x="685800" y="3533775"/>
            <a:ext cx="10820400" cy="1181100"/>
          </a:xfrm>
          <a:custGeom>
            <a:avLst/>
            <a:gdLst/>
            <a:ahLst/>
            <a:cxnLst/>
            <a:pathLst>
              <a:path w="1136" h="124">
                <a:moveTo>
                  <a:pt x="0" y="123"/>
                </a:moveTo>
                <a:lnTo>
                  <a:pt x="1136" y="123"/>
                </a:lnTo>
                <a:lnTo>
                  <a:pt x="1136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685800" y="3990975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057275" y="3924300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1219200" y="3762375"/>
            <a:ext cx="9334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治理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1219200" y="4333875"/>
            <a:ext cx="9334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GOVERN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3543300" y="3952875"/>
            <a:ext cx="152400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3686175" y="4029075"/>
            <a:ext cx="123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先经确认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5162550" y="3952875"/>
            <a:ext cx="14668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5305425" y="4029075"/>
            <a:ext cx="1181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确认留痕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6724650" y="3952875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867525" y="4029075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不代签署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85800" y="5162550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04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1057275" y="5095875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1219200" y="4933950"/>
            <a:ext cx="9334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观测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1219200" y="5505450"/>
            <a:ext cx="9334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OBSERVE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3543300" y="5124450"/>
            <a:ext cx="114300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3686175" y="5200650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回看输入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203" name="圆角矩形 202"/>
          <p:cNvSpPr/>
          <p:nvPr/>
        </p:nvSpPr>
        <p:spPr>
          <a:xfrm>
            <a:off x="4781550" y="5124450"/>
            <a:ext cx="100012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4924425" y="5200650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回看依据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5876925" y="5124450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6019800" y="5200650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可再复核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207" name="任意多边形 20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11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10" name="圆角矩形 209"/>
          <p:cNvSpPr/>
          <p:nvPr/>
        </p:nvSpPr>
        <p:spPr>
          <a:xfrm>
            <a:off x="4000500" y="1714500"/>
            <a:ext cx="4953000" cy="3429000"/>
          </a:xfrm>
          <a:prstGeom prst="roundRect">
            <a:avLst>
              <a:gd name="adj" fmla="val 72222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0" name="" descr="// B · 07 章节过渡 — 巨型编号 + 底部辉光&#10;&lt;Slide style={{ width: 1280, height: 720, background: '#081322', position: 'relative', overflow: 'hidden', fontFamily: '&quot;PingFang SC&quot;,&quot;Source Han Sans SC&quot;,&quot;Microsoft YaHei&quot;,sans-serif' }}&gt;&#10;&#10;    {/* 装饰：底部辉光 */}&#10;    &lt;Box style={{ position: 'absolute', left: 160, bottom: -300, width: 960, height: 560, borderRadius: 480, background: 'radial-gradient(circle, rgba(91,200,200,0.24) 0%, rgba(8,19,34,0) 70%)' }} /&gt;&#10;    {/* 装饰：同心细环 */}&#10;    &lt;Box style={{ position: 'absolute', right: -200, top: -140, width: 640, height: 640, borderRadius: 320, background: 'radial-gradient(circle, rgba(143,216,232,0) 60%, rgba(143,216,232,0.16) 62%, rgba(143,216,232,0.16) 63%, rgba(143,216,232,0) 65%)' }} /&gt;&#10;    &lt;Box style={{ position: 'absolute', right: -80, top: -20, width: 440, height: 440, borderRadius: 220, background: 'radial-gradient(circle, rgba(199,169,107,0) 60%, rgba(199,169,107,0.18) 62%, rgba(199,169,107,0.18) 63%, rgba(199,169,107,0) 65%)' }} /&gt;&#10;&#10;    {/* 顶部品牌 */}&#10;    &lt;Box style={{ position: 'absolute', left: 72, top: 54, flexDirection: 'row', alignItems: 'center', gap: 14 }}&gt;&#10;        &lt;Image src=&quot;assets/badge.png&quot; style={{ width: 36, height: 40 }} /&gt;&#10;        &lt;Box style={{ flexDirection: 'column', gap: 2 }}&gt;&#10;            &lt;Image src=&quot;assets/logo_zh_light.png&quot; style={{ width: 158, height: 36 }} /&gt;&#10;            &lt;Image src=&quot;assets/logo_en_light.png&quot; style={{ width: 158, height: 16 }} /&gt;&#10;        &lt;/Box&gt;&#10;    &lt;/Box&gt;&#10;&#10;    {/* 巨型编号 */}&#10;    &lt;Text style={{ position: 'absolute', right: 60, top: 336, fontSize: 220, fontWeight: 'bold', color: 'rgba(143,216,232,0.22)', lineHeight: 1, letterSpacing: -12, fontFamily: '&quot;Inter&quot;,&quot;Helvetica Neue&quot;,Arial,sans-serif' }}&gt;&#10;        02&#10;    &lt;/Text&gt;&#10;&#10;    {/* 章节信息 */}&#10;    &lt;Box style={{ position: 'absolute', left: 72, top: 272, flexDirection: 'column' }}&gt;&#10;        &lt;Text style={{ fontSize: 14, fontWeight: 'bold', color: '#C7A96B', letterSpacing: 5, fontFamily: '&quot;Inter&quot;,&quot;Helvetica Neue&quot;,Arial,sans-serif' }}&gt;&#10;            PART 02&#10;        &lt;/Text&gt;&#10;        &lt;Text style={{ fontSize: 64, fontWeight: 'bold', color: '#EAF2F8', lineHeight: 1.15, letterSpacing: -1, marginTop: 18 }}&gt;&#10;            服务体系&#10;        &lt;/Text&gt;&#10;        &lt;Box style={{ width: 64, height: 4, background: 'linear-gradient(135deg, #8FD8E8 0%, #3FA8BF 100%)', borderRadius: 2, marginTop: 24 }} /&gt;&#10;        &lt;Text style={{ fontSize: 20, color: '#8FA6BC', lineHeight: 1.6, marginTop: 22 }}&gt;&#10;            从诊断到落地，一套可复制的服务与交付体系&#10;        &lt;/Text&gt;&#10;    &lt;/Box&gt;&#10;&#10;    {/* 底部锚点 */}&#10;    &lt;Box style={{ position: 'absolute', left: 72, bottom: 56, flexDirection: 'row', alignItems: 'center', gap: 14 }}&gt;&#10;        &lt;Box style={{ width: 28, height: 1, background: 'rgba(199,169,107,0.7)' }} /&gt;&#10;        &lt;Text style={{ fontSize: 13, color: '#6E86A0', letterSpacing: 3, fontFamily: '&quot;Inter&quot;,&quot;Helvetica Neue&quot;,Arial,sans-serif' }}&gt;&#10;            DISHENG CONSULTING · 202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矩形 4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32" name="任意多边形 431"/>
          <p:cNvSpPr/>
          <p:nvPr/>
        </p:nvSpPr>
        <p:spPr>
          <a:xfrm>
            <a:off x="1524000" y="4381500"/>
            <a:ext cx="9144000" cy="5334000"/>
          </a:xfrm>
          <a:custGeom>
            <a:avLst/>
            <a:gdLst/>
            <a:ahLst/>
            <a:cxnLst/>
            <a:pathLst>
              <a:path w="960" h="560">
                <a:moveTo>
                  <a:pt x="687" y="0"/>
                </a:moveTo>
                <a:lnTo>
                  <a:pt x="694" y="0"/>
                </a:lnTo>
                <a:lnTo>
                  <a:pt x="702" y="1"/>
                </a:lnTo>
                <a:lnTo>
                  <a:pt x="709" y="1"/>
                </a:lnTo>
                <a:lnTo>
                  <a:pt x="716" y="2"/>
                </a:lnTo>
                <a:lnTo>
                  <a:pt x="723" y="3"/>
                </a:lnTo>
                <a:lnTo>
                  <a:pt x="730" y="4"/>
                </a:lnTo>
                <a:lnTo>
                  <a:pt x="736" y="6"/>
                </a:lnTo>
                <a:lnTo>
                  <a:pt x="743" y="7"/>
                </a:lnTo>
                <a:lnTo>
                  <a:pt x="750" y="9"/>
                </a:lnTo>
                <a:lnTo>
                  <a:pt x="757" y="11"/>
                </a:lnTo>
                <a:lnTo>
                  <a:pt x="763" y="13"/>
                </a:lnTo>
                <a:lnTo>
                  <a:pt x="770" y="15"/>
                </a:lnTo>
                <a:lnTo>
                  <a:pt x="776" y="17"/>
                </a:lnTo>
                <a:lnTo>
                  <a:pt x="783" y="19"/>
                </a:lnTo>
                <a:lnTo>
                  <a:pt x="789" y="22"/>
                </a:lnTo>
                <a:lnTo>
                  <a:pt x="795" y="25"/>
                </a:lnTo>
                <a:lnTo>
                  <a:pt x="801" y="28"/>
                </a:lnTo>
                <a:lnTo>
                  <a:pt x="807" y="31"/>
                </a:lnTo>
                <a:lnTo>
                  <a:pt x="813" y="34"/>
                </a:lnTo>
                <a:lnTo>
                  <a:pt x="819" y="37"/>
                </a:lnTo>
                <a:lnTo>
                  <a:pt x="825" y="41"/>
                </a:lnTo>
                <a:lnTo>
                  <a:pt x="831" y="44"/>
                </a:lnTo>
                <a:lnTo>
                  <a:pt x="837" y="48"/>
                </a:lnTo>
                <a:lnTo>
                  <a:pt x="842" y="52"/>
                </a:lnTo>
                <a:lnTo>
                  <a:pt x="847" y="56"/>
                </a:lnTo>
                <a:lnTo>
                  <a:pt x="853" y="60"/>
                </a:lnTo>
                <a:lnTo>
                  <a:pt x="858" y="64"/>
                </a:lnTo>
                <a:lnTo>
                  <a:pt x="863" y="68"/>
                </a:lnTo>
                <a:lnTo>
                  <a:pt x="868" y="73"/>
                </a:lnTo>
                <a:lnTo>
                  <a:pt x="873" y="77"/>
                </a:lnTo>
                <a:lnTo>
                  <a:pt x="878" y="82"/>
                </a:lnTo>
                <a:lnTo>
                  <a:pt x="883" y="87"/>
                </a:lnTo>
                <a:lnTo>
                  <a:pt x="887" y="92"/>
                </a:lnTo>
                <a:lnTo>
                  <a:pt x="892" y="97"/>
                </a:lnTo>
                <a:lnTo>
                  <a:pt x="896" y="102"/>
                </a:lnTo>
                <a:lnTo>
                  <a:pt x="900" y="107"/>
                </a:lnTo>
                <a:lnTo>
                  <a:pt x="904" y="113"/>
                </a:lnTo>
                <a:lnTo>
                  <a:pt x="908" y="118"/>
                </a:lnTo>
                <a:lnTo>
                  <a:pt x="912" y="123"/>
                </a:lnTo>
                <a:lnTo>
                  <a:pt x="916" y="129"/>
                </a:lnTo>
                <a:lnTo>
                  <a:pt x="919" y="135"/>
                </a:lnTo>
                <a:lnTo>
                  <a:pt x="923" y="141"/>
                </a:lnTo>
                <a:lnTo>
                  <a:pt x="926" y="147"/>
                </a:lnTo>
                <a:lnTo>
                  <a:pt x="929" y="153"/>
                </a:lnTo>
                <a:lnTo>
                  <a:pt x="932" y="159"/>
                </a:lnTo>
                <a:lnTo>
                  <a:pt x="935" y="165"/>
                </a:lnTo>
                <a:lnTo>
                  <a:pt x="938" y="171"/>
                </a:lnTo>
                <a:lnTo>
                  <a:pt x="941" y="177"/>
                </a:lnTo>
                <a:lnTo>
                  <a:pt x="943" y="184"/>
                </a:lnTo>
                <a:lnTo>
                  <a:pt x="945" y="190"/>
                </a:lnTo>
                <a:lnTo>
                  <a:pt x="947" y="197"/>
                </a:lnTo>
                <a:lnTo>
                  <a:pt x="949" y="203"/>
                </a:lnTo>
                <a:lnTo>
                  <a:pt x="951" y="210"/>
                </a:lnTo>
                <a:lnTo>
                  <a:pt x="953" y="217"/>
                </a:lnTo>
                <a:lnTo>
                  <a:pt x="954" y="224"/>
                </a:lnTo>
                <a:lnTo>
                  <a:pt x="956" y="230"/>
                </a:lnTo>
                <a:lnTo>
                  <a:pt x="957" y="237"/>
                </a:lnTo>
                <a:lnTo>
                  <a:pt x="958" y="244"/>
                </a:lnTo>
                <a:lnTo>
                  <a:pt x="959" y="251"/>
                </a:lnTo>
                <a:lnTo>
                  <a:pt x="959" y="258"/>
                </a:lnTo>
                <a:lnTo>
                  <a:pt x="959" y="260"/>
                </a:lnTo>
                <a:lnTo>
                  <a:pt x="1" y="260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4" y="147"/>
                </a:lnTo>
                <a:lnTo>
                  <a:pt x="37" y="141"/>
                </a:lnTo>
                <a:lnTo>
                  <a:pt x="41" y="135"/>
                </a:lnTo>
                <a:lnTo>
                  <a:pt x="44" y="129"/>
                </a:lnTo>
                <a:lnTo>
                  <a:pt x="48" y="123"/>
                </a:lnTo>
                <a:lnTo>
                  <a:pt x="52" y="118"/>
                </a:lnTo>
                <a:lnTo>
                  <a:pt x="56" y="113"/>
                </a:lnTo>
                <a:lnTo>
                  <a:pt x="60" y="107"/>
                </a:lnTo>
                <a:lnTo>
                  <a:pt x="64" y="102"/>
                </a:lnTo>
                <a:lnTo>
                  <a:pt x="68" y="97"/>
                </a:lnTo>
                <a:lnTo>
                  <a:pt x="73" y="92"/>
                </a:lnTo>
                <a:lnTo>
                  <a:pt x="77" y="87"/>
                </a:lnTo>
                <a:lnTo>
                  <a:pt x="82" y="82"/>
                </a:lnTo>
                <a:lnTo>
                  <a:pt x="87" y="77"/>
                </a:lnTo>
                <a:lnTo>
                  <a:pt x="92" y="73"/>
                </a:lnTo>
                <a:lnTo>
                  <a:pt x="97" y="68"/>
                </a:lnTo>
                <a:lnTo>
                  <a:pt x="102" y="64"/>
                </a:lnTo>
                <a:lnTo>
                  <a:pt x="107" y="60"/>
                </a:lnTo>
                <a:lnTo>
                  <a:pt x="113" y="56"/>
                </a:lnTo>
                <a:lnTo>
                  <a:pt x="118" y="52"/>
                </a:lnTo>
                <a:lnTo>
                  <a:pt x="123" y="48"/>
                </a:lnTo>
                <a:lnTo>
                  <a:pt x="129" y="44"/>
                </a:lnTo>
                <a:lnTo>
                  <a:pt x="135" y="41"/>
                </a:lnTo>
                <a:lnTo>
                  <a:pt x="141" y="37"/>
                </a:lnTo>
                <a:lnTo>
                  <a:pt x="147" y="34"/>
                </a:lnTo>
                <a:lnTo>
                  <a:pt x="153" y="31"/>
                </a:lnTo>
                <a:lnTo>
                  <a:pt x="159" y="28"/>
                </a:lnTo>
                <a:lnTo>
                  <a:pt x="165" y="25"/>
                </a:lnTo>
                <a:lnTo>
                  <a:pt x="171" y="22"/>
                </a:lnTo>
                <a:lnTo>
                  <a:pt x="177" y="19"/>
                </a:lnTo>
                <a:lnTo>
                  <a:pt x="184" y="17"/>
                </a:lnTo>
                <a:lnTo>
                  <a:pt x="190" y="15"/>
                </a:lnTo>
                <a:lnTo>
                  <a:pt x="197" y="13"/>
                </a:lnTo>
                <a:lnTo>
                  <a:pt x="203" y="11"/>
                </a:lnTo>
                <a:lnTo>
                  <a:pt x="210" y="9"/>
                </a:lnTo>
                <a:lnTo>
                  <a:pt x="217" y="7"/>
                </a:lnTo>
                <a:lnTo>
                  <a:pt x="224" y="6"/>
                </a:lnTo>
                <a:lnTo>
                  <a:pt x="230" y="4"/>
                </a:lnTo>
                <a:lnTo>
                  <a:pt x="237" y="3"/>
                </a:lnTo>
                <a:lnTo>
                  <a:pt x="244" y="2"/>
                </a:lnTo>
                <a:lnTo>
                  <a:pt x="251" y="1"/>
                </a:lnTo>
                <a:lnTo>
                  <a:pt x="258" y="1"/>
                </a:lnTo>
                <a:lnTo>
                  <a:pt x="266" y="0"/>
                </a:lnTo>
                <a:lnTo>
                  <a:pt x="273" y="0"/>
                </a:lnTo>
                <a:lnTo>
                  <a:pt x="280" y="0"/>
                </a:lnTo>
                <a:lnTo>
                  <a:pt x="680" y="0"/>
                </a:lnTo>
                <a:close/>
              </a:path>
            </a:pathLst>
          </a:custGeom>
          <a:gradFill>
            <a:gsLst>
              <a:gs pos="0">
                <a:srgbClr val="5BC8C8">
                  <a:alpha val="24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433" name="任意多边形 432"/>
          <p:cNvSpPr/>
          <p:nvPr/>
        </p:nvSpPr>
        <p:spPr>
          <a:xfrm>
            <a:off x="8001000" y="-1333500"/>
            <a:ext cx="6096000" cy="6096000"/>
          </a:xfrm>
          <a:custGeom>
            <a:avLst/>
            <a:gdLst/>
            <a:ahLst/>
            <a:cxnLst/>
            <a:pathLst>
              <a:path w="640" h="640">
                <a:moveTo>
                  <a:pt x="440" y="617"/>
                </a:move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6" y="154"/>
                </a:lnTo>
                <a:lnTo>
                  <a:pt x="50" y="148"/>
                </a:lnTo>
                <a:lnTo>
                  <a:pt x="55" y="141"/>
                </a:lnTo>
                <a:lnTo>
                  <a:pt x="55" y="140"/>
                </a:lnTo>
                <a:lnTo>
                  <a:pt x="440" y="140"/>
                </a:lnTo>
                <a:close/>
              </a:path>
            </a:pathLst>
          </a:custGeom>
          <a:gradFill>
            <a:gsLst>
              <a:gs pos="60000">
                <a:srgbClr val="8FD8E8">
                  <a:alpha val="0"/>
                </a:srgbClr>
              </a:gs>
              <a:gs pos="62000">
                <a:srgbClr val="8FD8E8">
                  <a:alpha val="16000"/>
                </a:srgbClr>
              </a:gs>
              <a:gs pos="63000">
                <a:srgbClr val="8FD8E8">
                  <a:alpha val="16000"/>
                </a:srgbClr>
              </a:gs>
              <a:gs pos="65000">
                <a:srgbClr val="8FD8E8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434" name="任意多边形 433"/>
          <p:cNvSpPr/>
          <p:nvPr/>
        </p:nvSpPr>
        <p:spPr>
          <a:xfrm>
            <a:off x="8763000" y="-190500"/>
            <a:ext cx="4191000" cy="4191000"/>
          </a:xfrm>
          <a:custGeom>
            <a:avLst/>
            <a:gdLst/>
            <a:ahLst/>
            <a:cxnLst/>
            <a:pathLst>
              <a:path w="440" h="440">
                <a:moveTo>
                  <a:pt x="315" y="22"/>
                </a:move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0" y="50"/>
                </a:lnTo>
                <a:lnTo>
                  <a:pt x="360" y="390"/>
                </a:lnTo>
                <a:lnTo>
                  <a:pt x="360" y="390"/>
                </a:lnTo>
                <a:lnTo>
                  <a:pt x="356" y="393"/>
                </a:lnTo>
                <a:lnTo>
                  <a:pt x="352" y="396"/>
                </a:lnTo>
                <a:lnTo>
                  <a:pt x="347" y="399"/>
                </a:lnTo>
                <a:lnTo>
                  <a:pt x="343" y="402"/>
                </a:lnTo>
                <a:lnTo>
                  <a:pt x="339" y="405"/>
                </a:lnTo>
                <a:lnTo>
                  <a:pt x="334" y="408"/>
                </a:lnTo>
                <a:lnTo>
                  <a:pt x="329" y="411"/>
                </a:lnTo>
                <a:lnTo>
                  <a:pt x="325" y="413"/>
                </a:lnTo>
                <a:lnTo>
                  <a:pt x="320" y="416"/>
                </a:lnTo>
                <a:lnTo>
                  <a:pt x="315" y="418"/>
                </a:lnTo>
                <a:lnTo>
                  <a:pt x="311" y="421"/>
                </a:lnTo>
                <a:lnTo>
                  <a:pt x="306" y="423"/>
                </a:lnTo>
                <a:lnTo>
                  <a:pt x="301" y="425"/>
                </a:lnTo>
                <a:lnTo>
                  <a:pt x="296" y="427"/>
                </a:lnTo>
                <a:lnTo>
                  <a:pt x="291" y="428"/>
                </a:lnTo>
                <a:lnTo>
                  <a:pt x="285" y="430"/>
                </a:lnTo>
                <a:lnTo>
                  <a:pt x="280" y="432"/>
                </a:lnTo>
                <a:lnTo>
                  <a:pt x="275" y="433"/>
                </a:lnTo>
                <a:lnTo>
                  <a:pt x="270" y="434"/>
                </a:lnTo>
                <a:lnTo>
                  <a:pt x="264" y="436"/>
                </a:lnTo>
                <a:lnTo>
                  <a:pt x="259" y="437"/>
                </a:lnTo>
                <a:lnTo>
                  <a:pt x="253" y="437"/>
                </a:lnTo>
                <a:lnTo>
                  <a:pt x="248" y="438"/>
                </a:lnTo>
                <a:lnTo>
                  <a:pt x="242" y="439"/>
                </a:lnTo>
                <a:lnTo>
                  <a:pt x="237" y="439"/>
                </a:lnTo>
                <a:lnTo>
                  <a:pt x="231" y="440"/>
                </a:lnTo>
                <a:lnTo>
                  <a:pt x="226" y="440"/>
                </a:lnTo>
                <a:lnTo>
                  <a:pt x="220" y="440"/>
                </a:lnTo>
                <a:lnTo>
                  <a:pt x="214" y="440"/>
                </a:lnTo>
                <a:lnTo>
                  <a:pt x="209" y="440"/>
                </a:lnTo>
                <a:lnTo>
                  <a:pt x="203" y="439"/>
                </a:lnTo>
                <a:lnTo>
                  <a:pt x="198" y="439"/>
                </a:lnTo>
                <a:lnTo>
                  <a:pt x="192" y="438"/>
                </a:lnTo>
                <a:lnTo>
                  <a:pt x="187" y="437"/>
                </a:lnTo>
                <a:lnTo>
                  <a:pt x="181" y="437"/>
                </a:lnTo>
                <a:lnTo>
                  <a:pt x="176" y="436"/>
                </a:lnTo>
                <a:lnTo>
                  <a:pt x="170" y="434"/>
                </a:lnTo>
                <a:lnTo>
                  <a:pt x="165" y="433"/>
                </a:lnTo>
                <a:lnTo>
                  <a:pt x="160" y="432"/>
                </a:lnTo>
                <a:lnTo>
                  <a:pt x="155" y="430"/>
                </a:lnTo>
                <a:lnTo>
                  <a:pt x="149" y="428"/>
                </a:lnTo>
                <a:lnTo>
                  <a:pt x="144" y="427"/>
                </a:lnTo>
                <a:lnTo>
                  <a:pt x="139" y="425"/>
                </a:lnTo>
                <a:lnTo>
                  <a:pt x="134" y="423"/>
                </a:lnTo>
                <a:lnTo>
                  <a:pt x="129" y="421"/>
                </a:lnTo>
                <a:lnTo>
                  <a:pt x="125" y="418"/>
                </a:lnTo>
                <a:lnTo>
                  <a:pt x="120" y="416"/>
                </a:lnTo>
                <a:lnTo>
                  <a:pt x="115" y="413"/>
                </a:lnTo>
                <a:lnTo>
                  <a:pt x="111" y="411"/>
                </a:lnTo>
                <a:lnTo>
                  <a:pt x="106" y="408"/>
                </a:lnTo>
                <a:lnTo>
                  <a:pt x="101" y="405"/>
                </a:lnTo>
                <a:lnTo>
                  <a:pt x="97" y="402"/>
                </a:lnTo>
                <a:lnTo>
                  <a:pt x="93" y="399"/>
                </a:lnTo>
                <a:lnTo>
                  <a:pt x="88" y="396"/>
                </a:lnTo>
                <a:lnTo>
                  <a:pt x="84" y="393"/>
                </a:lnTo>
                <a:lnTo>
                  <a:pt x="80" y="390"/>
                </a:lnTo>
                <a:lnTo>
                  <a:pt x="76" y="386"/>
                </a:lnTo>
                <a:lnTo>
                  <a:pt x="72" y="383"/>
                </a:lnTo>
                <a:lnTo>
                  <a:pt x="68" y="379"/>
                </a:lnTo>
                <a:lnTo>
                  <a:pt x="64" y="376"/>
                </a:lnTo>
                <a:lnTo>
                  <a:pt x="61" y="372"/>
                </a:lnTo>
                <a:lnTo>
                  <a:pt x="57" y="368"/>
                </a:lnTo>
                <a:lnTo>
                  <a:pt x="54" y="364"/>
                </a:lnTo>
                <a:lnTo>
                  <a:pt x="50" y="360"/>
                </a:lnTo>
                <a:lnTo>
                  <a:pt x="47" y="356"/>
                </a:lnTo>
                <a:lnTo>
                  <a:pt x="44" y="352"/>
                </a:lnTo>
                <a:lnTo>
                  <a:pt x="41" y="347"/>
                </a:lnTo>
                <a:lnTo>
                  <a:pt x="38" y="343"/>
                </a:lnTo>
                <a:lnTo>
                  <a:pt x="35" y="339"/>
                </a:lnTo>
                <a:lnTo>
                  <a:pt x="32" y="334"/>
                </a:lnTo>
                <a:lnTo>
                  <a:pt x="29" y="329"/>
                </a:lnTo>
                <a:lnTo>
                  <a:pt x="27" y="325"/>
                </a:lnTo>
                <a:lnTo>
                  <a:pt x="24" y="320"/>
                </a:lnTo>
                <a:lnTo>
                  <a:pt x="22" y="315"/>
                </a:lnTo>
                <a:lnTo>
                  <a:pt x="19" y="311"/>
                </a:lnTo>
                <a:lnTo>
                  <a:pt x="17" y="306"/>
                </a:lnTo>
                <a:lnTo>
                  <a:pt x="15" y="301"/>
                </a:lnTo>
                <a:lnTo>
                  <a:pt x="13" y="296"/>
                </a:lnTo>
                <a:lnTo>
                  <a:pt x="12" y="291"/>
                </a:lnTo>
                <a:lnTo>
                  <a:pt x="10" y="285"/>
                </a:lnTo>
                <a:lnTo>
                  <a:pt x="8" y="280"/>
                </a:lnTo>
                <a:lnTo>
                  <a:pt x="7" y="275"/>
                </a:lnTo>
                <a:lnTo>
                  <a:pt x="6" y="270"/>
                </a:lnTo>
                <a:lnTo>
                  <a:pt x="4" y="264"/>
                </a:lnTo>
                <a:lnTo>
                  <a:pt x="3" y="259"/>
                </a:lnTo>
                <a:lnTo>
                  <a:pt x="3" y="253"/>
                </a:lnTo>
                <a:lnTo>
                  <a:pt x="2" y="248"/>
                </a:lnTo>
                <a:lnTo>
                  <a:pt x="1" y="242"/>
                </a:lnTo>
                <a:lnTo>
                  <a:pt x="1" y="237"/>
                </a:lnTo>
                <a:lnTo>
                  <a:pt x="0" y="231"/>
                </a:lnTo>
                <a:lnTo>
                  <a:pt x="0" y="226"/>
                </a:lnTo>
                <a:lnTo>
                  <a:pt x="0" y="220"/>
                </a:lnTo>
                <a:lnTo>
                  <a:pt x="0" y="214"/>
                </a:lnTo>
                <a:lnTo>
                  <a:pt x="0" y="209"/>
                </a:lnTo>
                <a:lnTo>
                  <a:pt x="1" y="203"/>
                </a:lnTo>
                <a:lnTo>
                  <a:pt x="1" y="198"/>
                </a:lnTo>
                <a:lnTo>
                  <a:pt x="2" y="192"/>
                </a:lnTo>
                <a:lnTo>
                  <a:pt x="3" y="187"/>
                </a:lnTo>
                <a:lnTo>
                  <a:pt x="3" y="181"/>
                </a:lnTo>
                <a:lnTo>
                  <a:pt x="4" y="176"/>
                </a:lnTo>
                <a:lnTo>
                  <a:pt x="6" y="170"/>
                </a:lnTo>
                <a:lnTo>
                  <a:pt x="7" y="165"/>
                </a:lnTo>
                <a:lnTo>
                  <a:pt x="8" y="160"/>
                </a:lnTo>
                <a:lnTo>
                  <a:pt x="10" y="155"/>
                </a:lnTo>
                <a:lnTo>
                  <a:pt x="12" y="149"/>
                </a:lnTo>
                <a:lnTo>
                  <a:pt x="13" y="144"/>
                </a:lnTo>
                <a:lnTo>
                  <a:pt x="15" y="139"/>
                </a:lnTo>
                <a:lnTo>
                  <a:pt x="17" y="134"/>
                </a:lnTo>
                <a:lnTo>
                  <a:pt x="19" y="129"/>
                </a:lnTo>
                <a:lnTo>
                  <a:pt x="22" y="125"/>
                </a:lnTo>
                <a:lnTo>
                  <a:pt x="24" y="120"/>
                </a:lnTo>
                <a:lnTo>
                  <a:pt x="27" y="115"/>
                </a:lnTo>
                <a:lnTo>
                  <a:pt x="29" y="111"/>
                </a:lnTo>
                <a:lnTo>
                  <a:pt x="32" y="106"/>
                </a:lnTo>
                <a:lnTo>
                  <a:pt x="35" y="101"/>
                </a:lnTo>
                <a:lnTo>
                  <a:pt x="38" y="97"/>
                </a:lnTo>
                <a:lnTo>
                  <a:pt x="41" y="93"/>
                </a:lnTo>
                <a:lnTo>
                  <a:pt x="44" y="88"/>
                </a:lnTo>
                <a:lnTo>
                  <a:pt x="47" y="84"/>
                </a:lnTo>
                <a:lnTo>
                  <a:pt x="50" y="80"/>
                </a:lnTo>
                <a:lnTo>
                  <a:pt x="54" y="76"/>
                </a:lnTo>
                <a:lnTo>
                  <a:pt x="57" y="72"/>
                </a:lnTo>
                <a:lnTo>
                  <a:pt x="61" y="68"/>
                </a:lnTo>
                <a:lnTo>
                  <a:pt x="64" y="64"/>
                </a:lnTo>
                <a:lnTo>
                  <a:pt x="68" y="61"/>
                </a:lnTo>
                <a:lnTo>
                  <a:pt x="72" y="57"/>
                </a:lnTo>
                <a:lnTo>
                  <a:pt x="76" y="54"/>
                </a:lnTo>
                <a:lnTo>
                  <a:pt x="80" y="50"/>
                </a:lnTo>
                <a:lnTo>
                  <a:pt x="84" y="47"/>
                </a:lnTo>
                <a:lnTo>
                  <a:pt x="88" y="44"/>
                </a:lnTo>
                <a:lnTo>
                  <a:pt x="93" y="41"/>
                </a:lnTo>
                <a:lnTo>
                  <a:pt x="97" y="38"/>
                </a:lnTo>
                <a:lnTo>
                  <a:pt x="101" y="35"/>
                </a:lnTo>
                <a:lnTo>
                  <a:pt x="106" y="32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8" y="20"/>
                </a:lnTo>
                <a:lnTo>
                  <a:pt x="312" y="20"/>
                </a:lnTo>
                <a:close/>
              </a:path>
            </a:pathLst>
          </a:custGeom>
          <a:gradFill>
            <a:gsLst>
              <a:gs pos="60000">
                <a:srgbClr val="C7A96B">
                  <a:alpha val="0"/>
                </a:srgbClr>
              </a:gs>
              <a:gs pos="62000">
                <a:srgbClr val="C7A96B">
                  <a:alpha val="18000"/>
                </a:srgbClr>
              </a:gs>
              <a:gs pos="63000">
                <a:srgbClr val="C7A96B">
                  <a:alpha val="18000"/>
                </a:srgbClr>
              </a:gs>
              <a:gs pos="65000">
                <a:srgbClr val="C7A96B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pic>
        <p:nvPicPr>
          <p:cNvPr id="435" name="图片 434"/>
          <p:cNvPicPr>
            <a:picLocks noChangeAspect="1"/>
          </p:cNvPicPr>
          <p:nvPr/>
        </p:nvPicPr>
        <p:blipFill>
          <a:blip r:embed="rId1"/>
          <a:srcRect l="367" r="367"/>
          <a:stretch>
            <a:fillRect/>
          </a:stretch>
        </p:blipFill>
        <p:spPr>
          <a:xfrm>
            <a:off x="685800" y="581025"/>
            <a:ext cx="342900" cy="381000"/>
          </a:xfrm>
          <a:prstGeom prst="rect">
            <a:avLst/>
          </a:prstGeom>
        </p:spPr>
      </p:pic>
      <p:pic>
        <p:nvPicPr>
          <p:cNvPr id="436" name="图片 435"/>
          <p:cNvPicPr>
            <a:picLocks noChangeAspect="1"/>
          </p:cNvPicPr>
          <p:nvPr/>
        </p:nvPicPr>
        <p:blipFill>
          <a:blip r:embed="rId2"/>
          <a:srcRect t="852" b="852"/>
          <a:stretch>
            <a:fillRect/>
          </a:stretch>
        </p:blipFill>
        <p:spPr>
          <a:xfrm>
            <a:off x="1162050" y="514350"/>
            <a:ext cx="1504950" cy="342900"/>
          </a:xfrm>
          <a:prstGeom prst="rect">
            <a:avLst/>
          </a:prstGeom>
        </p:spPr>
      </p:pic>
      <p:pic>
        <p:nvPicPr>
          <p:cNvPr id="437" name="图片 436"/>
          <p:cNvPicPr>
            <a:picLocks noChangeAspect="1"/>
          </p:cNvPicPr>
          <p:nvPr/>
        </p:nvPicPr>
        <p:blipFill>
          <a:blip r:embed="rId3"/>
          <a:srcRect l="1481" r="1481"/>
          <a:stretch>
            <a:fillRect/>
          </a:stretch>
        </p:blipFill>
        <p:spPr>
          <a:xfrm>
            <a:off x="1162050" y="876300"/>
            <a:ext cx="1504950" cy="152400"/>
          </a:xfrm>
          <a:prstGeom prst="rect">
            <a:avLst/>
          </a:prstGeom>
        </p:spPr>
      </p:pic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9515475" y="3200400"/>
            <a:ext cx="2105025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 spc="-900">
                <a:solidFill>
                  <a:srgbClr val="8FD8E8">
                    <a:alpha val="22000"/>
                  </a:srgbClr>
                </a:solidFill>
                <a:latin typeface="Inter"/>
                <a:ea typeface="Inter"/>
              </a:rPr>
              <a:t>02</a:t>
            </a:r>
            <a:endParaRPr lang="en-US" sz="16500" b="1" spc="-900">
              <a:solidFill>
                <a:srgbClr val="8FD8E8">
                  <a:alpha val="22000"/>
                </a:srgbClr>
              </a:solidFill>
              <a:latin typeface="Inter"/>
              <a:ea typeface="Inter"/>
            </a:endParaRPr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685800" y="25908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C7A96B"/>
                </a:solidFill>
                <a:latin typeface="Inter"/>
                <a:ea typeface="Inter"/>
              </a:rPr>
              <a:t>PART 02</a:t>
            </a:r>
            <a:endParaRPr lang="en-US" sz="1050" b="1" spc="3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685800" y="2924175"/>
            <a:ext cx="3810000" cy="847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800" b="1" spc="-75">
                <a:solidFill>
                  <a:srgbClr val="EAF2F8"/>
                </a:solidFill>
                <a:latin typeface="PingFang SC"/>
                <a:ea typeface="PingFang SC"/>
              </a:rPr>
              <a:t>知识库</a:t>
            </a:r>
            <a:endParaRPr lang="zh-CN" sz="4800" b="1" spc="-75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41" name="圆角矩形 440"/>
          <p:cNvSpPr/>
          <p:nvPr/>
        </p:nvSpPr>
        <p:spPr>
          <a:xfrm>
            <a:off x="685800" y="4000500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685800" y="4248150"/>
            <a:ext cx="3810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8FA6BC"/>
                </a:solidFill>
                <a:latin typeface="PingFang SC"/>
                <a:ea typeface="PingFang SC"/>
              </a:rPr>
              <a:t>现状、痛点，以及按当前有效规则建设</a:t>
            </a:r>
            <a:endParaRPr lang="zh-CN" sz="15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43" name="矩形 442"/>
          <p:cNvSpPr/>
          <p:nvPr/>
        </p:nvSpPr>
        <p:spPr>
          <a:xfrm>
            <a:off x="685800" y="6248400"/>
            <a:ext cx="266700" cy="9525"/>
          </a:xfrm>
          <a:prstGeom prst="rect">
            <a:avLst/>
          </a:prstGeom>
          <a:solidFill>
            <a:srgbClr val="C7A96B">
              <a:alpha val="70000"/>
            </a:srgbClr>
          </a:solidFill>
        </p:spPr>
        <p:txBody>
          <a:bodyPr/>
          <a:p/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1085850" y="6172200"/>
            <a:ext cx="247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6E86A0"/>
                </a:solidFill>
                <a:latin typeface="Inter"/>
                <a:ea typeface="Inter"/>
              </a:rPr>
              <a:t>DISHENG CONSULTING · 2026</a:t>
            </a:r>
            <a:endParaRPr lang="en-US" sz="975" spc="225">
              <a:solidFill>
                <a:srgbClr val="6E86A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知识现状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STATUS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尚未形成可引用资产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双库并存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销售易以文件目录存放，OA 另有一套知识库。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销售易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OA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目录存放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两处并存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标题检索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主要按标题查找，内容与问题检索不足。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标题检索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381000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内容检索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问题检索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检索不足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问答质量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文档直接导入，未经结构化处理。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直接导入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未结构化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质量不足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直接导入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调用情况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人资与行政知识库已经建立，实际调用率低。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人资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行政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调用率低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调用不足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经验留存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方法仍在个人，未形成资产。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个人经验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组织资产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尚未沉淀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尚未成资产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13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30" name="圆角矩形 529"/>
          <p:cNvSpPr/>
          <p:nvPr/>
        </p:nvSpPr>
        <p:spPr>
          <a:xfrm>
            <a:off x="3619500" y="1524000"/>
            <a:ext cx="5334000" cy="3619500"/>
          </a:xfrm>
          <a:prstGeom prst="roundRect">
            <a:avLst>
              <a:gd name="adj" fmla="val 73684"/>
            </a:avLst>
          </a:prstGeom>
          <a:gradFill>
            <a:gsLst>
              <a:gs pos="0">
                <a:srgbClr val="5BC8C8">
                  <a:alpha val="10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知识痛点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GAPS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质量、沉淀、检索与共享四项约束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存量质量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QUALITY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存量规模大且质量参差。标题不能反映内容，调用率低。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表现：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有资料，难调用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经验沉淀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ASSET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优秀销售方法与方案难以沉淀为组织知识资产。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表现：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留在个人经验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检索能力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SEARCH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现有检索以标题为主，缺少按内容与按问题的检索。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表现：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无法按问题查询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共享机制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GOVERN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共享与审核机制不足。权威版本须由业务责任人裁定。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表现：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权威版本待裁定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14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3238500" y="1333500"/>
            <a:ext cx="5334000" cy="3810000"/>
          </a:xfrm>
          <a:prstGeom prst="roundRect">
            <a:avLst>
              <a:gd name="adj" fmla="val 70000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建设路径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METHOD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先验证当前有效条目，再扩展知识域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原件归档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原件归档保存，不直接作为问答依据。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制度文件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产品资料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评审意见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留存证据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规则萃取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萃取为一条当前有效的业务规则，写明适用场景与出处。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9052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8481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适用场景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1814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12432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规则正文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5770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40055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出处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一条规则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草稿生成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系统仅生成草稿，不直接进入检索。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系统起草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责任人补全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待发布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仅限草稿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发布退役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发布后方可检索。修订发新条，旧条留档。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发布新条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退役旧条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旧条留档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发布后可查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出处问答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回答返回条目并定位原件。无法对应时说明未覆盖。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返回条目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定位原件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说明未覆盖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995045" cy="238760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不生成无据意见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15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30" name="圆角矩形 529"/>
          <p:cNvSpPr/>
          <p:nvPr/>
        </p:nvSpPr>
        <p:spPr>
          <a:xfrm>
            <a:off x="3619500" y="1524000"/>
            <a:ext cx="5334000" cy="3619500"/>
          </a:xfrm>
          <a:prstGeom prst="roundRect">
            <a:avLst>
              <a:gd name="adj" fmla="val 73684"/>
            </a:avLst>
          </a:prstGeom>
          <a:gradFill>
            <a:gsLst>
              <a:gs pos="0">
                <a:srgbClr val="5BC8C8">
                  <a:alpha val="10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企业治理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CONTROL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发布、检索与权限沿用同一套治理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审批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APPROVAL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发布须业务负责人签核。问答角色不具备发布权限。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提问不能发布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审计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AUDIT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引用了哪条已发布条目、由谁发布，均可回溯。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出处可回溯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熔断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BREAKER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回答错误或越权时停用问答，不影响已发布条目。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停问答留资产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隔离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ISOLATION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检索前按全员、区域、机密过滤。数据留存客户环境。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检索前过滤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16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3238500" y="1333500"/>
            <a:ext cx="5334000" cy="3810000"/>
          </a:xfrm>
          <a:prstGeom prst="roundRect">
            <a:avLst>
              <a:gd name="adj" fmla="val 70000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 descr="// B · 14 内容页 · 方法论体系 — 四层列表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80, width: 520, height: 360, borderRadius: 26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方法论体系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METHODOLOGY&lt;/Text&gt;&#10;        &lt;Box style={{ flex: 1 }} /&gt;&#10;        &lt;Text style={{ fontSize: 14, color: '#8FA6BC' }}&gt;四层工具，从战略到执行的闭环&lt;/Text&gt;&#10;    &lt;/Box&gt;&#10;&#10;    {/* B · 内容区 */}&#10;    &lt;Box style={{ flex: 1, flexDirection: 'column', justifyContent: 'center', paddingBottom: 20 }}&gt;&#10;        {[&#10;            { no: '01', zh: '战略层', en: 'STRATEGY', items: ['市场规划', '客户规划', '商机规划', '目标分解与达标'] },&#10;            { no: '02', zh: '流程层', en: 'PROCESS', items: ['LTC 全流程', '6W 拜访流程', '销售流程标准化'] },&#10;            { no: '03', zh: '评估层', en: 'ASSESSMENT', items: ['C139 商机质量评估', 'WINNER 客户评估', '漏斗健康度诊断'] },&#10;            { no: '04', zh: '赋能层', en: 'ENABLEMENT', items: ['分层课程体系', '教练式辅导', '项目复盘与迭代'] }&#10;        ].map((r, idx) =&gt; (&#10;            &lt;Box key={idx} style={{ flexDirection: 'row', alignItems: 'center', paddingTop: 24, paddingBottom: 24, borderBottom: idx &lt; 3 ? '1px dashed rgba(143,216,232,0.18)' : 'none' }}&gt;&#10;                &lt;Box style={{ width: 300, flexDirection: 'row', alignItems: 'center', gap: 16 }}&gt;&#10;                    &lt;Text style={{ fontSize: 22, fontWeight: 'bold', color: '#5BC8C8', fontFamily: '&quot;Inter&quot;,&quot;Helvetica Neue&quot;,Arial,sans-serif', letterSpacing: -1 }}&gt;{r.no}&lt;/Text&gt;&#10;                    &lt;Box style={{ width: 1, height: 40, background: 'rgba(143,216,232,0.25)' }} /&gt;&#10;                    &lt;Box style={{ flexDirection: 'column', gap: 7 }}&gt;&#10;                        &lt;Text style={{ fontSize: 22, fontWeight: 'bold', color: '#EAF2F8', letterSpacing: -0.3 }}&gt;{r.zh}&lt;/Text&gt;&#10;                        &lt;Text style={{ fontSize: 11, color: '#5E7590', letterSpacing: 2.5, fontFamily: '&quot;Inter&quot;,&quot;Helvetica Neue&quot;,Arial,sans-serif' }}&gt;{r.en}&lt;/Text&gt;&#10;                    &lt;/Box&gt;&#10;                &lt;/Box&gt;&#10;                &lt;Box style={{ flex: 1, flexDirection: 'row', flexWrap: 'wrap', gap: 10 }}&gt;&#10;                    {r.items.map((it, i) =&gt; (&#10;                        &lt;Box key={i} style={{ padding: '8px 15px', borderRadius: 999, background: 'rgba(91,200,200,0.09)', border: '1px solid rgba(143,216,232,0.22)' }}&gt;&#10;                            &lt;Text style={{ fontSize: 15, color: '#8FD8E8' }}&gt;{it}&lt;/Text&gt;&#10;                        &lt;/Box&gt;&#10;                    ))}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156" name="任意多边形 155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157" name="圆角矩形 156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66775" y="476250"/>
            <a:ext cx="1504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运行底座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25241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2686050" y="590550"/>
            <a:ext cx="127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RUNTIME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规则是资产，索引可以重建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62" name="任意多边形 161"/>
          <p:cNvSpPr/>
          <p:nvPr/>
        </p:nvSpPr>
        <p:spPr>
          <a:xfrm>
            <a:off x="685800" y="1190625"/>
            <a:ext cx="10820400" cy="1181100"/>
          </a:xfrm>
          <a:custGeom>
            <a:avLst/>
            <a:gdLst/>
            <a:ahLst/>
            <a:cxnLst/>
            <a:pathLst>
              <a:path w="1136" h="124">
                <a:moveTo>
                  <a:pt x="0" y="123"/>
                </a:moveTo>
                <a:lnTo>
                  <a:pt x="1136" y="123"/>
                </a:lnTo>
                <a:lnTo>
                  <a:pt x="1136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85800" y="1647825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1057275" y="1581150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1219200" y="1419225"/>
            <a:ext cx="73342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构建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1219200" y="1990725"/>
            <a:ext cx="7334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BUILD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3543300" y="1609725"/>
            <a:ext cx="8572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3686175" y="16859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规则为资产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69" name="圆角矩形 168"/>
          <p:cNvSpPr/>
          <p:nvPr/>
        </p:nvSpPr>
        <p:spPr>
          <a:xfrm>
            <a:off x="4495800" y="1609725"/>
            <a:ext cx="8572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4638675" y="16859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切块非资产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71" name="圆角矩形 170"/>
          <p:cNvSpPr/>
          <p:nvPr/>
        </p:nvSpPr>
        <p:spPr>
          <a:xfrm>
            <a:off x="5448300" y="1609725"/>
            <a:ext cx="8572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5591175" y="16859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写明出处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73" name="圆角矩形 172"/>
          <p:cNvSpPr/>
          <p:nvPr/>
        </p:nvSpPr>
        <p:spPr>
          <a:xfrm>
            <a:off x="6400800" y="1609725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543675" y="1685925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指向原件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75" name="任意多边形 174"/>
          <p:cNvSpPr/>
          <p:nvPr/>
        </p:nvSpPr>
        <p:spPr>
          <a:xfrm>
            <a:off x="685800" y="2362200"/>
            <a:ext cx="10820400" cy="1181100"/>
          </a:xfrm>
          <a:custGeom>
            <a:avLst/>
            <a:gdLst/>
            <a:ahLst/>
            <a:cxnLst/>
            <a:pathLst>
              <a:path w="1136" h="124">
                <a:moveTo>
                  <a:pt x="0" y="123"/>
                </a:moveTo>
                <a:lnTo>
                  <a:pt x="1136" y="123"/>
                </a:lnTo>
                <a:lnTo>
                  <a:pt x="1136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685800" y="2819400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1057275" y="2752725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219200" y="2590800"/>
            <a:ext cx="6667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运行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1219200" y="3162300"/>
            <a:ext cx="666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RUN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3543300" y="2781300"/>
            <a:ext cx="10477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3686175" y="2857500"/>
            <a:ext cx="762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先成草稿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4686300" y="2781300"/>
            <a:ext cx="11239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829175" y="2857500"/>
            <a:ext cx="838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发布后检索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5905500" y="2781300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6048375" y="2857500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未覆盖说明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86" name="任意多边形 185"/>
          <p:cNvSpPr/>
          <p:nvPr/>
        </p:nvSpPr>
        <p:spPr>
          <a:xfrm>
            <a:off x="685800" y="3533775"/>
            <a:ext cx="10820400" cy="1181100"/>
          </a:xfrm>
          <a:custGeom>
            <a:avLst/>
            <a:gdLst/>
            <a:ahLst/>
            <a:cxnLst/>
            <a:pathLst>
              <a:path w="1136" h="124">
                <a:moveTo>
                  <a:pt x="0" y="123"/>
                </a:moveTo>
                <a:lnTo>
                  <a:pt x="1136" y="123"/>
                </a:lnTo>
                <a:lnTo>
                  <a:pt x="1136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685800" y="3990975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057275" y="3924300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1219200" y="3762375"/>
            <a:ext cx="9334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治理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1219200" y="4333875"/>
            <a:ext cx="9334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GOVERN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3543300" y="3952875"/>
            <a:ext cx="152400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3686175" y="4029075"/>
            <a:ext cx="123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写发分离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5162550" y="3952875"/>
            <a:ext cx="14668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5305425" y="4029075"/>
            <a:ext cx="1181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不代结论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6724650" y="3952875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867525" y="4029075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签署仍人工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85800" y="5162550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04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1057275" y="5095875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1219200" y="4933950"/>
            <a:ext cx="9334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观测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1219200" y="5505450"/>
            <a:ext cx="9334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OBSERVE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3543300" y="5124450"/>
            <a:ext cx="114300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3686175" y="5200650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回看条目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203" name="圆角矩形 202"/>
          <p:cNvSpPr/>
          <p:nvPr/>
        </p:nvSpPr>
        <p:spPr>
          <a:xfrm>
            <a:off x="4781550" y="5124450"/>
            <a:ext cx="100012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4924425" y="5200650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可否回答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5876925" y="5124450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6019800" y="5200650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待补规则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207" name="任意多边形 20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17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 descr="// B · 13 内容页 · 服务档位 — 三档卡（中间推荐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00, top: 130, width: 520, height: 380, borderRadius: 260, background: 'radial-gradient(circle, rgba(91,200,200,0.11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档位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ENGAGEMENT MODELS&lt;/Text&gt;&#10;        &lt;Box style={{ flex: 1 }} /&gt;&#10;        &lt;Text style={{ fontSize: 14, color: '#8FA6BC' }}&gt;按问题复杂度选择合作方式&lt;/Text&gt;&#10;    &lt;/Box&gt;&#10;&#10;    {/* B · 内容区 */}&#10;    &lt;Box style={{ flex: 1, flexDirection: 'row', gap: 24, paddingTop: 30, paddingBottom: 26 }}&gt;&#10;        {[&#10;            { name: '轻咨询', sub: '诊断工作坊', en: 'WORKSHOP', fit: '单点问题快速诊断', items: ['2 天诊断工作坊', '体系体检报告', '改进建议清单'], cycle: '2 – 3 周', hot: false },&#10;            { name: '标准咨询', sub: '体系重建', en: 'CONSULTING', fit: '销售体系整体升级', items: ['三层规划与流程设计', '制度与 SOP 落地', '关键岗位赋能'], cycle: '8 – 12 周', hot: true },&#10;            { name: '深度陪跑', sub: '智能化落地', en: 'PARTNERSHIP', fit: '长期共建与落地', items: ['智能化蓝图与中台', '知识萃取与语料库', '季度陪跑与复盘'], cycle: '6 – 12 个月', hot: false }&#10;        ].map((c, idx) =&gt; (&#10;            &lt;Box key={idx} style={{ flex: 1, flexDirection: 'column', borderRadius: 16, overflow: 'hidden', background: c.hot ? 'rgba(91,200,200,0.10)' : 'rgba(255,255,255,0.045)', border: c.hot ? '1.5px solid #5BC8C8' : '1px solid rgba(143,216,232,0.18)', boxShadow: c.hot ? '0 16px 40px rgba(0,0,0,0.46)' : '0 10px 34px rgba(0,0,0,0.34)' }}&gt;&#10;                &lt;Box style={{ height: 4, width: '100%', background: c.hot ? 'linear-gradient(90deg, #8FD8E8 0%, #3FA8BF 100%)' : 'rgba(143,216,232,0.22)' }} /&gt;&#10;                &lt;Box style={{ flex: 1, flexDirection: 'column', padding: '26px 26px 24px' }}&gt;&#10;                    &lt;Box style={{ flexDirection: 'row', alignItems: 'center' }}&gt;&#10;                        &lt;Text style={{ fontSize: 26, fontWeight: 'bold', color: '#EAF2F8', letterSpacing: -0.5 }}&gt;{c.name}&lt;/Text&gt;&#10;                        &lt;Box style={{ flex: 1 }} /&gt;&#10;                        {c.hot &amp;&amp; (&#10;                            &lt;Box style={{ padding: '4px 12px', borderRadius: 999, background: 'linear-gradient(135deg, #8FD8E8 0%, #3FA8BF 100%)' }}&gt;&#10;                                &lt;Text style={{ fontSize: 12, fontWeight: 'bold', color: '#081322' }}&gt;推荐&lt;/Text&gt;&#10;                            &lt;/Box&gt;&#10;                        )}&#10;                    &lt;/Box&gt;&#10;                    &lt;Text style={{ fontSize: 16, color: '#9FB4C6', marginTop: 8 }}&gt;{c.sub}&lt;/Text&gt;&#10;                    &lt;Text style={{ fontSize: 11, color: '#5E7590', letterSpacing: 2.5, marginTop: 10, fontFamily: '&quot;Inter&quot;,&quot;Helvetica Neue&quot;,Arial,sans-serif' }}&gt;{c.en}&lt;/Text&gt;&#10;&#10;                    &lt;Box style={{ flexDirection: 'row', alignItems: 'center', gap: 10, marginTop: 20 }}&gt;&#10;                        &lt;FAIcon name='users' style={{ fill: '#5BC8C8', width: 15, height: 15 }} /&gt;&#10;                        &lt;Text style={{ fontSize: 14, color: '#8FA6BC' }}&gt;适用：{c.fit}&lt;/Text&gt;&#10;                    &lt;/Box&gt;&#10;&#10;                    &lt;Box style={{ flexDirection: 'column', gap: 14, marginTop: 20, paddingTop: 20, borderTop: '1px dashed rgba(143,216,232,0.18)' }}&gt;&#10;                        {c.items.map((it, i) =&gt; (&#10;                            &lt;Box key={i} style={{ flexDirection: 'row', alignItems: 'center', gap: 11 }}&gt;&#10;                                &lt;FAIcon name='check-circle' style={{ fill: '#5BC8C8', width: 16, height: 16 }} /&gt;&#10;                                &lt;Text style={{ fontSize: 16, color: '#B9CBDA' }}&gt;{it}&lt;/Text&gt;&#10;                            &lt;/Box&gt;&#10;                        ))}&#10;                    &lt;/Box&gt;&#10;&#10;                    &lt;Box style={{ marginTop: 'auto', flexDirection: 'row', alignItems: 'center', paddingTop: 20 }}&gt;&#10;                        &lt;Text style={{ fontSize: 13, color: '#5E7590', letterSpacing: 1.5, fontFamily: '&quot;Inter&quot;,&quot;PingFang SC&quot;,sans-serif' }}&gt;交付周期&lt;/Text&gt;&#10;                        &lt;Box style={{ flex: 1 }} /&gt;&#10;                        &lt;Text style={{ fontSize: 17, fontWeight: 'bold', color: c.hot ? '#8FD8E8' : '#EAF2F8', fontFamily: '&quot;Inter&quot;,&quot;PingFang SC&quot;,sans-serif' }}&gt;{c.cycle}&lt;/Text&gt;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3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94" name="任意多边形 93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95" name="圆角矩形 94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实施边界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2381250" y="590550"/>
            <a:ext cx="1895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SCOPE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本期交付、人工保留与后续事项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685800" y="1428750"/>
            <a:ext cx="3457575" cy="4419600"/>
          </a:xfrm>
          <a:prstGeom prst="roundRect">
            <a:avLst>
              <a:gd name="adj" fmla="val 440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4000"/>
              </a:srgbClr>
            </a:outerShdw>
          </a:effectLst>
        </p:spPr>
        <p:txBody>
          <a:bodyPr/>
          <a:p/>
        </p:txBody>
      </p:sp>
      <p:sp>
        <p:nvSpPr>
          <p:cNvPr id="101" name="任意多边形 100"/>
          <p:cNvSpPr/>
          <p:nvPr/>
        </p:nvSpPr>
        <p:spPr>
          <a:xfrm>
            <a:off x="685800" y="1428750"/>
            <a:ext cx="3457575" cy="38100"/>
          </a:xfrm>
          <a:custGeom>
            <a:avLst/>
            <a:gdLst/>
            <a:ahLst/>
            <a:cxnLst/>
            <a:pathLst>
              <a:path w="363" h="4">
                <a:moveTo>
                  <a:pt x="347" y="0"/>
                </a:moveTo>
                <a:cubicBezTo>
                  <a:pt x="351" y="0"/>
                  <a:pt x="355" y="2"/>
                  <a:pt x="358" y="4"/>
                </a:cubicBezTo>
                <a:lnTo>
                  <a:pt x="5" y="4"/>
                </a:lnTo>
                <a:cubicBezTo>
                  <a:pt x="8" y="1"/>
                  <a:pt x="12" y="0"/>
                  <a:pt x="16" y="0"/>
                </a:cubicBezTo>
                <a:lnTo>
                  <a:pt x="347" y="0"/>
                </a:lnTo>
                <a:close/>
              </a:path>
            </a:pathLst>
          </a:custGeom>
          <a:solidFill>
            <a:srgbClr val="8FD8E8">
              <a:alpha val="22000"/>
            </a:srgbClr>
          </a:soli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33450" y="1714500"/>
            <a:ext cx="7334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37">
                <a:solidFill>
                  <a:srgbClr val="EAF2F8"/>
                </a:solidFill>
                <a:latin typeface="PingFang SC"/>
                <a:ea typeface="PingFang SC"/>
              </a:rPr>
              <a:t>本期交付</a:t>
            </a:r>
            <a:endParaRPr lang="zh-CN" sz="195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933450" y="209550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录入与评审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933450" y="2381250"/>
            <a:ext cx="2962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SCOPE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3450" y="2714625"/>
            <a:ext cx="142875" cy="142875"/>
          </a:xfrm>
          <a:prstGeom prst="rect">
            <a:avLst/>
          </a:prstGeom>
        </p:spPr>
      </p:pic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171575" y="2705100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范围：</a:t>
            </a: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合同创建录入与评审辅助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07" name="任意多边形 106"/>
          <p:cNvSpPr/>
          <p:nvPr/>
        </p:nvSpPr>
        <p:spPr>
          <a:xfrm>
            <a:off x="933450" y="3057525"/>
            <a:ext cx="2962275" cy="1047750"/>
          </a:xfrm>
          <a:custGeom>
            <a:avLst/>
            <a:gdLst/>
            <a:ahLst/>
            <a:cxnLst/>
            <a:pathLst>
              <a:path w="311" h="110">
                <a:moveTo>
                  <a:pt x="0" y="0"/>
                </a:moveTo>
                <a:lnTo>
                  <a:pt x="311" y="0"/>
                </a:lnTo>
                <a:lnTo>
                  <a:pt x="311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3276600"/>
            <a:ext cx="152400" cy="152400"/>
          </a:xfrm>
          <a:prstGeom prst="rect">
            <a:avLst/>
          </a:prstGeom>
        </p:spPr>
      </p:pic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190625" y="3257550"/>
            <a:ext cx="1057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9CBDA"/>
                </a:solidFill>
                <a:latin typeface="PingFang SC"/>
                <a:ea typeface="PingFang SC"/>
              </a:rPr>
              <a:t>评审卡按环节汇编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3600450"/>
            <a:ext cx="152400" cy="15240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1190625" y="358140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依据条目同步发布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12" name="图片 1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3924300"/>
            <a:ext cx="152400" cy="152400"/>
          </a:xfrm>
          <a:prstGeom prst="rect">
            <a:avLst/>
          </a:prstGeom>
        </p:spPr>
      </p:pic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190625" y="39052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高频依据先行发布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933450" y="544830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5E7590"/>
                </a:solidFill>
                <a:latin typeface="Inter"/>
                <a:ea typeface="Inter"/>
              </a:rPr>
              <a:t>同步事项</a:t>
            </a:r>
            <a:endParaRPr lang="zh-CN" sz="975" spc="113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3238500" y="5419725"/>
            <a:ext cx="657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AF2F8"/>
                </a:solidFill>
                <a:latin typeface="Inter"/>
                <a:ea typeface="Inter"/>
              </a:rPr>
              <a:t>同步</a:t>
            </a:r>
            <a:r>
              <a:rPr lang="zh-CN" sz="1275" b="1">
                <a:solidFill>
                  <a:srgbClr val="EAF2F8"/>
                </a:solidFill>
                <a:latin typeface="Inter"/>
                <a:ea typeface="Inter"/>
              </a:rPr>
              <a:t>发布</a:t>
            </a:r>
            <a:endParaRPr lang="zh-CN" sz="1275" b="1">
              <a:solidFill>
                <a:srgbClr val="EAF2F8"/>
              </a:solidFill>
              <a:latin typeface="Inter"/>
              <a:ea typeface="Inter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4371975" y="1428750"/>
            <a:ext cx="3448050" cy="4419600"/>
          </a:xfrm>
          <a:prstGeom prst="roundRect">
            <a:avLst>
              <a:gd name="adj" fmla="val 4420"/>
            </a:avLst>
          </a:prstGeom>
          <a:solidFill>
            <a:srgbClr val="5BC8C8">
              <a:alpha val="10000"/>
            </a:srgbClr>
          </a:solidFill>
          <a:ln w="19050">
            <a:solidFill>
              <a:srgbClr val="5BC8C8"/>
            </a:solidFill>
            <a:prstDash val="solid"/>
          </a:ln>
          <a:effectLst>
            <a:outerShdw blurRad="381000" dist="152400" dir="5400000">
              <a:srgbClr val="000000">
                <a:alpha val="46000"/>
              </a:srgbClr>
            </a:outerShdw>
          </a:effectLst>
        </p:spPr>
        <p:txBody>
          <a:bodyPr/>
          <a:p/>
        </p:txBody>
      </p:sp>
      <p:sp>
        <p:nvSpPr>
          <p:cNvPr id="117" name="任意多边形 116"/>
          <p:cNvSpPr/>
          <p:nvPr/>
        </p:nvSpPr>
        <p:spPr>
          <a:xfrm>
            <a:off x="4371975" y="1428750"/>
            <a:ext cx="3448050" cy="38100"/>
          </a:xfrm>
          <a:custGeom>
            <a:avLst/>
            <a:gdLst/>
            <a:ahLst/>
            <a:cxnLst/>
            <a:pathLst>
              <a:path w="362" h="4">
                <a:moveTo>
                  <a:pt x="346" y="0"/>
                </a:moveTo>
                <a:cubicBezTo>
                  <a:pt x="350" y="0"/>
                  <a:pt x="354" y="2"/>
                  <a:pt x="357" y="4"/>
                </a:cubicBezTo>
                <a:lnTo>
                  <a:pt x="5" y="4"/>
                </a:lnTo>
                <a:cubicBezTo>
                  <a:pt x="8" y="1"/>
                  <a:pt x="12" y="0"/>
                  <a:pt x="16" y="0"/>
                </a:cubicBezTo>
                <a:lnTo>
                  <a:pt x="346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4619625" y="1714500"/>
            <a:ext cx="9715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37">
                <a:solidFill>
                  <a:srgbClr val="EAF2F8"/>
                </a:solidFill>
                <a:latin typeface="PingFang SC"/>
                <a:ea typeface="PingFang SC"/>
              </a:rPr>
              <a:t>人工保留</a:t>
            </a:r>
            <a:endParaRPr lang="zh-CN" sz="195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7038340" y="1762125"/>
            <a:ext cx="690880" cy="257175"/>
          </a:xfrm>
          <a:prstGeom prst="roundRect">
            <a:avLst>
              <a:gd name="adj" fmla="val 4343478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7159625" y="180022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81322"/>
                </a:solidFill>
                <a:latin typeface="PingFang SC"/>
                <a:ea typeface="PingFang SC"/>
              </a:rPr>
              <a:t>不可替代</a:t>
            </a:r>
            <a:endParaRPr lang="zh-CN" sz="900" b="1">
              <a:solidFill>
                <a:srgbClr val="081322"/>
              </a:solidFill>
              <a:latin typeface="PingFang SC"/>
              <a:ea typeface="PingFang SC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619625" y="2095500"/>
            <a:ext cx="2952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签署定责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4619625" y="2381250"/>
            <a:ext cx="2952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SIGN-OFF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9625" y="2714625"/>
            <a:ext cx="142875" cy="142875"/>
          </a:xfrm>
          <a:prstGeom prst="rect">
            <a:avLst/>
          </a:prstGeom>
        </p:spPr>
      </p:pic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4857750" y="2705100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范围：</a:t>
            </a: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签署、盖章、建单与定责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25" name="任意多边形 124"/>
          <p:cNvSpPr/>
          <p:nvPr/>
        </p:nvSpPr>
        <p:spPr>
          <a:xfrm>
            <a:off x="4619625" y="3057525"/>
            <a:ext cx="2952750" cy="1047750"/>
          </a:xfrm>
          <a:custGeom>
            <a:avLst/>
            <a:gdLst/>
            <a:ahLst/>
            <a:cxnLst/>
            <a:pathLst>
              <a:path w="310" h="110">
                <a:moveTo>
                  <a:pt x="0" y="0"/>
                </a:moveTo>
                <a:lnTo>
                  <a:pt x="310" y="0"/>
                </a:lnTo>
                <a:lnTo>
                  <a:pt x="310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pic>
        <p:nvPicPr>
          <p:cNvPr id="126" name="图片 1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3276600"/>
            <a:ext cx="152400" cy="152400"/>
          </a:xfrm>
          <a:prstGeom prst="rect">
            <a:avLst/>
          </a:prstGeom>
        </p:spPr>
      </p:pic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4876800" y="3257550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授权是否超限由人判断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28" name="图片 1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3600450"/>
            <a:ext cx="152400" cy="152400"/>
          </a:xfrm>
          <a:prstGeom prst="rect">
            <a:avLst/>
          </a:prstGeom>
        </p:spPr>
      </p:pic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4876800" y="3581400"/>
            <a:ext cx="1181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不判断方案是否合格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30" name="图片 1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3924300"/>
            <a:ext cx="152400" cy="152400"/>
          </a:xfrm>
          <a:prstGeom prst="rect">
            <a:avLst/>
          </a:prstGeom>
        </p:spPr>
      </p:pic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4876800" y="39052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知识发布须负责人签核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4619625" y="544830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5E7590"/>
                </a:solidFill>
                <a:latin typeface="Inter"/>
                <a:ea typeface="Inter"/>
              </a:rPr>
              <a:t>责任归属</a:t>
            </a:r>
            <a:endParaRPr lang="zh-CN" sz="975" spc="113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848475" y="5419725"/>
            <a:ext cx="723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8FD8E8"/>
                </a:solidFill>
                <a:latin typeface="Inter"/>
                <a:ea typeface="Inter"/>
              </a:rPr>
              <a:t>人工</a:t>
            </a:r>
            <a:r>
              <a:rPr lang="zh-CN" sz="1275" b="1">
                <a:solidFill>
                  <a:srgbClr val="8FD8E8"/>
                </a:solidFill>
                <a:latin typeface="Inter"/>
                <a:ea typeface="Inter"/>
              </a:rPr>
              <a:t>完成</a:t>
            </a:r>
            <a:endParaRPr lang="zh-CN" sz="1275" b="1">
              <a:solidFill>
                <a:srgbClr val="8FD8E8"/>
              </a:solidFill>
              <a:latin typeface="Inter"/>
              <a:ea typeface="Inter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8048625" y="1428750"/>
            <a:ext cx="3457575" cy="4419600"/>
          </a:xfrm>
          <a:prstGeom prst="roundRect">
            <a:avLst>
              <a:gd name="adj" fmla="val 440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4000"/>
              </a:srgbClr>
            </a:outerShdw>
          </a:effectLst>
        </p:spPr>
        <p:txBody>
          <a:bodyPr/>
          <a:p/>
        </p:txBody>
      </p:sp>
      <p:sp>
        <p:nvSpPr>
          <p:cNvPr id="135" name="任意多边形 134"/>
          <p:cNvSpPr/>
          <p:nvPr/>
        </p:nvSpPr>
        <p:spPr>
          <a:xfrm>
            <a:off x="8048625" y="1428750"/>
            <a:ext cx="3457575" cy="38100"/>
          </a:xfrm>
          <a:custGeom>
            <a:avLst/>
            <a:gdLst/>
            <a:ahLst/>
            <a:cxnLst/>
            <a:pathLst>
              <a:path w="363" h="4">
                <a:moveTo>
                  <a:pt x="347" y="0"/>
                </a:moveTo>
                <a:cubicBezTo>
                  <a:pt x="351" y="0"/>
                  <a:pt x="355" y="2"/>
                  <a:pt x="358" y="4"/>
                </a:cubicBezTo>
                <a:lnTo>
                  <a:pt x="5" y="4"/>
                </a:lnTo>
                <a:cubicBezTo>
                  <a:pt x="8" y="1"/>
                  <a:pt x="12" y="0"/>
                  <a:pt x="16" y="0"/>
                </a:cubicBezTo>
                <a:lnTo>
                  <a:pt x="347" y="0"/>
                </a:lnTo>
                <a:close/>
              </a:path>
            </a:pathLst>
          </a:custGeom>
          <a:solidFill>
            <a:srgbClr val="8FD8E8">
              <a:alpha val="22000"/>
            </a:srgbClr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296275" y="1714500"/>
            <a:ext cx="9715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37">
                <a:solidFill>
                  <a:srgbClr val="EAF2F8"/>
                </a:solidFill>
                <a:latin typeface="PingFang SC"/>
                <a:ea typeface="PingFang SC"/>
              </a:rPr>
              <a:t>后续事项</a:t>
            </a:r>
            <a:endParaRPr lang="zh-CN" sz="195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8296275" y="209550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不纳入本期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8296275" y="2381250"/>
            <a:ext cx="2962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LATER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39" name="图片 13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6275" y="2714625"/>
            <a:ext cx="142875" cy="142875"/>
          </a:xfrm>
          <a:prstGeom prst="rect">
            <a:avLst/>
          </a:prstGeom>
        </p:spPr>
      </p:pic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8534400" y="27051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范围：</a:t>
            </a: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资信前移与销售管理联动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41" name="任意多边形 140"/>
          <p:cNvSpPr/>
          <p:nvPr/>
        </p:nvSpPr>
        <p:spPr>
          <a:xfrm>
            <a:off x="8296275" y="3057525"/>
            <a:ext cx="2962275" cy="1047750"/>
          </a:xfrm>
          <a:custGeom>
            <a:avLst/>
            <a:gdLst/>
            <a:ahLst/>
            <a:cxnLst/>
            <a:pathLst>
              <a:path w="311" h="110">
                <a:moveTo>
                  <a:pt x="0" y="0"/>
                </a:moveTo>
                <a:lnTo>
                  <a:pt x="311" y="0"/>
                </a:lnTo>
                <a:lnTo>
                  <a:pt x="311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pic>
        <p:nvPicPr>
          <p:cNvPr id="142" name="图片 14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275" y="3276600"/>
            <a:ext cx="152400" cy="152400"/>
          </a:xfrm>
          <a:prstGeom prst="rect">
            <a:avLst/>
          </a:prstGeom>
        </p:spPr>
      </p:pic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8553450" y="3257550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销售教练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275" y="3600450"/>
            <a:ext cx="152400" cy="152400"/>
          </a:xfrm>
          <a:prstGeom prst="rect">
            <a:avLst/>
          </a:prstGeom>
        </p:spPr>
      </p:pic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8553450" y="3581400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商机复盘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275" y="3924300"/>
            <a:ext cx="152400" cy="152400"/>
          </a:xfrm>
          <a:prstGeom prst="rect">
            <a:avLst/>
          </a:prstGeom>
        </p:spPr>
      </p:pic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8553450" y="3905250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拜访结构化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8296275" y="544830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5E7590"/>
                </a:solidFill>
                <a:latin typeface="Inter"/>
                <a:ea typeface="Inter"/>
              </a:rPr>
              <a:t>立项方式</a:t>
            </a:r>
            <a:endParaRPr lang="zh-CN" sz="975" spc="113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10372725" y="5419725"/>
            <a:ext cx="8858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AF2F8"/>
                </a:solidFill>
                <a:latin typeface="Inter"/>
                <a:ea typeface="Inter"/>
              </a:rPr>
              <a:t>单独</a:t>
            </a:r>
            <a:r>
              <a:rPr lang="zh-CN" sz="1275" b="1">
                <a:solidFill>
                  <a:srgbClr val="EAF2F8"/>
                </a:solidFill>
                <a:latin typeface="Inter"/>
                <a:ea typeface="Inter"/>
              </a:rPr>
              <a:t>立项</a:t>
            </a:r>
            <a:endParaRPr lang="zh-CN" sz="1275" b="1">
              <a:solidFill>
                <a:srgbClr val="EAF2F8"/>
              </a:solidFill>
              <a:latin typeface="Inter"/>
              <a:ea typeface="Inter"/>
            </a:endParaRPr>
          </a:p>
        </p:txBody>
      </p:sp>
      <p:sp>
        <p:nvSpPr>
          <p:cNvPr id="150" name="任意多边形 149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18 / 18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3763</Words>
  <Application>WPS 演示</Application>
  <PresentationFormat/>
  <Paragraphs>976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DejaVu Sans</vt:lpstr>
      <vt:lpstr>PingFang SC</vt:lpstr>
      <vt:lpstr>Gubbi</vt:lpstr>
      <vt:lpstr>Inter</vt:lpstr>
      <vt:lpstr>微软雅黑</vt:lpstr>
      <vt:lpstr>Calibri</vt:lpstr>
      <vt:lpstr>宋体</vt:lpstr>
      <vt:lpstr>Noto Serif CJK SC</vt:lpstr>
      <vt:lpstr>微软雅黑</vt:lpstr>
      <vt:lpstr>Droid Sans Fallback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pan</cp:lastModifiedBy>
  <cp:revision>9</cp:revision>
  <dcterms:created xsi:type="dcterms:W3CDTF">2026-10-27T07:57:16Z</dcterms:created>
  <dcterms:modified xsi:type="dcterms:W3CDTF">2026-10-27T07:57:16Z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{"AIGC":{"Label":"1","ContentProducer":"00119111010856365494821B355","ProduceID":"01a132f2348c7471af3fbadbfc8c6e7e","ReservedCode1":"","ContentPropagator":"00119111010856365494821B355","PropagateID":"01a132f2348c7471af3fbadbfc8c6e7e","ReservedCode2":""}}</vt:lpwstr>
  </property>
  <property fmtid="{D5CDD505-2E9C-101B-9397-08002B2CF9AE}" pid="3" name="ICV">
    <vt:lpwstr>A8C90D1AB6642C59BA53E06A66E1D7EF_42</vt:lpwstr>
  </property>
  <property fmtid="{D5CDD505-2E9C-101B-9397-08002B2CF9AE}" pid="4" name="KSOProductBuildVer">
    <vt:lpwstr>2052-12.1.2.25838</vt:lpwstr>
  </property>
</Properties>
</file>